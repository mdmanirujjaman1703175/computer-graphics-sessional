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324" y="286258"/>
            <a:ext cx="7668895" cy="139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4580" y="1816306"/>
            <a:ext cx="10085705" cy="1575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76324" y="6570319"/>
            <a:ext cx="112268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11292" y="6570319"/>
            <a:ext cx="2174875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75593" y="6560894"/>
            <a:ext cx="1981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0875" y="1981200"/>
            <a:ext cx="10069830" cy="754053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3720465" marR="5080" indent="-3708400">
              <a:lnSpc>
                <a:spcPts val="4900"/>
              </a:lnSpc>
              <a:spcBef>
                <a:spcPts val="980"/>
              </a:spcBef>
            </a:pPr>
            <a:r>
              <a:rPr sz="4400" i="1" spc="-25" dirty="0">
                <a:solidFill>
                  <a:srgbClr val="252525"/>
                </a:solidFill>
                <a:latin typeface="Times New Roman"/>
                <a:cs typeface="Times New Roman"/>
              </a:rPr>
              <a:t>Chapter</a:t>
            </a:r>
            <a:r>
              <a:rPr sz="4400" i="1" spc="-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4400" i="1" spc="-200" dirty="0">
                <a:solidFill>
                  <a:srgbClr val="252525"/>
                </a:solidFill>
                <a:latin typeface="Times New Roman"/>
                <a:cs typeface="Times New Roman"/>
              </a:rPr>
              <a:t>2 </a:t>
            </a:r>
            <a:r>
              <a:rPr sz="4400" i="1" dirty="0">
                <a:solidFill>
                  <a:srgbClr val="252525"/>
                </a:solidFill>
                <a:latin typeface="Times New Roman"/>
                <a:cs typeface="Times New Roman"/>
              </a:rPr>
              <a:t>~</a:t>
            </a:r>
            <a:r>
              <a:rPr sz="4400" i="1" spc="-1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4400" i="1" spc="-60" dirty="0">
                <a:solidFill>
                  <a:srgbClr val="252525"/>
                </a:solidFill>
                <a:latin typeface="Times New Roman"/>
                <a:cs typeface="Times New Roman"/>
              </a:rPr>
              <a:t>Digital Image Fundamentals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7200" y="2963629"/>
            <a:ext cx="3657600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02310" algn="l">
              <a:spcBef>
                <a:spcPts val="100"/>
              </a:spcBef>
            </a:pPr>
            <a:r>
              <a:rPr lang="en-US" sz="2000" b="1" i="1" dirty="0">
                <a:latin typeface="Times New Roman"/>
                <a:cs typeface="Times New Roman"/>
              </a:rPr>
              <a:t>        Created By</a:t>
            </a:r>
          </a:p>
          <a:p>
            <a:pPr marL="12700" marR="5080" indent="702310" algn="l">
              <a:spcBef>
                <a:spcPts val="100"/>
              </a:spcBef>
            </a:pPr>
            <a:r>
              <a:rPr sz="2000" b="1" i="1" dirty="0">
                <a:latin typeface="Times New Roman"/>
                <a:cs typeface="Times New Roman"/>
              </a:rPr>
              <a:t>S.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M.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Mahedy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Hasan </a:t>
            </a:r>
            <a:r>
              <a:rPr sz="2000" i="1" dirty="0">
                <a:latin typeface="Times New Roman"/>
                <a:cs typeface="Times New Roman"/>
              </a:rPr>
              <a:t>Assistant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30" dirty="0">
                <a:latin typeface="Times New Roman"/>
                <a:cs typeface="Times New Roman"/>
              </a:rPr>
              <a:t>Professor,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Dept.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CSE </a:t>
            </a:r>
            <a:r>
              <a:rPr sz="2000" i="1" spc="-10" dirty="0">
                <a:latin typeface="Times New Roman"/>
                <a:cs typeface="Times New Roman"/>
              </a:rPr>
              <a:t>RUET,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Rajshahi-</a:t>
            </a:r>
            <a:r>
              <a:rPr sz="2000" i="1" dirty="0">
                <a:latin typeface="Times New Roman"/>
                <a:cs typeface="Times New Roman"/>
              </a:rPr>
              <a:t>6204,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Bangladesh.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B86DCF-6AF3-867F-E1AB-83DBF3F76FBF}"/>
              </a:ext>
            </a:extLst>
          </p:cNvPr>
          <p:cNvSpPr txBox="1"/>
          <p:nvPr/>
        </p:nvSpPr>
        <p:spPr>
          <a:xfrm>
            <a:off x="4471997" y="4361379"/>
            <a:ext cx="32480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by </a:t>
            </a:r>
          </a:p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Manirujjaman</a:t>
            </a: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Lecturer, Dept. of CSE</a:t>
            </a: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DIU,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Satarkul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Badda, Dhaka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D3B348-3B74-9514-55D4-C1104B33D07C}"/>
              </a:ext>
            </a:extLst>
          </p:cNvPr>
          <p:cNvCxnSpPr>
            <a:cxnSpLocks/>
          </p:cNvCxnSpPr>
          <p:nvPr/>
        </p:nvCxnSpPr>
        <p:spPr>
          <a:xfrm>
            <a:off x="1219200" y="1997983"/>
            <a:ext cx="9448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F2B834-8331-0306-4C57-5805F75B9F52}"/>
              </a:ext>
            </a:extLst>
          </p:cNvPr>
          <p:cNvCxnSpPr>
            <a:cxnSpLocks/>
          </p:cNvCxnSpPr>
          <p:nvPr/>
        </p:nvCxnSpPr>
        <p:spPr>
          <a:xfrm>
            <a:off x="3581400" y="2960396"/>
            <a:ext cx="4724400" cy="3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DIU Logo">
            <a:extLst>
              <a:ext uri="{FF2B5EF4-FFF2-40B4-BE49-F238E27FC236}">
                <a16:creationId xmlns:a16="http://schemas.microsoft.com/office/drawing/2014/main" id="{5FD7247E-B3C0-280A-34B4-0A9709A88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34361"/>
            <a:ext cx="7948982" cy="157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Sampling</a:t>
            </a:r>
            <a:r>
              <a:rPr spc="-220" dirty="0"/>
              <a:t> </a:t>
            </a:r>
            <a:r>
              <a:rPr dirty="0"/>
              <a:t>and</a:t>
            </a:r>
            <a:r>
              <a:rPr spc="-235" dirty="0"/>
              <a:t> </a:t>
            </a:r>
            <a:r>
              <a:rPr spc="-40" dirty="0"/>
              <a:t>Quantization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941702"/>
            <a:ext cx="8726805" cy="2526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0815" indent="-16065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92857"/>
              <a:buFont typeface="Wingdings"/>
              <a:buChar char=""/>
              <a:tabLst>
                <a:tab pos="170815" algn="l"/>
              </a:tabLst>
            </a:pP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create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1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1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need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convert</a:t>
            </a:r>
            <a:r>
              <a:rPr sz="1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continuous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sensed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data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sz="1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1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form.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involves</a:t>
            </a:r>
            <a:r>
              <a:rPr sz="1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two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processes:</a:t>
            </a:r>
            <a:endParaRPr sz="1400">
              <a:latin typeface="Times New Roman"/>
              <a:cs typeface="Times New Roman"/>
            </a:endParaRPr>
          </a:p>
          <a:p>
            <a:pPr marL="1511935" lvl="1" indent="-227965">
              <a:lnSpc>
                <a:spcPct val="100000"/>
              </a:lnSpc>
              <a:spcBef>
                <a:spcPts val="1235"/>
              </a:spcBef>
              <a:buClr>
                <a:srgbClr val="E38312"/>
              </a:buClr>
              <a:buFont typeface="Wingdings"/>
              <a:buChar char=""/>
              <a:tabLst>
                <a:tab pos="1511935" algn="l"/>
              </a:tabLst>
            </a:pP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Sampling</a:t>
            </a:r>
            <a:endParaRPr sz="1400">
              <a:latin typeface="Times New Roman"/>
              <a:cs typeface="Times New Roman"/>
            </a:endParaRPr>
          </a:p>
          <a:p>
            <a:pPr marL="1511935" lvl="1" indent="-227965">
              <a:lnSpc>
                <a:spcPct val="100000"/>
              </a:lnSpc>
              <a:spcBef>
                <a:spcPts val="1440"/>
              </a:spcBef>
              <a:buClr>
                <a:srgbClr val="E38312"/>
              </a:buClr>
              <a:buFont typeface="Wingdings"/>
              <a:buChar char=""/>
              <a:tabLst>
                <a:tab pos="1511935" algn="l"/>
              </a:tabLst>
            </a:pP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Quantization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25"/>
              </a:spcBef>
              <a:buClr>
                <a:srgbClr val="E38312"/>
              </a:buClr>
              <a:buFont typeface="Wingdings"/>
              <a:buChar char=""/>
            </a:pPr>
            <a:endParaRPr sz="1400">
              <a:latin typeface="Times New Roman"/>
              <a:cs typeface="Times New Roman"/>
            </a:endParaRPr>
          </a:p>
          <a:p>
            <a:pPr marL="170815" indent="-160655">
              <a:lnSpc>
                <a:spcPct val="100000"/>
              </a:lnSpc>
              <a:buClr>
                <a:srgbClr val="E38312"/>
              </a:buClr>
              <a:buSzPct val="92857"/>
              <a:buFont typeface="Wingdings"/>
              <a:buChar char=""/>
              <a:tabLst>
                <a:tab pos="170815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may</a:t>
            </a:r>
            <a:r>
              <a:rPr sz="1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continuous</a:t>
            </a:r>
            <a:r>
              <a:rPr sz="1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respect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x-</a:t>
            </a:r>
            <a:r>
              <a:rPr sz="1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y-coordinates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1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also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amplitude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  <a:buClr>
                <a:srgbClr val="E38312"/>
              </a:buClr>
              <a:buFont typeface="Wingdings"/>
              <a:buChar char=""/>
            </a:pPr>
            <a:endParaRPr sz="1400">
              <a:latin typeface="Times New Roman"/>
              <a:cs typeface="Times New Roman"/>
            </a:endParaRPr>
          </a:p>
          <a:p>
            <a:pPr marL="170815" indent="-160655">
              <a:lnSpc>
                <a:spcPct val="100000"/>
              </a:lnSpc>
              <a:buClr>
                <a:srgbClr val="E38312"/>
              </a:buClr>
              <a:buSzPct val="92857"/>
              <a:buFont typeface="Wingdings"/>
              <a:buChar char=""/>
              <a:tabLst>
                <a:tab pos="170815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Digitizing</a:t>
            </a:r>
            <a:r>
              <a:rPr sz="14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coordinate</a:t>
            </a:r>
            <a:r>
              <a:rPr sz="14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values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called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sampling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  <a:buClr>
                <a:srgbClr val="E38312"/>
              </a:buClr>
              <a:buFont typeface="Wingdings"/>
              <a:buChar char=""/>
            </a:pPr>
            <a:endParaRPr sz="1400">
              <a:latin typeface="Times New Roman"/>
              <a:cs typeface="Times New Roman"/>
            </a:endParaRPr>
          </a:p>
          <a:p>
            <a:pPr marL="170815" indent="-160020">
              <a:lnSpc>
                <a:spcPct val="100000"/>
              </a:lnSpc>
              <a:buClr>
                <a:srgbClr val="E38312"/>
              </a:buClr>
              <a:buSzPct val="92857"/>
              <a:buFont typeface="Wingdings"/>
              <a:buChar char=""/>
              <a:tabLst>
                <a:tab pos="170815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Digitizing</a:t>
            </a:r>
            <a:r>
              <a:rPr sz="14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amplitude</a:t>
            </a:r>
            <a:r>
              <a:rPr sz="14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values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called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quantization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Sampling</a:t>
            </a:r>
            <a:r>
              <a:rPr spc="-220" dirty="0"/>
              <a:t> </a:t>
            </a:r>
            <a:r>
              <a:rPr dirty="0"/>
              <a:t>and</a:t>
            </a:r>
            <a:r>
              <a:rPr spc="-235" dirty="0"/>
              <a:t> </a:t>
            </a:r>
            <a:r>
              <a:rPr spc="-40" dirty="0"/>
              <a:t>Quantization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315" y="2798064"/>
            <a:ext cx="2688336" cy="27142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6324" y="1713437"/>
            <a:ext cx="9829165" cy="8496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85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one-</a:t>
            </a:r>
            <a:r>
              <a:rPr sz="1800" dirty="0">
                <a:latin typeface="Times New Roman"/>
                <a:cs typeface="Times New Roman"/>
              </a:rPr>
              <a:t>dimensional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Fig.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(2) 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plot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amplitude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(intensity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level)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continuous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along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segment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AB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Fig.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(1).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19389" y="2996183"/>
            <a:ext cx="3028602" cy="236254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39744" y="5678525"/>
            <a:ext cx="205041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: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Continuous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image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334504" y="5574893"/>
            <a:ext cx="35604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73735" algn="l"/>
                <a:tab pos="982980" algn="l"/>
                <a:tab pos="1263650" algn="l"/>
                <a:tab pos="1740535" algn="l"/>
                <a:tab pos="2170430" algn="l"/>
                <a:tab pos="2934335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Figure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25" dirty="0">
                <a:latin typeface="Times New Roman"/>
                <a:cs typeface="Times New Roman"/>
              </a:rPr>
              <a:t>2: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A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0" dirty="0">
                <a:latin typeface="Times New Roman"/>
                <a:cs typeface="Times New Roman"/>
              </a:rPr>
              <a:t>scan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0" dirty="0">
                <a:latin typeface="Times New Roman"/>
                <a:cs typeface="Times New Roman"/>
              </a:rPr>
              <a:t>line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showing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intensity </a:t>
            </a:r>
            <a:r>
              <a:rPr sz="1400" dirty="0">
                <a:latin typeface="Times New Roman"/>
                <a:cs typeface="Times New Roman"/>
              </a:rPr>
              <a:t>variations along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line </a:t>
            </a:r>
            <a:r>
              <a:rPr sz="1400" i="1" dirty="0">
                <a:latin typeface="Times New Roman"/>
                <a:cs typeface="Times New Roman"/>
              </a:rPr>
              <a:t>AB </a:t>
            </a:r>
            <a:r>
              <a:rPr sz="1400" dirty="0">
                <a:latin typeface="Times New Roman"/>
                <a:cs typeface="Times New Roman"/>
              </a:rPr>
              <a:t>in the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continuous</a:t>
            </a:r>
            <a:r>
              <a:rPr sz="1400" spc="-10" dirty="0">
                <a:latin typeface="Times New Roman"/>
                <a:cs typeface="Times New Roman"/>
              </a:rPr>
              <a:t> image.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Sampling</a:t>
            </a:r>
            <a:r>
              <a:rPr spc="-220" dirty="0"/>
              <a:t> </a:t>
            </a:r>
            <a:r>
              <a:rPr dirty="0"/>
              <a:t>and</a:t>
            </a:r>
            <a:r>
              <a:rPr spc="-235" dirty="0"/>
              <a:t> </a:t>
            </a:r>
            <a:r>
              <a:rPr spc="-40" dirty="0"/>
              <a:t>Quantization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48738"/>
            <a:ext cx="9493250" cy="1461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675" indent="-18288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SzPct val="93750"/>
              <a:buFont typeface="Wingdings"/>
              <a:buChar char=""/>
              <a:tabLst>
                <a:tab pos="193675" algn="l"/>
              </a:tabLst>
            </a:pP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6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sample</a:t>
            </a:r>
            <a:r>
              <a:rPr sz="16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1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function,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take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equally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spaced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samples</a:t>
            </a:r>
            <a:r>
              <a:rPr sz="16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along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line</a:t>
            </a:r>
            <a:r>
              <a:rPr sz="1600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AB,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shown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Figure.</a:t>
            </a:r>
            <a:endParaRPr sz="1600">
              <a:latin typeface="Times New Roman"/>
              <a:cs typeface="Times New Roman"/>
            </a:endParaRPr>
          </a:p>
          <a:p>
            <a:pPr marL="193675" indent="-182880">
              <a:lnSpc>
                <a:spcPct val="100000"/>
              </a:lnSpc>
              <a:spcBef>
                <a:spcPts val="1200"/>
              </a:spcBef>
              <a:buClr>
                <a:srgbClr val="E38312"/>
              </a:buClr>
              <a:buSzPct val="93750"/>
              <a:buFont typeface="Wingdings"/>
              <a:buChar char=""/>
              <a:tabLst>
                <a:tab pos="193675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order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form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function,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1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values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also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must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converted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(quantized)</a:t>
            </a:r>
            <a:r>
              <a:rPr sz="1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discrete</a:t>
            </a:r>
            <a:r>
              <a:rPr sz="1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quantities.</a:t>
            </a:r>
            <a:endParaRPr sz="1600">
              <a:latin typeface="Times New Roman"/>
              <a:cs typeface="Times New Roman"/>
            </a:endParaRPr>
          </a:p>
          <a:p>
            <a:pPr marL="193675" indent="-182245">
              <a:lnSpc>
                <a:spcPct val="100000"/>
              </a:lnSpc>
              <a:spcBef>
                <a:spcPts val="1210"/>
              </a:spcBef>
              <a:buClr>
                <a:srgbClr val="E38312"/>
              </a:buClr>
              <a:buSzPct val="93750"/>
              <a:buFont typeface="Wingdings"/>
              <a:buChar char=""/>
              <a:tabLst>
                <a:tab pos="193675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right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side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Fig.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shows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scale</a:t>
            </a: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divided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eight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discrete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intervals, ranging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black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white.</a:t>
            </a:r>
            <a:endParaRPr sz="1600">
              <a:latin typeface="Times New Roman"/>
              <a:cs typeface="Times New Roman"/>
            </a:endParaRPr>
          </a:p>
          <a:p>
            <a:pPr marL="193675" indent="-182880">
              <a:lnSpc>
                <a:spcPct val="100000"/>
              </a:lnSpc>
              <a:spcBef>
                <a:spcPts val="1215"/>
              </a:spcBef>
              <a:buClr>
                <a:srgbClr val="E38312"/>
              </a:buClr>
              <a:buSzPct val="93750"/>
              <a:buFont typeface="Wingdings"/>
              <a:buChar char=""/>
              <a:tabLst>
                <a:tab pos="193675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samples</a:t>
            </a:r>
            <a:r>
              <a:rPr sz="1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resulting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both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sampling</a:t>
            </a:r>
            <a:r>
              <a:rPr sz="1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quantization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shown</a:t>
            </a:r>
            <a:r>
              <a:rPr sz="16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following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figure.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0067" y="3465576"/>
            <a:ext cx="7019563" cy="25149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66791" y="6005576"/>
            <a:ext cx="27012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3</a:t>
            </a:r>
            <a:r>
              <a:rPr sz="1400" dirty="0">
                <a:latin typeface="Times New Roman"/>
                <a:cs typeface="Times New Roman"/>
              </a:rPr>
              <a:t>: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Sampling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Quantization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Sampling</a:t>
            </a:r>
            <a:r>
              <a:rPr spc="-220" dirty="0"/>
              <a:t> </a:t>
            </a:r>
            <a:r>
              <a:rPr dirty="0"/>
              <a:t>and</a:t>
            </a:r>
            <a:r>
              <a:rPr spc="-235" dirty="0"/>
              <a:t> </a:t>
            </a:r>
            <a:r>
              <a:rPr spc="-40" dirty="0"/>
              <a:t>Quantization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97025"/>
            <a:ext cx="7775575" cy="15494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52400" indent="-142875">
              <a:lnSpc>
                <a:spcPct val="100000"/>
              </a:lnSpc>
              <a:spcBef>
                <a:spcPts val="500"/>
              </a:spcBef>
              <a:buClr>
                <a:srgbClr val="E38312"/>
              </a:buClr>
              <a:buSzPct val="92857"/>
              <a:buFont typeface="Wingdings"/>
              <a:buChar char=""/>
              <a:tabLst>
                <a:tab pos="152400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practice,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method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sampling</a:t>
            </a:r>
            <a:r>
              <a:rPr sz="1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determined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sensor</a:t>
            </a:r>
            <a:r>
              <a:rPr sz="1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arrangement</a:t>
            </a:r>
            <a:r>
              <a:rPr sz="1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used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generate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1400" dirty="0">
              <a:latin typeface="Times New Roman"/>
              <a:cs typeface="Times New Roman"/>
            </a:endParaRPr>
          </a:p>
          <a:p>
            <a:pPr marL="579120" lvl="1" indent="-18224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"/>
              <a:tabLst>
                <a:tab pos="579120" algn="l"/>
              </a:tabLst>
            </a:pP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Single</a:t>
            </a:r>
            <a:r>
              <a:rPr sz="14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Sensor</a:t>
            </a:r>
            <a:r>
              <a:rPr sz="1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Sampling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depends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Motion</a:t>
            </a:r>
            <a:endParaRPr sz="1400" dirty="0">
              <a:latin typeface="Times New Roman"/>
              <a:cs typeface="Times New Roman"/>
            </a:endParaRPr>
          </a:p>
          <a:p>
            <a:pPr marL="579120" lvl="1" indent="-18224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"/>
              <a:tabLst>
                <a:tab pos="579120" algn="l"/>
              </a:tabLst>
            </a:pP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Strip</a:t>
            </a:r>
            <a:r>
              <a:rPr sz="1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Sensor</a:t>
            </a:r>
            <a:r>
              <a:rPr sz="1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1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Sensor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Motion</a:t>
            </a:r>
            <a:endParaRPr sz="1400" dirty="0">
              <a:latin typeface="Times New Roman"/>
              <a:cs typeface="Times New Roman"/>
            </a:endParaRPr>
          </a:p>
          <a:p>
            <a:pPr marL="579120" lvl="1" indent="-18224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"/>
              <a:tabLst>
                <a:tab pos="579120" algn="l"/>
              </a:tabLst>
            </a:pP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Array</a:t>
            </a:r>
            <a:r>
              <a:rPr sz="1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Sensor</a:t>
            </a:r>
            <a:r>
              <a:rPr sz="1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Sensor</a:t>
            </a:r>
            <a:endParaRPr sz="1400" dirty="0">
              <a:latin typeface="Times New Roman"/>
              <a:cs typeface="Times New Roman"/>
            </a:endParaRPr>
          </a:p>
          <a:p>
            <a:pPr marL="152400" indent="-1428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SzPct val="92857"/>
              <a:buFont typeface="Wingdings"/>
              <a:buChar char=""/>
              <a:tabLst>
                <a:tab pos="152400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following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figure</a:t>
            </a:r>
            <a:r>
              <a:rPr sz="1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4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illustrates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Quantization</a:t>
            </a:r>
            <a:r>
              <a:rPr sz="14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sensor</a:t>
            </a:r>
            <a:r>
              <a:rPr sz="14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outputs.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1339" y="3407664"/>
            <a:ext cx="6050279" cy="26563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01085" y="6093967"/>
            <a:ext cx="61169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Times New Roman"/>
                <a:cs typeface="Times New Roman"/>
              </a:rPr>
              <a:t>Figure</a:t>
            </a:r>
            <a:r>
              <a:rPr sz="1100" b="1" spc="-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4: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(a)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Continuous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 projected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 sensor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array.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(b)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image sampling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quantization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Sampling</a:t>
            </a:r>
            <a:r>
              <a:rPr spc="-220" dirty="0"/>
              <a:t> </a:t>
            </a:r>
            <a:r>
              <a:rPr dirty="0"/>
              <a:t>and</a:t>
            </a:r>
            <a:r>
              <a:rPr spc="-235" dirty="0"/>
              <a:t> </a:t>
            </a:r>
            <a:r>
              <a:rPr spc="-40" dirty="0"/>
              <a:t>Quantization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9" y="1956816"/>
            <a:ext cx="8410956" cy="38008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12360" y="5927852"/>
            <a:ext cx="3298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5</a:t>
            </a:r>
            <a:r>
              <a:rPr sz="1400" dirty="0">
                <a:latin typeface="Times New Roman"/>
                <a:cs typeface="Times New Roman"/>
              </a:rPr>
              <a:t>: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Effect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sampling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quantization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Sampling</a:t>
            </a:r>
            <a:r>
              <a:rPr spc="-220" dirty="0"/>
              <a:t> </a:t>
            </a:r>
            <a:r>
              <a:rPr dirty="0"/>
              <a:t>and</a:t>
            </a:r>
            <a:r>
              <a:rPr spc="-235" dirty="0"/>
              <a:t> </a:t>
            </a:r>
            <a:r>
              <a:rPr spc="-40" dirty="0"/>
              <a:t>Quantization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1639" y="1863851"/>
            <a:ext cx="8869679" cy="40218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49111" y="4684776"/>
            <a:ext cx="4779645" cy="646430"/>
          </a:xfrm>
          <a:prstGeom prst="rect">
            <a:avLst/>
          </a:prstGeom>
          <a:solidFill>
            <a:srgbClr val="EAEBE7"/>
          </a:solidFill>
        </p:spPr>
        <p:txBody>
          <a:bodyPr vert="horz" wrap="square" lIns="0" tIns="38100" rIns="0" bIns="0" rtlCol="0">
            <a:spAutoFit/>
          </a:bodyPr>
          <a:lstStyle/>
          <a:p>
            <a:pPr marL="527050" indent="-285750">
              <a:lnSpc>
                <a:spcPct val="100000"/>
              </a:lnSpc>
              <a:spcBef>
                <a:spcPts val="300"/>
              </a:spcBef>
              <a:buFont typeface="Wingdings"/>
              <a:buChar char=""/>
              <a:tabLst>
                <a:tab pos="527050" algn="l"/>
              </a:tabLst>
            </a:pPr>
            <a:r>
              <a:rPr sz="1800" b="1" dirty="0">
                <a:latin typeface="Times New Roman"/>
                <a:cs typeface="Times New Roman"/>
              </a:rPr>
              <a:t>It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determines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spatial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resolution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25" dirty="0">
                <a:latin typeface="Times New Roman"/>
                <a:cs typeface="Times New Roman"/>
              </a:rPr>
              <a:t> the</a:t>
            </a:r>
            <a:endParaRPr sz="1800">
              <a:latin typeface="Times New Roman"/>
              <a:cs typeface="Times New Roman"/>
            </a:endParaRPr>
          </a:p>
          <a:p>
            <a:pPr marL="1828164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digital </a:t>
            </a:r>
            <a:r>
              <a:rPr sz="1800" b="1" spc="-10" dirty="0">
                <a:latin typeface="Times New Roman"/>
                <a:cs typeface="Times New Roman"/>
              </a:rPr>
              <a:t>images.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Sampling</a:t>
            </a:r>
            <a:r>
              <a:rPr spc="-220" dirty="0"/>
              <a:t> </a:t>
            </a:r>
            <a:r>
              <a:rPr dirty="0"/>
              <a:t>and</a:t>
            </a:r>
            <a:r>
              <a:rPr spc="-235" dirty="0"/>
              <a:t> </a:t>
            </a:r>
            <a:r>
              <a:rPr spc="-40" dirty="0"/>
              <a:t>Quantization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8583" y="1889760"/>
            <a:ext cx="5401056" cy="42092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79264" y="5330952"/>
            <a:ext cx="4779645" cy="646430"/>
          </a:xfrm>
          <a:prstGeom prst="rect">
            <a:avLst/>
          </a:prstGeom>
          <a:solidFill>
            <a:srgbClr val="EAEBE7"/>
          </a:solidFill>
        </p:spPr>
        <p:txBody>
          <a:bodyPr vert="horz" wrap="square" lIns="0" tIns="39369" rIns="0" bIns="0" rtlCol="0">
            <a:spAutoFit/>
          </a:bodyPr>
          <a:lstStyle/>
          <a:p>
            <a:pPr marL="435609" indent="-285750">
              <a:lnSpc>
                <a:spcPct val="100000"/>
              </a:lnSpc>
              <a:spcBef>
                <a:spcPts val="309"/>
              </a:spcBef>
              <a:buFont typeface="Wingdings"/>
              <a:buChar char=""/>
              <a:tabLst>
                <a:tab pos="435609" algn="l"/>
              </a:tabLst>
            </a:pPr>
            <a:r>
              <a:rPr sz="1800" b="1" dirty="0">
                <a:latin typeface="Times New Roman"/>
                <a:cs typeface="Times New Roman"/>
              </a:rPr>
              <a:t>It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determines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number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gray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levels</a:t>
            </a:r>
            <a:endParaRPr sz="1800">
              <a:latin typeface="Times New Roman"/>
              <a:cs typeface="Times New Roman"/>
            </a:endParaRPr>
          </a:p>
          <a:p>
            <a:pPr marL="1906905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in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10" dirty="0">
                <a:latin typeface="Times New Roman"/>
                <a:cs typeface="Times New Roman"/>
              </a:rPr>
              <a:t> image.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2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92000" y="4571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12192000" cy="67310"/>
            </a:xfrm>
            <a:custGeom>
              <a:avLst/>
              <a:gdLst/>
              <a:ahLst/>
              <a:cxnLst/>
              <a:rect l="l" t="t" r="r" b="b"/>
              <a:pathLst>
                <a:path w="12192000" h="67310">
                  <a:moveTo>
                    <a:pt x="12192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12192000" y="6705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Sampling</a:t>
            </a:r>
            <a:r>
              <a:rPr spc="-220" dirty="0"/>
              <a:t> </a:t>
            </a:r>
            <a:r>
              <a:rPr dirty="0"/>
              <a:t>and</a:t>
            </a:r>
            <a:r>
              <a:rPr spc="-235" dirty="0"/>
              <a:t> </a:t>
            </a:r>
            <a:r>
              <a:rPr spc="-40" dirty="0"/>
              <a:t>Quantization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077" y="2998519"/>
            <a:ext cx="7895843" cy="168842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Representation</a:t>
            </a:r>
            <a:r>
              <a:rPr spc="-204" dirty="0"/>
              <a:t> </a:t>
            </a:r>
            <a:r>
              <a:rPr dirty="0"/>
              <a:t>of</a:t>
            </a:r>
            <a:r>
              <a:rPr spc="-175" dirty="0"/>
              <a:t> </a:t>
            </a:r>
            <a:r>
              <a:rPr spc="-35" dirty="0"/>
              <a:t>Digital</a:t>
            </a:r>
            <a:r>
              <a:rPr spc="-195" dirty="0"/>
              <a:t> </a:t>
            </a:r>
            <a:r>
              <a:rPr spc="-10" dirty="0"/>
              <a:t>Image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0700" y="2691383"/>
            <a:ext cx="2933700" cy="523240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400" b="1" dirty="0">
                <a:latin typeface="Times New Roman"/>
                <a:cs typeface="Times New Roman"/>
              </a:rPr>
              <a:t>f(s,t)</a:t>
            </a:r>
            <a:r>
              <a:rPr sz="1400" b="1" spc="409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-</a:t>
            </a:r>
            <a:r>
              <a:rPr sz="1400" b="1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continuous</a:t>
            </a:r>
            <a:r>
              <a:rPr sz="1400" b="1" spc="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image</a:t>
            </a:r>
            <a:r>
              <a:rPr sz="1400" b="1" spc="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function</a:t>
            </a:r>
            <a:endParaRPr sz="1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two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continuous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variables,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t.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6671" y="2135123"/>
            <a:ext cx="368935" cy="2158365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vert270" wrap="square" lIns="0" tIns="86995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685"/>
              </a:spcBef>
            </a:pPr>
            <a:r>
              <a:rPr sz="1200" dirty="0">
                <a:latin typeface="Times New Roman"/>
                <a:cs typeface="Times New Roman"/>
              </a:rPr>
              <a:t>Sampling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Quantization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26123" y="2691383"/>
            <a:ext cx="3438525" cy="523240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400" b="1" dirty="0">
                <a:latin typeface="Times New Roman"/>
                <a:cs typeface="Times New Roman"/>
              </a:rPr>
              <a:t>A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2-D</a:t>
            </a:r>
            <a:r>
              <a:rPr sz="1400" b="1" spc="-10" dirty="0">
                <a:latin typeface="Times New Roman"/>
                <a:cs typeface="Times New Roman"/>
              </a:rPr>
              <a:t> array,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i="1" dirty="0">
                <a:latin typeface="Times New Roman"/>
                <a:cs typeface="Times New Roman"/>
              </a:rPr>
              <a:t>f(x,y)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containing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rows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</a:t>
            </a:r>
            <a:endParaRPr sz="14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columns,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where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discrete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coordinates.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6324" y="4565675"/>
            <a:ext cx="9901555" cy="112331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60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general,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coordinates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(x,y)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denoted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f(x,y),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x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integers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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section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real</a:t>
            </a:r>
            <a:r>
              <a:rPr sz="1600" b="1" spc="1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plane</a:t>
            </a:r>
            <a:r>
              <a:rPr sz="1600" b="1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spanned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coordinates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image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called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spatial</a:t>
            </a:r>
            <a:r>
              <a:rPr sz="1600" b="1" spc="1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domain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x</a:t>
            </a:r>
            <a:r>
              <a:rPr sz="1600" b="1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latin typeface="Times New Roman"/>
                <a:cs typeface="Times New Roman"/>
              </a:rPr>
              <a:t>y</a:t>
            </a:r>
            <a:endParaRPr sz="16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Times New Roman"/>
                <a:cs typeface="Times New Roman"/>
              </a:rPr>
              <a:t>being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referred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spatial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variables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spatial</a:t>
            </a:r>
            <a:r>
              <a:rPr sz="1600" b="1" spc="-10" dirty="0">
                <a:latin typeface="Times New Roman"/>
                <a:cs typeface="Times New Roman"/>
              </a:rPr>
              <a:t> coordinates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917947" y="2770632"/>
            <a:ext cx="396240" cy="413384"/>
            <a:chOff x="4917947" y="2770632"/>
            <a:chExt cx="396240" cy="413384"/>
          </a:xfrm>
        </p:grpSpPr>
        <p:sp>
          <p:nvSpPr>
            <p:cNvPr id="8" name="object 8"/>
            <p:cNvSpPr/>
            <p:nvPr/>
          </p:nvSpPr>
          <p:spPr>
            <a:xfrm>
              <a:off x="4925567" y="2778252"/>
              <a:ext cx="381000" cy="398145"/>
            </a:xfrm>
            <a:custGeom>
              <a:avLst/>
              <a:gdLst/>
              <a:ahLst/>
              <a:cxnLst/>
              <a:rect l="l" t="t" r="r" b="b"/>
              <a:pathLst>
                <a:path w="381000" h="398144">
                  <a:moveTo>
                    <a:pt x="190500" y="0"/>
                  </a:moveTo>
                  <a:lnTo>
                    <a:pt x="190500" y="99440"/>
                  </a:lnTo>
                  <a:lnTo>
                    <a:pt x="0" y="99440"/>
                  </a:lnTo>
                  <a:lnTo>
                    <a:pt x="0" y="298323"/>
                  </a:lnTo>
                  <a:lnTo>
                    <a:pt x="190500" y="298323"/>
                  </a:lnTo>
                  <a:lnTo>
                    <a:pt x="190500" y="397763"/>
                  </a:lnTo>
                  <a:lnTo>
                    <a:pt x="381000" y="198882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C2B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25567" y="2778252"/>
              <a:ext cx="381000" cy="398145"/>
            </a:xfrm>
            <a:custGeom>
              <a:avLst/>
              <a:gdLst/>
              <a:ahLst/>
              <a:cxnLst/>
              <a:rect l="l" t="t" r="r" b="b"/>
              <a:pathLst>
                <a:path w="381000" h="398144">
                  <a:moveTo>
                    <a:pt x="0" y="99440"/>
                  </a:moveTo>
                  <a:lnTo>
                    <a:pt x="190500" y="99440"/>
                  </a:lnTo>
                  <a:lnTo>
                    <a:pt x="190500" y="0"/>
                  </a:lnTo>
                  <a:lnTo>
                    <a:pt x="381000" y="198882"/>
                  </a:lnTo>
                  <a:lnTo>
                    <a:pt x="190500" y="397763"/>
                  </a:lnTo>
                  <a:lnTo>
                    <a:pt x="190500" y="298323"/>
                  </a:lnTo>
                  <a:lnTo>
                    <a:pt x="0" y="298323"/>
                  </a:lnTo>
                  <a:lnTo>
                    <a:pt x="0" y="99440"/>
                  </a:lnTo>
                  <a:close/>
                </a:path>
              </a:pathLst>
            </a:custGeom>
            <a:ln w="15240">
              <a:solidFill>
                <a:srgbClr val="8E88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862828" y="2782823"/>
            <a:ext cx="297180" cy="390525"/>
            <a:chOff x="5862828" y="2782823"/>
            <a:chExt cx="297180" cy="390525"/>
          </a:xfrm>
        </p:grpSpPr>
        <p:sp>
          <p:nvSpPr>
            <p:cNvPr id="11" name="object 11"/>
            <p:cNvSpPr/>
            <p:nvPr/>
          </p:nvSpPr>
          <p:spPr>
            <a:xfrm>
              <a:off x="5870448" y="2790443"/>
              <a:ext cx="281940" cy="375285"/>
            </a:xfrm>
            <a:custGeom>
              <a:avLst/>
              <a:gdLst/>
              <a:ahLst/>
              <a:cxnLst/>
              <a:rect l="l" t="t" r="r" b="b"/>
              <a:pathLst>
                <a:path w="281939" h="375285">
                  <a:moveTo>
                    <a:pt x="140969" y="0"/>
                  </a:moveTo>
                  <a:lnTo>
                    <a:pt x="140969" y="93725"/>
                  </a:lnTo>
                  <a:lnTo>
                    <a:pt x="0" y="93725"/>
                  </a:lnTo>
                  <a:lnTo>
                    <a:pt x="0" y="281177"/>
                  </a:lnTo>
                  <a:lnTo>
                    <a:pt x="140969" y="281177"/>
                  </a:lnTo>
                  <a:lnTo>
                    <a:pt x="140969" y="374903"/>
                  </a:lnTo>
                  <a:lnTo>
                    <a:pt x="281939" y="187451"/>
                  </a:lnTo>
                  <a:lnTo>
                    <a:pt x="140969" y="0"/>
                  </a:lnTo>
                  <a:close/>
                </a:path>
              </a:pathLst>
            </a:custGeom>
            <a:solidFill>
              <a:srgbClr val="C2B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70448" y="2790443"/>
              <a:ext cx="281940" cy="375285"/>
            </a:xfrm>
            <a:custGeom>
              <a:avLst/>
              <a:gdLst/>
              <a:ahLst/>
              <a:cxnLst/>
              <a:rect l="l" t="t" r="r" b="b"/>
              <a:pathLst>
                <a:path w="281939" h="375285">
                  <a:moveTo>
                    <a:pt x="0" y="93725"/>
                  </a:moveTo>
                  <a:lnTo>
                    <a:pt x="140969" y="93725"/>
                  </a:lnTo>
                  <a:lnTo>
                    <a:pt x="140969" y="0"/>
                  </a:lnTo>
                  <a:lnTo>
                    <a:pt x="281939" y="187451"/>
                  </a:lnTo>
                  <a:lnTo>
                    <a:pt x="140969" y="374903"/>
                  </a:lnTo>
                  <a:lnTo>
                    <a:pt x="140969" y="281177"/>
                  </a:lnTo>
                  <a:lnTo>
                    <a:pt x="0" y="281177"/>
                  </a:lnTo>
                  <a:lnTo>
                    <a:pt x="0" y="93725"/>
                  </a:lnTo>
                  <a:close/>
                </a:path>
              </a:pathLst>
            </a:custGeom>
            <a:ln w="15240">
              <a:solidFill>
                <a:srgbClr val="8E88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Representation</a:t>
            </a:r>
            <a:r>
              <a:rPr spc="-204" dirty="0"/>
              <a:t> </a:t>
            </a:r>
            <a:r>
              <a:rPr dirty="0"/>
              <a:t>of</a:t>
            </a:r>
            <a:r>
              <a:rPr spc="-175" dirty="0"/>
              <a:t> </a:t>
            </a:r>
            <a:r>
              <a:rPr spc="-35" dirty="0"/>
              <a:t>Digital</a:t>
            </a:r>
            <a:r>
              <a:rPr spc="-195" dirty="0"/>
              <a:t> </a:t>
            </a:r>
            <a:r>
              <a:rPr spc="-10" dirty="0"/>
              <a:t>Image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5594" y="1894331"/>
            <a:ext cx="3780837" cy="42439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20695" y="3218814"/>
            <a:ext cx="3717290" cy="1092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6:</a:t>
            </a:r>
            <a:r>
              <a:rPr sz="1400" b="1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(a)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plotted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surface.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(b)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Image </a:t>
            </a:r>
            <a:r>
              <a:rPr sz="1400" dirty="0">
                <a:latin typeface="Times New Roman"/>
                <a:cs typeface="Times New Roman"/>
              </a:rPr>
              <a:t>displayed</a:t>
            </a:r>
            <a:r>
              <a:rPr sz="1400" spc="4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4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40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visual</a:t>
            </a:r>
            <a:r>
              <a:rPr sz="1400" spc="4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intensity</a:t>
            </a:r>
            <a:r>
              <a:rPr sz="1400" spc="3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array.</a:t>
            </a:r>
            <a:r>
              <a:rPr sz="1400" spc="4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(c)</a:t>
            </a:r>
            <a:r>
              <a:rPr sz="1400" spc="39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Image </a:t>
            </a:r>
            <a:r>
              <a:rPr sz="1400" dirty="0">
                <a:latin typeface="Times New Roman"/>
                <a:cs typeface="Times New Roman"/>
              </a:rPr>
              <a:t>shown</a:t>
            </a:r>
            <a:r>
              <a:rPr sz="1400" spc="3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3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2-</a:t>
            </a:r>
            <a:r>
              <a:rPr sz="1400" dirty="0">
                <a:latin typeface="Times New Roman"/>
                <a:cs typeface="Times New Roman"/>
              </a:rPr>
              <a:t>D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numerical</a:t>
            </a:r>
            <a:r>
              <a:rPr sz="1400" spc="3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array.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(The</a:t>
            </a:r>
            <a:r>
              <a:rPr sz="1400" spc="3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numbers </a:t>
            </a:r>
            <a:r>
              <a:rPr sz="1400" dirty="0">
                <a:latin typeface="Times New Roman"/>
                <a:cs typeface="Times New Roman"/>
              </a:rPr>
              <a:t>0,</a:t>
            </a:r>
            <a:r>
              <a:rPr sz="1400" spc="8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.5,</a:t>
            </a:r>
            <a:r>
              <a:rPr sz="1400" spc="8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8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1</a:t>
            </a:r>
            <a:r>
              <a:rPr sz="1400" spc="8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represent</a:t>
            </a:r>
            <a:r>
              <a:rPr sz="1400" spc="8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black,</a:t>
            </a:r>
            <a:r>
              <a:rPr sz="1400" spc="8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gray,</a:t>
            </a:r>
            <a:r>
              <a:rPr sz="1400" spc="8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85" dirty="0">
                <a:latin typeface="Times New Roman"/>
                <a:cs typeface="Times New Roman"/>
              </a:rPr>
              <a:t>  </a:t>
            </a:r>
            <a:r>
              <a:rPr sz="1400" spc="-10" dirty="0">
                <a:latin typeface="Times New Roman"/>
                <a:cs typeface="Times New Roman"/>
              </a:rPr>
              <a:t>white, respectively.)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Representation</a:t>
            </a:r>
            <a:r>
              <a:rPr spc="-204" dirty="0"/>
              <a:t> </a:t>
            </a:r>
            <a:r>
              <a:rPr dirty="0"/>
              <a:t>of</a:t>
            </a:r>
            <a:r>
              <a:rPr spc="-175" dirty="0"/>
              <a:t> </a:t>
            </a:r>
            <a:r>
              <a:rPr spc="-35" dirty="0"/>
              <a:t>Digital</a:t>
            </a:r>
            <a:r>
              <a:rPr spc="-195" dirty="0"/>
              <a:t> </a:t>
            </a:r>
            <a:r>
              <a:rPr spc="-10" dirty="0"/>
              <a:t>Image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51787"/>
            <a:ext cx="9476105" cy="1349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type of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representation</a:t>
            </a:r>
            <a:r>
              <a:rPr sz="1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has three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axis.</a:t>
            </a:r>
            <a:r>
              <a:rPr sz="1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Where,</a:t>
            </a:r>
            <a:r>
              <a:rPr sz="1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x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y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spatial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co-ordinates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f(x,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y)</a:t>
            </a:r>
            <a:r>
              <a:rPr sz="1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represents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another</a:t>
            </a:r>
            <a:r>
              <a:rPr sz="1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co-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ordinates.</a:t>
            </a:r>
            <a:endParaRPr sz="1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20"/>
              </a:spcBef>
              <a:buClr>
                <a:srgbClr val="E38312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Here,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f(x,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y)</a:t>
            </a:r>
            <a:r>
              <a:rPr sz="1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function</a:t>
            </a:r>
            <a:r>
              <a:rPr sz="1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spatial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co-ordinates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(x,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y).</a:t>
            </a:r>
            <a:endParaRPr sz="1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35"/>
              </a:spcBef>
              <a:buClr>
                <a:srgbClr val="E38312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type of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representation</a:t>
            </a:r>
            <a:r>
              <a:rPr sz="14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not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always</a:t>
            </a:r>
            <a:r>
              <a:rPr sz="1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preferable.</a:t>
            </a:r>
            <a:endParaRPr sz="1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40"/>
              </a:spcBef>
              <a:buClr>
                <a:srgbClr val="E38312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Complex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1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having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too</a:t>
            </a:r>
            <a:r>
              <a:rPr sz="1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many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details,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make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interpretation</a:t>
            </a:r>
            <a:r>
              <a:rPr sz="1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images with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type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representation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very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difficult.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3249" y="3414892"/>
            <a:ext cx="2794702" cy="23839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02834" y="5826353"/>
            <a:ext cx="24879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7</a:t>
            </a:r>
            <a:r>
              <a:rPr sz="1400" dirty="0">
                <a:latin typeface="Times New Roman"/>
                <a:cs typeface="Times New Roman"/>
              </a:rPr>
              <a:t>: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plotted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10" dirty="0">
                <a:latin typeface="Times New Roman"/>
                <a:cs typeface="Times New Roman"/>
              </a:rPr>
              <a:t> surface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Representation</a:t>
            </a:r>
            <a:r>
              <a:rPr spc="-204" dirty="0"/>
              <a:t> </a:t>
            </a:r>
            <a:r>
              <a:rPr dirty="0"/>
              <a:t>of</a:t>
            </a:r>
            <a:r>
              <a:rPr spc="-175" dirty="0"/>
              <a:t> </a:t>
            </a:r>
            <a:r>
              <a:rPr spc="-35" dirty="0"/>
              <a:t>Digital</a:t>
            </a:r>
            <a:r>
              <a:rPr spc="-195" dirty="0"/>
              <a:t> </a:t>
            </a:r>
            <a:r>
              <a:rPr spc="-10" dirty="0"/>
              <a:t>Image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7121" y="3058388"/>
            <a:ext cx="2904420" cy="31003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6324" y="1897126"/>
            <a:ext cx="99015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would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appear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photograph.</a:t>
            </a:r>
            <a:endParaRPr sz="1800">
              <a:latin typeface="Times New Roman"/>
              <a:cs typeface="Times New Roman"/>
            </a:endParaRPr>
          </a:p>
          <a:p>
            <a:pPr marL="297815" marR="5080" indent="-285750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three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discrete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intensity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(black,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grey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white).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intensity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normalized</a:t>
            </a:r>
            <a:r>
              <a:rPr sz="1800" b="1" spc="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	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interval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[0,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1]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each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point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0,</a:t>
            </a:r>
            <a:r>
              <a:rPr sz="1800" b="1" i="1" spc="-1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0.5,</a:t>
            </a:r>
            <a:r>
              <a:rPr sz="1800" b="1" i="1" spc="-3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or</a:t>
            </a:r>
            <a:r>
              <a:rPr sz="1800" b="1" i="1" spc="-15" dirty="0">
                <a:latin typeface="Times New Roman"/>
                <a:cs typeface="Times New Roman"/>
              </a:rPr>
              <a:t> </a:t>
            </a:r>
            <a:r>
              <a:rPr sz="1800" b="1" i="1" spc="-25" dirty="0">
                <a:latin typeface="Times New Roman"/>
                <a:cs typeface="Times New Roman"/>
              </a:rPr>
              <a:t>1</a:t>
            </a:r>
            <a:r>
              <a:rPr sz="1800" spc="-25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type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representation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 used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printers.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5174107" y="5571235"/>
            <a:ext cx="17379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8</a:t>
            </a:r>
            <a:r>
              <a:rPr sz="1400" dirty="0">
                <a:latin typeface="Times New Roman"/>
                <a:cs typeface="Times New Roman"/>
              </a:rPr>
              <a:t>: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plotted </a:t>
            </a:r>
            <a:r>
              <a:rPr sz="1400" dirty="0">
                <a:latin typeface="Times New Roman"/>
                <a:cs typeface="Times New Roman"/>
              </a:rPr>
              <a:t>visual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intensity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array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Representation</a:t>
            </a:r>
            <a:r>
              <a:rPr spc="-204" dirty="0"/>
              <a:t> </a:t>
            </a:r>
            <a:r>
              <a:rPr dirty="0"/>
              <a:t>of</a:t>
            </a:r>
            <a:r>
              <a:rPr spc="-175" dirty="0"/>
              <a:t> </a:t>
            </a:r>
            <a:r>
              <a:rPr spc="-35" dirty="0"/>
              <a:t>Digital</a:t>
            </a:r>
            <a:r>
              <a:rPr spc="-195" dirty="0"/>
              <a:t> </a:t>
            </a:r>
            <a:r>
              <a:rPr spc="-10" dirty="0"/>
              <a:t>Image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5085" y="2828521"/>
            <a:ext cx="2691314" cy="27733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6324" y="1806321"/>
            <a:ext cx="7635240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Representation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simply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display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numerical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array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(matrix).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Most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widely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representation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digital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processing.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277870" y="5847384"/>
            <a:ext cx="60528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0" marR="5080" indent="-214058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Times New Roman"/>
                <a:cs typeface="Times New Roman"/>
              </a:rPr>
              <a:t>: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shown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 a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2-D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numerical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array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(0,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0.5,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represent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black,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gray,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white,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respectively).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Representation</a:t>
            </a:r>
            <a:r>
              <a:rPr spc="-204" dirty="0"/>
              <a:t> </a:t>
            </a:r>
            <a:r>
              <a:rPr dirty="0"/>
              <a:t>of</a:t>
            </a:r>
            <a:r>
              <a:rPr spc="-175" dirty="0"/>
              <a:t> </a:t>
            </a:r>
            <a:r>
              <a:rPr spc="-35" dirty="0"/>
              <a:t>Digital</a:t>
            </a:r>
            <a:r>
              <a:rPr spc="-195" dirty="0"/>
              <a:t> </a:t>
            </a:r>
            <a:r>
              <a:rPr spc="-10" dirty="0"/>
              <a:t>Image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249208" y="5607533"/>
            <a:ext cx="560070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525" baseline="5910" dirty="0">
                <a:latin typeface="Symbol"/>
                <a:cs typeface="Symbol"/>
              </a:rPr>
              <a:t></a:t>
            </a:r>
            <a:r>
              <a:rPr sz="3525" spc="-502" baseline="59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</a:t>
            </a:r>
            <a:r>
              <a:rPr sz="1200" i="1" spc="-1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Symbol"/>
                <a:cs typeface="Symbol"/>
              </a:rPr>
              <a:t></a:t>
            </a:r>
            <a:r>
              <a:rPr sz="1200" i="1" spc="-25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1416" y="5497417"/>
            <a:ext cx="260413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664210" algn="l"/>
              </a:tabLst>
            </a:pPr>
            <a:r>
              <a:rPr sz="2350" spc="-50" dirty="0">
                <a:latin typeface="Microsoft Sans Serif"/>
                <a:cs typeface="Microsoft Sans Serif"/>
              </a:rPr>
              <a:t></a:t>
            </a:r>
            <a:r>
              <a:rPr sz="2350" dirty="0">
                <a:latin typeface="Microsoft Sans Serif"/>
                <a:cs typeface="Microsoft Sans Serif"/>
              </a:rPr>
              <a:t>	</a:t>
            </a:r>
            <a:r>
              <a:rPr sz="2350" i="1" dirty="0">
                <a:latin typeface="Times New Roman"/>
                <a:cs typeface="Times New Roman"/>
              </a:rPr>
              <a:t>f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65" dirty="0">
                <a:latin typeface="Times New Roman"/>
                <a:cs typeface="Times New Roman"/>
              </a:rPr>
              <a:t>(</a:t>
            </a:r>
            <a:r>
              <a:rPr sz="2350" i="1" spc="65" dirty="0">
                <a:latin typeface="Times New Roman"/>
                <a:cs typeface="Times New Roman"/>
              </a:rPr>
              <a:t>M</a:t>
            </a:r>
            <a:r>
              <a:rPr sz="2350" i="1" spc="20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Symbol"/>
                <a:cs typeface="Symbol"/>
              </a:rPr>
              <a:t></a:t>
            </a:r>
            <a:r>
              <a:rPr sz="2350" spc="-10" dirty="0">
                <a:latin typeface="Times New Roman"/>
                <a:cs typeface="Times New Roman"/>
              </a:rPr>
              <a:t>1,</a:t>
            </a:r>
            <a:r>
              <a:rPr sz="2350" spc="-170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N</a:t>
            </a:r>
            <a:r>
              <a:rPr sz="2350" i="1" spc="70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Symbol"/>
                <a:cs typeface="Symbol"/>
              </a:rPr>
              <a:t></a:t>
            </a:r>
            <a:r>
              <a:rPr sz="2350" spc="-20" dirty="0">
                <a:latin typeface="Times New Roman"/>
                <a:cs typeface="Times New Roman"/>
              </a:rPr>
              <a:t>1)</a:t>
            </a:r>
            <a:r>
              <a:rPr sz="3525" spc="-30" baseline="36643" dirty="0">
                <a:latin typeface="Symbol"/>
                <a:cs typeface="Symbol"/>
              </a:rPr>
              <a:t></a:t>
            </a:r>
            <a:endParaRPr sz="3525" baseline="36643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8480" y="4035346"/>
            <a:ext cx="1235710" cy="185166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2350" i="1" dirty="0">
                <a:latin typeface="Times New Roman"/>
                <a:cs typeface="Times New Roman"/>
              </a:rPr>
              <a:t>f</a:t>
            </a:r>
            <a:r>
              <a:rPr sz="2350" i="1" spc="-1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(0,1)</a:t>
            </a:r>
            <a:endParaRPr sz="2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75"/>
              </a:spcBef>
            </a:pPr>
            <a:r>
              <a:rPr sz="2350" i="1" dirty="0">
                <a:latin typeface="Times New Roman"/>
                <a:cs typeface="Times New Roman"/>
              </a:rPr>
              <a:t>f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(1,1)</a:t>
            </a:r>
            <a:endParaRPr sz="2350">
              <a:latin typeface="Times New Roman"/>
              <a:cs typeface="Times New Roman"/>
            </a:endParaRPr>
          </a:p>
          <a:p>
            <a:pPr marR="54610" algn="ctr">
              <a:lnSpc>
                <a:spcPct val="100000"/>
              </a:lnSpc>
              <a:spcBef>
                <a:spcPts val="775"/>
              </a:spcBef>
            </a:pPr>
            <a:r>
              <a:rPr sz="2350" spc="95" dirty="0">
                <a:latin typeface="Microsoft Sans Serif"/>
                <a:cs typeface="Microsoft Sans Serif"/>
              </a:rPr>
              <a:t>⁝</a:t>
            </a:r>
            <a:endParaRPr sz="235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775"/>
              </a:spcBef>
            </a:pPr>
            <a:r>
              <a:rPr sz="2350" i="1" dirty="0">
                <a:latin typeface="Times New Roman"/>
                <a:cs typeface="Times New Roman"/>
              </a:rPr>
              <a:t>f</a:t>
            </a:r>
            <a:r>
              <a:rPr sz="2350" i="1" spc="-25" dirty="0">
                <a:latin typeface="Times New Roman"/>
                <a:cs typeface="Times New Roman"/>
              </a:rPr>
              <a:t> </a:t>
            </a:r>
            <a:r>
              <a:rPr sz="2350" spc="65" dirty="0">
                <a:latin typeface="Times New Roman"/>
                <a:cs typeface="Times New Roman"/>
              </a:rPr>
              <a:t>(</a:t>
            </a:r>
            <a:r>
              <a:rPr sz="2350" i="1" spc="65" dirty="0">
                <a:latin typeface="Times New Roman"/>
                <a:cs typeface="Times New Roman"/>
              </a:rPr>
              <a:t>M</a:t>
            </a:r>
            <a:r>
              <a:rPr sz="2350" i="1" spc="195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Symbol"/>
                <a:cs typeface="Symbol"/>
              </a:rPr>
              <a:t></a:t>
            </a:r>
            <a:r>
              <a:rPr sz="2350" spc="-50" dirty="0">
                <a:latin typeface="Times New Roman"/>
                <a:cs typeface="Times New Roman"/>
              </a:rPr>
              <a:t>1,1)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76816" y="4035346"/>
            <a:ext cx="2153285" cy="93853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901700" algn="l"/>
              </a:tabLst>
            </a:pPr>
            <a:r>
              <a:rPr sz="2350" spc="-50" dirty="0">
                <a:latin typeface="Microsoft Sans Serif"/>
                <a:cs typeface="Microsoft Sans Serif"/>
              </a:rPr>
              <a:t></a:t>
            </a:r>
            <a:r>
              <a:rPr sz="2350" dirty="0">
                <a:latin typeface="Microsoft Sans Serif"/>
                <a:cs typeface="Microsoft Sans Serif"/>
              </a:rPr>
              <a:t>	</a:t>
            </a:r>
            <a:r>
              <a:rPr sz="2350" i="1" dirty="0">
                <a:latin typeface="Times New Roman"/>
                <a:cs typeface="Times New Roman"/>
              </a:rPr>
              <a:t>f</a:t>
            </a:r>
            <a:r>
              <a:rPr sz="2350" i="1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(0,</a:t>
            </a:r>
            <a:r>
              <a:rPr sz="2350" spc="-170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N</a:t>
            </a:r>
            <a:r>
              <a:rPr sz="2350" i="1" spc="9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Symbol"/>
                <a:cs typeface="Symbol"/>
              </a:rPr>
              <a:t></a:t>
            </a:r>
            <a:r>
              <a:rPr sz="2350" spc="-25" dirty="0">
                <a:latin typeface="Times New Roman"/>
                <a:cs typeface="Times New Roman"/>
              </a:rPr>
              <a:t>1)</a:t>
            </a: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  <a:tabLst>
                <a:tab pos="927100" algn="l"/>
              </a:tabLst>
            </a:pPr>
            <a:r>
              <a:rPr sz="2350" spc="-50" dirty="0">
                <a:latin typeface="Microsoft Sans Serif"/>
                <a:cs typeface="Microsoft Sans Serif"/>
              </a:rPr>
              <a:t></a:t>
            </a:r>
            <a:r>
              <a:rPr sz="2350" dirty="0">
                <a:latin typeface="Microsoft Sans Serif"/>
                <a:cs typeface="Microsoft Sans Serif"/>
              </a:rPr>
              <a:t>	</a:t>
            </a:r>
            <a:r>
              <a:rPr sz="2350" i="1" dirty="0">
                <a:latin typeface="Times New Roman"/>
                <a:cs typeface="Times New Roman"/>
              </a:rPr>
              <a:t>f</a:t>
            </a:r>
            <a:r>
              <a:rPr sz="2350" i="1" spc="-10" dirty="0">
                <a:latin typeface="Times New Roman"/>
                <a:cs typeface="Times New Roman"/>
              </a:rPr>
              <a:t> </a:t>
            </a:r>
            <a:r>
              <a:rPr sz="2350" spc="-140" dirty="0">
                <a:latin typeface="Times New Roman"/>
                <a:cs typeface="Times New Roman"/>
              </a:rPr>
              <a:t>(1,</a:t>
            </a:r>
            <a:r>
              <a:rPr sz="2350" spc="-16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N</a:t>
            </a:r>
            <a:r>
              <a:rPr sz="2350" i="1" spc="9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Symbol"/>
                <a:cs typeface="Symbol"/>
              </a:rPr>
              <a:t></a:t>
            </a:r>
            <a:r>
              <a:rPr sz="2350" spc="-25" dirty="0">
                <a:latin typeface="Times New Roman"/>
                <a:cs typeface="Times New Roman"/>
              </a:rPr>
              <a:t>1)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4734" y="4035346"/>
            <a:ext cx="762635" cy="93853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350" i="1" dirty="0">
                <a:latin typeface="Times New Roman"/>
                <a:cs typeface="Times New Roman"/>
              </a:rPr>
              <a:t>f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(0,0)</a:t>
            </a:r>
            <a:endParaRPr sz="2350">
              <a:latin typeface="Times New Roman"/>
              <a:cs typeface="Times New Roman"/>
            </a:endParaRPr>
          </a:p>
          <a:p>
            <a:pPr marL="38735">
              <a:lnSpc>
                <a:spcPct val="100000"/>
              </a:lnSpc>
              <a:spcBef>
                <a:spcPts val="775"/>
              </a:spcBef>
            </a:pPr>
            <a:r>
              <a:rPr sz="2350" i="1" dirty="0">
                <a:latin typeface="Times New Roman"/>
                <a:cs typeface="Times New Roman"/>
              </a:rPr>
              <a:t>f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(1,0)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74608" y="5012480"/>
            <a:ext cx="14287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-50" dirty="0">
                <a:latin typeface="Symbol"/>
                <a:cs typeface="Symbol"/>
              </a:rPr>
              <a:t>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74608" y="4144672"/>
            <a:ext cx="142875" cy="969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550"/>
              </a:lnSpc>
              <a:spcBef>
                <a:spcPts val="135"/>
              </a:spcBef>
            </a:pPr>
            <a:r>
              <a:rPr sz="2350" spc="-50" dirty="0">
                <a:latin typeface="Symbol"/>
                <a:cs typeface="Symbol"/>
              </a:rPr>
              <a:t></a:t>
            </a:r>
            <a:endParaRPr sz="2350">
              <a:latin typeface="Symbol"/>
              <a:cs typeface="Symbol"/>
            </a:endParaRPr>
          </a:p>
          <a:p>
            <a:pPr marL="12700">
              <a:lnSpc>
                <a:spcPts val="2280"/>
              </a:lnSpc>
            </a:pPr>
            <a:r>
              <a:rPr sz="2350" spc="-50" dirty="0">
                <a:latin typeface="Symbol"/>
                <a:cs typeface="Symbol"/>
              </a:rPr>
              <a:t></a:t>
            </a:r>
            <a:endParaRPr sz="2350">
              <a:latin typeface="Symbol"/>
              <a:cs typeface="Symbol"/>
            </a:endParaRPr>
          </a:p>
          <a:p>
            <a:pPr marL="12700">
              <a:lnSpc>
                <a:spcPts val="2550"/>
              </a:lnSpc>
            </a:pPr>
            <a:r>
              <a:rPr sz="2350" spc="-50" dirty="0">
                <a:latin typeface="Symbol"/>
                <a:cs typeface="Symbol"/>
              </a:rPr>
              <a:t>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21722" y="5012480"/>
            <a:ext cx="14287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-50" dirty="0">
                <a:latin typeface="Symbol"/>
                <a:cs typeface="Symbol"/>
              </a:rPr>
              <a:t>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21722" y="4144672"/>
            <a:ext cx="142875" cy="679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550"/>
              </a:lnSpc>
              <a:spcBef>
                <a:spcPts val="135"/>
              </a:spcBef>
            </a:pPr>
            <a:r>
              <a:rPr sz="2350" spc="-50" dirty="0">
                <a:latin typeface="Symbol"/>
                <a:cs typeface="Symbol"/>
              </a:rPr>
              <a:t></a:t>
            </a:r>
            <a:endParaRPr sz="2350">
              <a:latin typeface="Symbol"/>
              <a:cs typeface="Symbol"/>
            </a:endParaRPr>
          </a:p>
          <a:p>
            <a:pPr marL="12700">
              <a:lnSpc>
                <a:spcPts val="2550"/>
              </a:lnSpc>
            </a:pPr>
            <a:r>
              <a:rPr sz="2350" spc="-50" dirty="0">
                <a:latin typeface="Symbol"/>
                <a:cs typeface="Symbol"/>
              </a:rPr>
              <a:t>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66012" y="4808265"/>
            <a:ext cx="132397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350" i="1" dirty="0">
                <a:latin typeface="Times New Roman"/>
                <a:cs typeface="Times New Roman"/>
              </a:rPr>
              <a:t>f</a:t>
            </a:r>
            <a:r>
              <a:rPr sz="2350" i="1" spc="-30" dirty="0">
                <a:latin typeface="Times New Roman"/>
                <a:cs typeface="Times New Roman"/>
              </a:rPr>
              <a:t> </a:t>
            </a:r>
            <a:r>
              <a:rPr sz="2350" spc="75" dirty="0">
                <a:latin typeface="Times New Roman"/>
                <a:cs typeface="Times New Roman"/>
              </a:rPr>
              <a:t>(</a:t>
            </a:r>
            <a:r>
              <a:rPr sz="2350" i="1" spc="75" dirty="0">
                <a:latin typeface="Times New Roman"/>
                <a:cs typeface="Times New Roman"/>
              </a:rPr>
              <a:t>x</a:t>
            </a:r>
            <a:r>
              <a:rPr sz="2350" spc="75" dirty="0">
                <a:latin typeface="Times New Roman"/>
                <a:cs typeface="Times New Roman"/>
              </a:rPr>
              <a:t>,</a:t>
            </a:r>
            <a:r>
              <a:rPr sz="2350" spc="-60" dirty="0">
                <a:latin typeface="Times New Roman"/>
                <a:cs typeface="Times New Roman"/>
              </a:rPr>
              <a:t> </a:t>
            </a:r>
            <a:r>
              <a:rPr sz="2350" i="1" spc="60" dirty="0">
                <a:latin typeface="Times New Roman"/>
                <a:cs typeface="Times New Roman"/>
              </a:rPr>
              <a:t>y</a:t>
            </a:r>
            <a:r>
              <a:rPr sz="2350" spc="60" dirty="0">
                <a:latin typeface="Times New Roman"/>
                <a:cs typeface="Times New Roman"/>
              </a:rPr>
              <a:t>)</a:t>
            </a:r>
            <a:r>
              <a:rPr sz="2350" spc="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50" dirty="0">
                <a:latin typeface="Times New Roman"/>
                <a:cs typeface="Times New Roman"/>
              </a:rPr>
              <a:t> </a:t>
            </a:r>
            <a:r>
              <a:rPr sz="3525" spc="-75" baseline="15366" dirty="0">
                <a:latin typeface="Symbol"/>
                <a:cs typeface="Symbol"/>
              </a:rPr>
              <a:t></a:t>
            </a:r>
            <a:endParaRPr sz="3525" baseline="15366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21722" y="5575445"/>
            <a:ext cx="14287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-50" dirty="0">
                <a:latin typeface="Symbol"/>
                <a:cs typeface="Symbol"/>
              </a:rPr>
              <a:t>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96322" y="5497417"/>
            <a:ext cx="1518920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525" baseline="36643" dirty="0">
                <a:latin typeface="Symbol"/>
                <a:cs typeface="Symbol"/>
              </a:rPr>
              <a:t></a:t>
            </a:r>
            <a:r>
              <a:rPr sz="3525" spc="-142" baseline="36643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f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spc="65" dirty="0">
                <a:latin typeface="Times New Roman"/>
                <a:cs typeface="Times New Roman"/>
              </a:rPr>
              <a:t>(</a:t>
            </a:r>
            <a:r>
              <a:rPr sz="2350" i="1" spc="65" dirty="0">
                <a:latin typeface="Times New Roman"/>
                <a:cs typeface="Times New Roman"/>
              </a:rPr>
              <a:t>M</a:t>
            </a:r>
            <a:r>
              <a:rPr sz="2350" i="1" spc="200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Symbol"/>
                <a:cs typeface="Symbol"/>
              </a:rPr>
              <a:t></a:t>
            </a:r>
            <a:r>
              <a:rPr sz="2350" spc="-20" dirty="0">
                <a:latin typeface="Times New Roman"/>
                <a:cs typeface="Times New Roman"/>
              </a:rPr>
              <a:t>1,0)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03481" y="5040901"/>
            <a:ext cx="12763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95" dirty="0">
                <a:latin typeface="Microsoft Sans Serif"/>
                <a:cs typeface="Microsoft Sans Serif"/>
              </a:rPr>
              <a:t>⁝</a:t>
            </a:r>
            <a:endParaRPr sz="235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52251" y="5040901"/>
            <a:ext cx="12763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95" dirty="0">
                <a:latin typeface="Microsoft Sans Serif"/>
                <a:cs typeface="Microsoft Sans Serif"/>
              </a:rPr>
              <a:t>⁝</a:t>
            </a:r>
            <a:endParaRPr sz="23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6324" y="1792096"/>
            <a:ext cx="8345170" cy="84899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Wingdings"/>
              <a:buChar char="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also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represented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matrix.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85"/>
              </a:spcBef>
              <a:buFont typeface="Wingdings"/>
              <a:buChar char="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Each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element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matrix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called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image</a:t>
            </a:r>
            <a:r>
              <a:rPr sz="1800" b="1" i="1" spc="-2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element,</a:t>
            </a:r>
            <a:r>
              <a:rPr sz="1800" b="1" i="1" spc="-4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picture</a:t>
            </a:r>
            <a:r>
              <a:rPr sz="1800" b="1" i="1" spc="-2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element,</a:t>
            </a:r>
            <a:r>
              <a:rPr sz="1800" b="1" i="1" spc="-4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pixel,</a:t>
            </a:r>
            <a:r>
              <a:rPr sz="1800" b="1" i="1" spc="-3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or</a:t>
            </a:r>
            <a:r>
              <a:rPr sz="1800" b="1" i="1" spc="5" dirty="0">
                <a:latin typeface="Times New Roman"/>
                <a:cs typeface="Times New Roman"/>
              </a:rPr>
              <a:t> </a:t>
            </a:r>
            <a:r>
              <a:rPr sz="1800" b="1" i="1" spc="-10" dirty="0">
                <a:latin typeface="Times New Roman"/>
                <a:cs typeface="Times New Roman"/>
              </a:rPr>
              <a:t>pels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93741" y="2870454"/>
            <a:ext cx="2734310" cy="923925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Note:</a:t>
            </a:r>
            <a:endParaRPr sz="1800">
              <a:latin typeface="Times New Roman"/>
              <a:cs typeface="Times New Roman"/>
            </a:endParaRPr>
          </a:p>
          <a:p>
            <a:pPr marL="91440" marR="36068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Image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digital</a:t>
            </a:r>
            <a:r>
              <a:rPr sz="1800" b="1" spc="-20" dirty="0">
                <a:latin typeface="Times New Roman"/>
                <a:cs typeface="Times New Roman"/>
              </a:rPr>
              <a:t> image </a:t>
            </a:r>
            <a:r>
              <a:rPr sz="1800" b="1" dirty="0">
                <a:latin typeface="Times New Roman"/>
                <a:cs typeface="Times New Roman"/>
              </a:rPr>
              <a:t>Pixel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its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elements.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Representation</a:t>
            </a:r>
            <a:r>
              <a:rPr spc="-204" dirty="0"/>
              <a:t> </a:t>
            </a:r>
            <a:r>
              <a:rPr dirty="0"/>
              <a:t>of</a:t>
            </a:r>
            <a:r>
              <a:rPr spc="-175" dirty="0"/>
              <a:t> </a:t>
            </a:r>
            <a:r>
              <a:rPr spc="-35" dirty="0"/>
              <a:t>Digital</a:t>
            </a:r>
            <a:r>
              <a:rPr spc="-195" dirty="0"/>
              <a:t> </a:t>
            </a:r>
            <a:r>
              <a:rPr spc="-10" dirty="0"/>
              <a:t>Image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38224" y="1877644"/>
            <a:ext cx="9959340" cy="3989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36550" algn="l"/>
              </a:tabLst>
            </a:pPr>
            <a:r>
              <a:rPr sz="1800" dirty="0">
                <a:latin typeface="Times New Roman"/>
                <a:cs typeface="Times New Roman"/>
              </a:rPr>
              <a:t>However,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due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storage</a:t>
            </a:r>
            <a:r>
              <a:rPr sz="1800" b="1" spc="2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2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quantizing</a:t>
            </a:r>
            <a:r>
              <a:rPr sz="1800" b="1" spc="2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hardware</a:t>
            </a:r>
            <a:r>
              <a:rPr sz="1800" b="1" spc="2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considerations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number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intensity</a:t>
            </a:r>
            <a:r>
              <a:rPr sz="1800" b="1" spc="2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levels</a:t>
            </a:r>
            <a:endParaRPr sz="1800">
              <a:latin typeface="Times New Roman"/>
              <a:cs typeface="Times New Roman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typically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integer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power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2</a:t>
            </a:r>
            <a:r>
              <a:rPr sz="1800" spc="-25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800">
              <a:latin typeface="Times New Roman"/>
              <a:cs typeface="Times New Roman"/>
            </a:endParaRPr>
          </a:p>
          <a:p>
            <a:pPr marR="845819" algn="ctr">
              <a:lnSpc>
                <a:spcPct val="100000"/>
              </a:lnSpc>
              <a:spcBef>
                <a:spcPts val="5"/>
              </a:spcBef>
            </a:pPr>
            <a:r>
              <a:rPr sz="2450" i="1" dirty="0">
                <a:latin typeface="Times New Roman"/>
                <a:cs typeface="Times New Roman"/>
              </a:rPr>
              <a:t>L</a:t>
            </a:r>
            <a:r>
              <a:rPr sz="2450" i="1" spc="-1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Symbol"/>
                <a:cs typeface="Symbol"/>
              </a:rPr>
              <a:t></a:t>
            </a:r>
            <a:r>
              <a:rPr sz="2450" spc="-35" dirty="0">
                <a:latin typeface="Times New Roman"/>
                <a:cs typeface="Times New Roman"/>
              </a:rPr>
              <a:t> </a:t>
            </a:r>
            <a:r>
              <a:rPr sz="2450" spc="20" dirty="0">
                <a:latin typeface="Times New Roman"/>
                <a:cs typeface="Times New Roman"/>
              </a:rPr>
              <a:t>2</a:t>
            </a:r>
            <a:r>
              <a:rPr sz="2100" i="1" spc="30" baseline="43650" dirty="0">
                <a:latin typeface="Times New Roman"/>
                <a:cs typeface="Times New Roman"/>
              </a:rPr>
              <a:t>k</a:t>
            </a:r>
            <a:endParaRPr sz="2100" baseline="43650">
              <a:latin typeface="Times New Roman"/>
              <a:cs typeface="Times New Roman"/>
            </a:endParaRPr>
          </a:p>
          <a:p>
            <a:pPr marL="337185" indent="-286385">
              <a:lnSpc>
                <a:spcPct val="100000"/>
              </a:lnSpc>
              <a:spcBef>
                <a:spcPts val="1705"/>
              </a:spcBef>
              <a:buFont typeface="Wingdings"/>
              <a:buChar char=""/>
              <a:tabLst>
                <a:tab pos="337185" algn="l"/>
              </a:tabLst>
            </a:pPr>
            <a:r>
              <a:rPr sz="1600" dirty="0">
                <a:latin typeface="Times New Roman"/>
                <a:cs typeface="Times New Roman"/>
              </a:rPr>
              <a:t>Interval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[0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L-</a:t>
            </a:r>
            <a:r>
              <a:rPr sz="1600" spc="-25" dirty="0">
                <a:latin typeface="Times New Roman"/>
                <a:cs typeface="Times New Roman"/>
              </a:rPr>
              <a:t>1].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imes New Roman"/>
              <a:cs typeface="Times New Roman"/>
            </a:endParaRPr>
          </a:p>
          <a:p>
            <a:pPr marL="358775" indent="-286385">
              <a:lnSpc>
                <a:spcPct val="100000"/>
              </a:lnSpc>
              <a:buFont typeface="Wingdings"/>
              <a:buChar char=""/>
              <a:tabLst>
                <a:tab pos="358775" algn="l"/>
              </a:tabLst>
            </a:pPr>
            <a:r>
              <a:rPr sz="1600" b="1" dirty="0">
                <a:latin typeface="Times New Roman"/>
                <a:cs typeface="Times New Roman"/>
              </a:rPr>
              <a:t>Dynamic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intensity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range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=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Maximum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measurable intensity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level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minimum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detectable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intensity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level.</a:t>
            </a:r>
            <a:endParaRPr sz="1600">
              <a:latin typeface="Times New Roman"/>
              <a:cs typeface="Times New Roman"/>
            </a:endParaRPr>
          </a:p>
          <a:p>
            <a:pPr marL="358775" marR="26034" indent="-287020">
              <a:lnSpc>
                <a:spcPct val="150000"/>
              </a:lnSpc>
              <a:buFont typeface="Wingdings"/>
              <a:buChar char=""/>
              <a:tabLst>
                <a:tab pos="358775" algn="l"/>
              </a:tabLst>
            </a:pPr>
            <a:r>
              <a:rPr sz="1600" b="1" dirty="0">
                <a:latin typeface="Times New Roman"/>
                <a:cs typeface="Times New Roman"/>
              </a:rPr>
              <a:t>Maximum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measurable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intensity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level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called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i="1" dirty="0">
                <a:latin typeface="Times New Roman"/>
                <a:cs typeface="Times New Roman"/>
              </a:rPr>
              <a:t>saturation,</a:t>
            </a:r>
            <a:r>
              <a:rPr sz="1600" b="1" i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means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intensity level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beyond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10" dirty="0">
                <a:latin typeface="Times New Roman"/>
                <a:cs typeface="Times New Roman"/>
              </a:rPr>
              <a:t> saturation </a:t>
            </a:r>
            <a:r>
              <a:rPr sz="1600" dirty="0">
                <a:latin typeface="Times New Roman"/>
                <a:cs typeface="Times New Roman"/>
              </a:rPr>
              <a:t>level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clipped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off.</a:t>
            </a:r>
            <a:endParaRPr sz="1600">
              <a:latin typeface="Times New Roman"/>
              <a:cs typeface="Times New Roman"/>
            </a:endParaRPr>
          </a:p>
          <a:p>
            <a:pPr marL="358775" marR="22860" indent="-287020">
              <a:lnSpc>
                <a:spcPct val="150000"/>
              </a:lnSpc>
              <a:buFont typeface="Wingdings"/>
              <a:buChar char=""/>
              <a:tabLst>
                <a:tab pos="358775" algn="l"/>
                <a:tab pos="408940" algn="l"/>
              </a:tabLst>
            </a:pP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b="1" i="1" dirty="0">
                <a:latin typeface="Times New Roman"/>
                <a:cs typeface="Times New Roman"/>
              </a:rPr>
              <a:t>M</a:t>
            </a:r>
            <a:r>
              <a:rPr sz="1600" b="1" dirty="0">
                <a:latin typeface="Times New Roman"/>
                <a:cs typeface="Times New Roman"/>
              </a:rPr>
              <a:t>inimum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detectable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intensity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level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called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noise,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means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intensity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level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below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noise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level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not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true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intensity </a:t>
            </a:r>
            <a:r>
              <a:rPr sz="1600" spc="-10" dirty="0">
                <a:latin typeface="Times New Roman"/>
                <a:cs typeface="Times New Roman"/>
              </a:rPr>
              <a:t>value.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Representation</a:t>
            </a:r>
            <a:r>
              <a:rPr spc="-204" dirty="0"/>
              <a:t> </a:t>
            </a:r>
            <a:r>
              <a:rPr dirty="0"/>
              <a:t>of</a:t>
            </a:r>
            <a:r>
              <a:rPr spc="-175" dirty="0"/>
              <a:t> </a:t>
            </a:r>
            <a:r>
              <a:rPr spc="-35" dirty="0"/>
              <a:t>Digital</a:t>
            </a:r>
            <a:r>
              <a:rPr spc="-195" dirty="0"/>
              <a:t> </a:t>
            </a:r>
            <a:r>
              <a:rPr spc="-10" dirty="0"/>
              <a:t>Image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35632"/>
            <a:ext cx="4965700" cy="3759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715" indent="-94615" algn="just">
              <a:lnSpc>
                <a:spcPct val="150000"/>
              </a:lnSpc>
              <a:spcBef>
                <a:spcPts val="100"/>
              </a:spcBef>
              <a:buClr>
                <a:srgbClr val="E38312"/>
              </a:buClr>
              <a:buSzPct val="92857"/>
              <a:buFont typeface="Wingdings"/>
              <a:buChar char=""/>
              <a:tabLst>
                <a:tab pos="104139" algn="l"/>
                <a:tab pos="170180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	Sometimes,</a:t>
            </a:r>
            <a:r>
              <a:rPr sz="1400" spc="3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3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range</a:t>
            </a:r>
            <a:r>
              <a:rPr sz="1400" spc="3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spc="3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values</a:t>
            </a:r>
            <a:r>
              <a:rPr sz="14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spanned</a:t>
            </a:r>
            <a:r>
              <a:rPr sz="1400" spc="3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1400" spc="3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3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gray</a:t>
            </a:r>
            <a:r>
              <a:rPr sz="1400" spc="3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scale</a:t>
            </a:r>
            <a:r>
              <a:rPr sz="14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referred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informally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dynamic</a:t>
            </a:r>
            <a:r>
              <a:rPr sz="1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range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  <a:p>
            <a:pPr marL="104139" marR="5715" indent="-92075" algn="just">
              <a:lnSpc>
                <a:spcPct val="150100"/>
              </a:lnSpc>
              <a:spcBef>
                <a:spcPts val="1390"/>
              </a:spcBef>
              <a:buClr>
                <a:srgbClr val="E38312"/>
              </a:buClr>
              <a:buSzPct val="92857"/>
              <a:buFont typeface="Wingdings"/>
              <a:buChar char=""/>
              <a:tabLst>
                <a:tab pos="104139" algn="l"/>
                <a:tab pos="211454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	We</a:t>
            </a:r>
            <a:r>
              <a:rPr sz="14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define</a:t>
            </a:r>
            <a:r>
              <a:rPr sz="1400" b="1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dynamic</a:t>
            </a:r>
            <a:r>
              <a:rPr sz="1400" b="1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range</a:t>
            </a:r>
            <a:r>
              <a:rPr sz="1400" b="1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b="1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400" b="1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imaging</a:t>
            </a:r>
            <a:r>
              <a:rPr sz="1400" b="1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1400" b="1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400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1400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ratio</a:t>
            </a:r>
            <a:r>
              <a:rPr sz="1400" spc="10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400" spc="1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114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maximum</a:t>
            </a:r>
            <a:r>
              <a:rPr sz="1400" spc="1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measurable</a:t>
            </a:r>
            <a:r>
              <a:rPr sz="1400" spc="114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1400" spc="1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400" spc="1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114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minimum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detectable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level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system.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  <a:buClr>
                <a:srgbClr val="E38312"/>
              </a:buClr>
              <a:buFont typeface="Wingdings"/>
              <a:buChar char=""/>
            </a:pPr>
            <a:endParaRPr sz="1400" dirty="0">
              <a:latin typeface="Times New Roman"/>
              <a:cs typeface="Times New Roman"/>
            </a:endParaRPr>
          </a:p>
          <a:p>
            <a:pPr marL="170815" indent="-160655" algn="just">
              <a:lnSpc>
                <a:spcPct val="100000"/>
              </a:lnSpc>
              <a:buClr>
                <a:srgbClr val="E38312"/>
              </a:buClr>
              <a:buSzPct val="92857"/>
              <a:buFont typeface="Wingdings"/>
              <a:buChar char=""/>
              <a:tabLst>
                <a:tab pos="170815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4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400" spc="2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rule,</a:t>
            </a:r>
            <a:r>
              <a:rPr sz="14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upper</a:t>
            </a:r>
            <a:r>
              <a:rPr sz="14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limit</a:t>
            </a:r>
            <a:r>
              <a:rPr sz="1400" spc="2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400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determined</a:t>
            </a:r>
            <a:r>
              <a:rPr sz="1400" spc="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1400" spc="2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saturation</a:t>
            </a:r>
            <a:r>
              <a:rPr sz="1400" b="1" i="1" spc="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400" spc="2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endParaRPr sz="1400" dirty="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lower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limit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noise.</a:t>
            </a:r>
            <a:endParaRPr sz="1400" dirty="0">
              <a:latin typeface="Times New Roman"/>
              <a:cs typeface="Times New Roman"/>
            </a:endParaRPr>
          </a:p>
          <a:p>
            <a:pPr marL="104139" marR="6350" indent="-94615" algn="just">
              <a:lnSpc>
                <a:spcPct val="150000"/>
              </a:lnSpc>
              <a:spcBef>
                <a:spcPts val="1410"/>
              </a:spcBef>
              <a:buClr>
                <a:srgbClr val="E38312"/>
              </a:buClr>
              <a:buSzPct val="92857"/>
              <a:buFont typeface="Wingdings"/>
              <a:buChar char=""/>
              <a:tabLst>
                <a:tab pos="104139" algn="l"/>
                <a:tab pos="170180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	Closely</a:t>
            </a:r>
            <a:r>
              <a:rPr sz="14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associated</a:t>
            </a:r>
            <a:r>
              <a:rPr sz="14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400" spc="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1400" spc="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concept</a:t>
            </a:r>
            <a:r>
              <a:rPr sz="14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4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4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contrast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1400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sz="1400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we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define</a:t>
            </a:r>
            <a:r>
              <a:rPr sz="14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400" spc="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difference</a:t>
            </a:r>
            <a:r>
              <a:rPr sz="14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400" spc="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1400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between</a:t>
            </a:r>
            <a:r>
              <a:rPr sz="14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highest</a:t>
            </a:r>
            <a:r>
              <a:rPr sz="14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4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lowest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1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levels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6455" y="1789176"/>
            <a:ext cx="4874964" cy="37901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11769" y="5760211"/>
            <a:ext cx="2015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Figure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10: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Saturation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Noise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Representation</a:t>
            </a:r>
            <a:r>
              <a:rPr spc="-204" dirty="0"/>
              <a:t> </a:t>
            </a:r>
            <a:r>
              <a:rPr dirty="0"/>
              <a:t>of</a:t>
            </a:r>
            <a:r>
              <a:rPr spc="-175" dirty="0"/>
              <a:t> </a:t>
            </a:r>
            <a:r>
              <a:rPr spc="-35" dirty="0"/>
              <a:t>Digital</a:t>
            </a:r>
            <a:r>
              <a:rPr spc="-195" dirty="0"/>
              <a:t> </a:t>
            </a:r>
            <a:r>
              <a:rPr spc="-10" dirty="0"/>
              <a:t>Image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dirty="0"/>
              <a:t>When</a:t>
            </a:r>
            <a:r>
              <a:rPr spc="70" dirty="0"/>
              <a:t> </a:t>
            </a:r>
            <a:r>
              <a:rPr dirty="0"/>
              <a:t>an</a:t>
            </a:r>
            <a:r>
              <a:rPr spc="65" dirty="0"/>
              <a:t> </a:t>
            </a:r>
            <a:r>
              <a:rPr dirty="0"/>
              <a:t>appreciable</a:t>
            </a:r>
            <a:r>
              <a:rPr spc="50" dirty="0"/>
              <a:t> </a:t>
            </a:r>
            <a:r>
              <a:rPr dirty="0"/>
              <a:t>number</a:t>
            </a:r>
            <a:r>
              <a:rPr spc="55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pixels</a:t>
            </a:r>
            <a:r>
              <a:rPr spc="60" dirty="0"/>
              <a:t> </a:t>
            </a:r>
            <a:r>
              <a:rPr dirty="0"/>
              <a:t>in</a:t>
            </a:r>
            <a:r>
              <a:rPr spc="65" dirty="0"/>
              <a:t> </a:t>
            </a:r>
            <a:r>
              <a:rPr dirty="0"/>
              <a:t>an</a:t>
            </a:r>
            <a:r>
              <a:rPr spc="55" dirty="0"/>
              <a:t> </a:t>
            </a:r>
            <a:r>
              <a:rPr dirty="0"/>
              <a:t>image</a:t>
            </a:r>
            <a:r>
              <a:rPr spc="60" dirty="0"/>
              <a:t> </a:t>
            </a:r>
            <a:r>
              <a:rPr dirty="0"/>
              <a:t>have</a:t>
            </a:r>
            <a:r>
              <a:rPr spc="60" dirty="0"/>
              <a:t> </a:t>
            </a:r>
            <a:r>
              <a:rPr dirty="0"/>
              <a:t>a</a:t>
            </a:r>
            <a:r>
              <a:rPr spc="50" dirty="0"/>
              <a:t> </a:t>
            </a:r>
            <a:r>
              <a:rPr b="1" dirty="0">
                <a:latin typeface="Times New Roman"/>
                <a:cs typeface="Times New Roman"/>
              </a:rPr>
              <a:t>high</a:t>
            </a:r>
            <a:r>
              <a:rPr b="1" spc="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dynamic</a:t>
            </a:r>
            <a:r>
              <a:rPr b="1" spc="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range,</a:t>
            </a:r>
            <a:r>
              <a:rPr b="1" spc="60" dirty="0">
                <a:latin typeface="Times New Roman"/>
                <a:cs typeface="Times New Roman"/>
              </a:rPr>
              <a:t> </a:t>
            </a:r>
            <a:r>
              <a:rPr dirty="0"/>
              <a:t>we</a:t>
            </a:r>
            <a:r>
              <a:rPr spc="60" dirty="0"/>
              <a:t> </a:t>
            </a:r>
            <a:r>
              <a:rPr dirty="0"/>
              <a:t>can</a:t>
            </a:r>
            <a:r>
              <a:rPr spc="55" dirty="0"/>
              <a:t> </a:t>
            </a:r>
            <a:r>
              <a:rPr spc="-10" dirty="0"/>
              <a:t>expect</a:t>
            </a:r>
          </a:p>
          <a:p>
            <a:pPr marL="104139">
              <a:lnSpc>
                <a:spcPct val="100000"/>
              </a:lnSpc>
              <a:spcBef>
                <a:spcPts val="120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image</a:t>
            </a:r>
            <a:r>
              <a:rPr spc="-1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b="1" dirty="0">
                <a:latin typeface="Times New Roman"/>
                <a:cs typeface="Times New Roman"/>
              </a:rPr>
              <a:t>have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high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contrast</a:t>
            </a:r>
            <a:r>
              <a:rPr spc="-10" dirty="0"/>
              <a:t>.</a:t>
            </a: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pc="-10" dirty="0"/>
          </a:p>
          <a:p>
            <a:pPr marL="239395" indent="-227329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pc="-10" dirty="0"/>
              <a:t>Conversely,</a:t>
            </a:r>
            <a:r>
              <a:rPr spc="-30" dirty="0"/>
              <a:t> </a:t>
            </a:r>
            <a:r>
              <a:rPr dirty="0"/>
              <a:t>an</a:t>
            </a:r>
            <a:r>
              <a:rPr spc="-10" dirty="0"/>
              <a:t> </a:t>
            </a:r>
            <a:r>
              <a:rPr dirty="0"/>
              <a:t>image</a:t>
            </a:r>
            <a:r>
              <a:rPr spc="1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b="1" dirty="0">
                <a:latin typeface="Times New Roman"/>
                <a:cs typeface="Times New Roman"/>
              </a:rPr>
              <a:t>low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dynamic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range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dirty="0"/>
              <a:t>typically</a:t>
            </a:r>
            <a:r>
              <a:rPr spc="-25" dirty="0"/>
              <a:t> </a:t>
            </a:r>
            <a:r>
              <a:rPr dirty="0"/>
              <a:t>has</a:t>
            </a:r>
            <a:r>
              <a:rPr spc="-2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b="1" dirty="0">
                <a:latin typeface="Times New Roman"/>
                <a:cs typeface="Times New Roman"/>
              </a:rPr>
              <a:t>dull,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washed-</a:t>
            </a:r>
            <a:r>
              <a:rPr b="1" dirty="0">
                <a:latin typeface="Times New Roman"/>
                <a:cs typeface="Times New Roman"/>
              </a:rPr>
              <a:t>out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gray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look</a:t>
            </a:r>
            <a:r>
              <a:rPr spc="-10"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9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12188952" y="64007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34814" y="2521711"/>
            <a:ext cx="28098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000000"/>
                </a:solidFill>
              </a:rPr>
              <a:t>Thank</a:t>
            </a:r>
            <a:r>
              <a:rPr sz="4000" spc="-240" dirty="0">
                <a:solidFill>
                  <a:srgbClr val="000000"/>
                </a:solidFill>
              </a:rPr>
              <a:t> </a:t>
            </a:r>
            <a:r>
              <a:rPr sz="4000" spc="-110" dirty="0">
                <a:solidFill>
                  <a:srgbClr val="000000"/>
                </a:solidFill>
              </a:rPr>
              <a:t>You</a:t>
            </a:r>
            <a:r>
              <a:rPr sz="4000" spc="-95" dirty="0">
                <a:solidFill>
                  <a:srgbClr val="000000"/>
                </a:solidFill>
              </a:rPr>
              <a:t> </a:t>
            </a:r>
            <a:r>
              <a:rPr sz="4000" spc="-50" dirty="0">
                <a:solidFill>
                  <a:srgbClr val="000000"/>
                </a:solidFill>
                <a:latin typeface="Wingdings"/>
                <a:cs typeface="Wingdings"/>
              </a:rPr>
              <a:t></a:t>
            </a:r>
            <a:endParaRPr sz="400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Friday,</a:t>
            </a:r>
            <a:r>
              <a:rPr spc="-2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dirty="0"/>
              <a:t>October,</a:t>
            </a:r>
            <a:r>
              <a:rPr spc="-30" dirty="0"/>
              <a:t> 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SAMPLING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QUANTIZATION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1348</Words>
  <Application>Microsoft Office PowerPoint</Application>
  <PresentationFormat>Widescreen</PresentationFormat>
  <Paragraphs>176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Microsoft Sans Serif</vt:lpstr>
      <vt:lpstr>Symbol</vt:lpstr>
      <vt:lpstr>Times New Roman</vt:lpstr>
      <vt:lpstr>Wingdings</vt:lpstr>
      <vt:lpstr>Office Theme</vt:lpstr>
      <vt:lpstr>PowerPoint Presentation</vt:lpstr>
      <vt:lpstr>Sampling and Quantization</vt:lpstr>
      <vt:lpstr>Sampling and Quantization</vt:lpstr>
      <vt:lpstr>Sampling and Quantization</vt:lpstr>
      <vt:lpstr>Sampling and Quantization</vt:lpstr>
      <vt:lpstr>Sampling and Quantization</vt:lpstr>
      <vt:lpstr>Sampling and Quantization</vt:lpstr>
      <vt:lpstr>Sampling and Quantization</vt:lpstr>
      <vt:lpstr>Sampling and Quantization</vt:lpstr>
      <vt:lpstr>Representation of Digital Image</vt:lpstr>
      <vt:lpstr>Representation of Digital Image</vt:lpstr>
      <vt:lpstr>Representation of Digital Image</vt:lpstr>
      <vt:lpstr>Representation of Digital Image</vt:lpstr>
      <vt:lpstr>Representation of Digital Image</vt:lpstr>
      <vt:lpstr>Representation of Digital Image</vt:lpstr>
      <vt:lpstr>Representation of Digital Image</vt:lpstr>
      <vt:lpstr>Representation of Digital Image</vt:lpstr>
      <vt:lpstr>Representation of Digital Image</vt:lpstr>
      <vt:lpstr>Thank You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 Office</dc:creator>
  <cp:lastModifiedBy>Md Manirujjaman</cp:lastModifiedBy>
  <cp:revision>1</cp:revision>
  <dcterms:created xsi:type="dcterms:W3CDTF">2025-09-04T01:18:48Z</dcterms:created>
  <dcterms:modified xsi:type="dcterms:W3CDTF">2026-01-30T00:24:47Z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2025-09-04T00:00:00Z</vt:filetime>
  </property>
  <property fmtid="{D5CDD505-2E9C-101B-9397-08002B2CF9AE}" pid="5" name="Producer">
    <vt:lpwstr>Microsoft® PowerPoint® 2016</vt:lpwstr>
  </property>
</Properties>
</file>