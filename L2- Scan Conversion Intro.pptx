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25"/>
  </p:notesMasterIdLst>
  <p:handoutMasterIdLst>
    <p:handoutMasterId r:id="rId26"/>
  </p:handoutMasterIdLst>
  <p:sldIdLst>
    <p:sldId id="256" r:id="rId2"/>
    <p:sldId id="278" r:id="rId3"/>
    <p:sldId id="309" r:id="rId4"/>
    <p:sldId id="313" r:id="rId5"/>
    <p:sldId id="312" r:id="rId6"/>
    <p:sldId id="314" r:id="rId7"/>
    <p:sldId id="325" r:id="rId8"/>
    <p:sldId id="317" r:id="rId9"/>
    <p:sldId id="315" r:id="rId10"/>
    <p:sldId id="316" r:id="rId11"/>
    <p:sldId id="318" r:id="rId12"/>
    <p:sldId id="319" r:id="rId13"/>
    <p:sldId id="320" r:id="rId14"/>
    <p:sldId id="326" r:id="rId15"/>
    <p:sldId id="321" r:id="rId16"/>
    <p:sldId id="327" r:id="rId17"/>
    <p:sldId id="322" r:id="rId18"/>
    <p:sldId id="328" r:id="rId19"/>
    <p:sldId id="329" r:id="rId20"/>
    <p:sldId id="323" r:id="rId21"/>
    <p:sldId id="330" r:id="rId22"/>
    <p:sldId id="331" r:id="rId23"/>
    <p:sldId id="324" r:id="rId24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CCFF"/>
    <a:srgbClr val="FF99FF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4"/>
  </p:normalViewPr>
  <p:slideViewPr>
    <p:cSldViewPr>
      <p:cViewPr varScale="1">
        <p:scale>
          <a:sx n="78" d="100"/>
          <a:sy n="78" d="100"/>
        </p:scale>
        <p:origin x="16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8A4254F-114E-4D7C-857E-125E244F1738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98AC97CA-6715-46E3-B9D4-CF0DCEED29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146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fld id="{C498086B-065C-4A20-84D1-4E09CD00F6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269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35E9-4E1C-4115-A8DB-EE91D9D867B3}" type="datetime5">
              <a:rPr lang="en-US" smtClean="0"/>
              <a:t>17-Jan-26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9B9E638-CC4A-49E2-9DFC-BF8EAFDB1B2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735A3-5810-4D08-A953-AFE432377BCF}" type="datetime5">
              <a:rPr lang="en-US" smtClean="0"/>
              <a:t>17-Jan-26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DE6E8FC1-9A27-46F0-BBDE-1A86A3068D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DD89-2064-4376-887F-C5F148789F33}" type="datetime5">
              <a:rPr lang="en-US" smtClean="0"/>
              <a:t>17-Jan-26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CB97960-7917-4F99-B552-84E5718752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4C640C3-CA5A-414D-8DC7-0BF8FA61D7FD}" type="datetime5">
              <a:rPr lang="en-US" smtClean="0"/>
              <a:t>17-Jan-26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634D6-FFFF-4981-BC31-B464C511B50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05B4-5F55-4709-A42B-033DC8A63446}" type="datetime5">
              <a:rPr lang="en-US" smtClean="0"/>
              <a:t>17-Jan-26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r>
              <a:rPr lang="en-US"/>
              <a:t>Scan Conversion</a:t>
            </a: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3A648F79-F459-4798-B04A-DE74147A17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18D47-6D51-4441-8A9F-ED547EED0054}" type="datetime5">
              <a:rPr lang="en-US" smtClean="0"/>
              <a:t>17-Jan-26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D597791F-7039-42EA-BC67-9D54FB9703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6B0D0-00C6-4C39-8160-7C3C83D2B70B}" type="datetime5">
              <a:rPr lang="en-US" smtClean="0"/>
              <a:t>17-Jan-26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CDE0BA5-D5B2-424C-91A7-107B6EDDC1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F53FA398-8F2D-4EA6-B0A9-5AC7DB138B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4D397-0D28-40A5-BADA-12352FE26B8A}" type="datetime5">
              <a:rPr lang="en-US" smtClean="0"/>
              <a:t>17-Jan-26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r>
              <a:rPr lang="en-US"/>
              <a:t>Scan Conversion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84E1E130-83E8-475D-B2C9-4A61C3785D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AB1D6617-3D91-4A5D-9999-17502354CE74}" type="datetime5">
              <a:rPr lang="en-US" smtClean="0"/>
              <a:t>17-Jan-26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r>
              <a:rPr lang="en-US"/>
              <a:t>Scan Conversion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7689-FC80-403C-B101-DEF1F694A52B}" type="datetime5">
              <a:rPr lang="en-US" smtClean="0"/>
              <a:t>17-Jan-26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D782F-C8FD-4F3C-8946-BE8CC47BCC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9FC10E34-30C0-4C51-B893-5766F60D5D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A78D-8E1F-489D-84CA-85DD97762AA3}" type="datetime5">
              <a:rPr lang="en-US" smtClean="0"/>
              <a:t>17-Jan-26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591C1EB4-B781-44D2-861F-285BC12FA773}" type="datetime5">
              <a:rPr lang="en-US" smtClean="0"/>
              <a:t>17-Jan-26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Scan Conversion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48C862E-E6FE-494F-A3A2-1E972E009E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7B0FF0-FB6E-C414-763C-3BA3AFFBFEF7}"/>
              </a:ext>
            </a:extLst>
          </p:cNvPr>
          <p:cNvSpPr txBox="1"/>
          <p:nvPr/>
        </p:nvSpPr>
        <p:spPr>
          <a:xfrm>
            <a:off x="2057400" y="591214"/>
            <a:ext cx="5679760" cy="854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950" dirty="0">
                <a:solidFill>
                  <a:srgbClr val="7B999A"/>
                </a:solidFill>
                <a:latin typeface="+mj-lt"/>
                <a:ea typeface="+mj-ea"/>
                <a:cs typeface="+mj-cs"/>
              </a:rPr>
              <a:t>Computer Graphics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A2A28-DECF-A05C-06CC-5C29819205AD}"/>
              </a:ext>
            </a:extLst>
          </p:cNvPr>
          <p:cNvSpPr txBox="1"/>
          <p:nvPr/>
        </p:nvSpPr>
        <p:spPr>
          <a:xfrm>
            <a:off x="2286000" y="329234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F24975-BF9A-9083-4D20-5121A27B46A7}"/>
              </a:ext>
            </a:extLst>
          </p:cNvPr>
          <p:cNvSpPr txBox="1"/>
          <p:nvPr/>
        </p:nvSpPr>
        <p:spPr>
          <a:xfrm>
            <a:off x="3477120" y="1340435"/>
            <a:ext cx="27037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Calibri Light (Headings)"/>
              </a:rPr>
              <a:t>Scan Conversion</a:t>
            </a:r>
            <a:endParaRPr lang="en-US" dirty="0">
              <a:latin typeface="Calibri Light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A7B759-D7F3-F2CD-4C17-D440E9BD04D9}"/>
              </a:ext>
            </a:extLst>
          </p:cNvPr>
          <p:cNvSpPr txBox="1"/>
          <p:nvPr/>
        </p:nvSpPr>
        <p:spPr>
          <a:xfrm>
            <a:off x="4191000" y="2643654"/>
            <a:ext cx="4737772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Calibri Light (Headings)"/>
              </a:rPr>
              <a:t>Lecture By:</a:t>
            </a:r>
          </a:p>
          <a:p>
            <a:r>
              <a:rPr lang="en-US" sz="2100" dirty="0">
                <a:latin typeface="Calibri Light (Headings)"/>
              </a:rPr>
              <a:t>Md. Manirujjaman</a:t>
            </a:r>
          </a:p>
          <a:p>
            <a:r>
              <a:rPr lang="en-US" sz="2100" dirty="0">
                <a:latin typeface="Calibri Light (Headings)"/>
              </a:rPr>
              <a:t>Lecturer</a:t>
            </a:r>
          </a:p>
          <a:p>
            <a:r>
              <a:rPr lang="en-US" sz="2100" dirty="0">
                <a:latin typeface="Calibri Light (Headings)"/>
              </a:rPr>
              <a:t>Dept. of CSE, DIU</a:t>
            </a:r>
          </a:p>
          <a:p>
            <a:r>
              <a:rPr lang="en-US" sz="2100" dirty="0">
                <a:latin typeface="Calibri Light (Headings)"/>
              </a:rPr>
              <a:t>Contact: 01772430221</a:t>
            </a:r>
          </a:p>
          <a:p>
            <a:r>
              <a:rPr lang="en-US" sz="2100" dirty="0">
                <a:latin typeface="Calibri Light (Headings)"/>
              </a:rPr>
              <a:t>Mail: manirujjaman25803690@gmail.com</a:t>
            </a:r>
          </a:p>
          <a:p>
            <a:r>
              <a:rPr lang="en-US" sz="3000" dirty="0">
                <a:latin typeface="Calibri Light (Headings)"/>
              </a:rPr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9DE606-DA37-A3FA-256D-7BC55E19A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61" y="2529076"/>
            <a:ext cx="3056678" cy="1895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AD9830-F312-683A-76DB-40ED4AC88910}"/>
              </a:ext>
            </a:extLst>
          </p:cNvPr>
          <p:cNvSpPr txBox="1"/>
          <p:nvPr/>
        </p:nvSpPr>
        <p:spPr>
          <a:xfrm>
            <a:off x="427704" y="5113953"/>
            <a:ext cx="65128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Calibri Light (Headings)"/>
              </a:rPr>
              <a:t>Text Book Reference:</a:t>
            </a:r>
          </a:p>
          <a:p>
            <a:r>
              <a:rPr lang="en-US" sz="1500" b="1" dirty="0">
                <a:latin typeface="Calibri Light (Headings)"/>
              </a:rPr>
              <a:t>Computer Graphics 2nd Edition, Zhigang Xiang and Roy </a:t>
            </a:r>
            <a:r>
              <a:rPr lang="en-US" sz="1500" b="1" dirty="0" err="1">
                <a:latin typeface="Calibri Light (Headings)"/>
              </a:rPr>
              <a:t>Plastock</a:t>
            </a:r>
            <a:r>
              <a:rPr lang="en-US" sz="1500" b="1" dirty="0">
                <a:latin typeface="Calibri Light (Headings)"/>
              </a:rPr>
              <a:t> (2004) (chapter -03)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30E0D5-B445-F7C6-DB19-0EF978C155E5}"/>
              </a:ext>
            </a:extLst>
          </p:cNvPr>
          <p:cNvSpPr txBox="1"/>
          <p:nvPr/>
        </p:nvSpPr>
        <p:spPr>
          <a:xfrm>
            <a:off x="6468680" y="5807734"/>
            <a:ext cx="27137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Slide originally created by Shuvo Sir (KUET CSE) . Modified by Md. Manirujjaman</a:t>
            </a:r>
          </a:p>
        </p:txBody>
      </p:sp>
    </p:spTree>
    <p:extLst>
      <p:ext uri="{BB962C8B-B14F-4D97-AF65-F5344CB8AC3E}">
        <p14:creationId xmlns:p14="http://schemas.microsoft.com/office/powerpoint/2010/main" val="1572934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Output Primitives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Basic </a:t>
            </a:r>
            <a:r>
              <a:rPr lang="en-US" sz="2400" dirty="0">
                <a:solidFill>
                  <a:srgbClr val="FF0000"/>
                </a:solidFill>
              </a:rPr>
              <a:t>geometric structures </a:t>
            </a:r>
            <a:r>
              <a:rPr lang="en-US" sz="2400" dirty="0"/>
              <a:t>used to describe scenes.</a:t>
            </a:r>
          </a:p>
          <a:p>
            <a:r>
              <a:rPr lang="en-US" sz="2400" dirty="0"/>
              <a:t>Can be </a:t>
            </a:r>
            <a:r>
              <a:rPr lang="en-US" sz="2400" dirty="0">
                <a:solidFill>
                  <a:srgbClr val="FF0000"/>
                </a:solidFill>
              </a:rPr>
              <a:t>grouped</a:t>
            </a:r>
            <a:r>
              <a:rPr lang="en-US" sz="2400" dirty="0"/>
              <a:t> into more complex structures.</a:t>
            </a:r>
          </a:p>
          <a:p>
            <a:r>
              <a:rPr lang="en-US" sz="2400" dirty="0"/>
              <a:t>Each one is specified with input coordinate data and other information about the way that object is to be displayed.</a:t>
            </a:r>
          </a:p>
          <a:p>
            <a:r>
              <a:rPr lang="en-US" sz="2400" dirty="0"/>
              <a:t>Examples: </a:t>
            </a:r>
            <a:r>
              <a:rPr lang="en-US" sz="2400" dirty="0">
                <a:solidFill>
                  <a:srgbClr val="FF0000"/>
                </a:solidFill>
              </a:rPr>
              <a:t>point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line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FF0000"/>
                </a:solidFill>
              </a:rPr>
              <a:t>circle</a:t>
            </a:r>
            <a:r>
              <a:rPr lang="en-US" sz="2400" dirty="0"/>
              <a:t> each one with specified coordinates.</a:t>
            </a:r>
          </a:p>
          <a:p>
            <a:r>
              <a:rPr lang="en-US" sz="2400" dirty="0"/>
              <a:t>Construct the vector picture.</a:t>
            </a:r>
            <a:endParaRPr lang="en-US" sz="2800" dirty="0">
              <a:solidFill>
                <a:srgbClr val="646C86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36CE6-3D5E-49DE-A523-BC0A3852F893}" type="datetime5">
              <a:rPr lang="en-US" smtClean="0"/>
              <a:t>17-Jan-26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8FC1-9A27-46F0-BBDE-1A86A3068DF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</p:spTree>
    <p:extLst>
      <p:ext uri="{BB962C8B-B14F-4D97-AF65-F5344CB8AC3E}">
        <p14:creationId xmlns:p14="http://schemas.microsoft.com/office/powerpoint/2010/main" val="221640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Digital Representation</a:t>
            </a:r>
            <a:endParaRPr lang="en-US" sz="3600" b="1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5718048" cy="4572000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Display screen is </a:t>
            </a:r>
            <a:r>
              <a:rPr lang="en-US" sz="2400" dirty="0">
                <a:solidFill>
                  <a:srgbClr val="FF0000"/>
                </a:solidFill>
              </a:rPr>
              <a:t>divided</a:t>
            </a:r>
            <a:r>
              <a:rPr lang="en-US" sz="2400" dirty="0"/>
              <a:t> into </a:t>
            </a:r>
            <a:r>
              <a:rPr lang="en-US" sz="2400" dirty="0">
                <a:solidFill>
                  <a:srgbClr val="FF0000"/>
                </a:solidFill>
              </a:rPr>
              <a:t>scan lines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FF0000"/>
                </a:solidFill>
              </a:rPr>
              <a:t>columns</a:t>
            </a:r>
            <a:r>
              <a:rPr lang="en-US" sz="2400" dirty="0"/>
              <a:t>.</a:t>
            </a:r>
          </a:p>
          <a:p>
            <a:r>
              <a:rPr lang="en-US" sz="2400" dirty="0"/>
              <a:t>Pixels positions are referenced according to scan line number and column number (columns across scan lines).</a:t>
            </a:r>
          </a:p>
          <a:p>
            <a:pPr lvl="1"/>
            <a:r>
              <a:rPr lang="en-US" sz="2400" dirty="0"/>
              <a:t>Scan lines start from 0 at screen bottom, and columns start from 0 at the screen left side.</a:t>
            </a:r>
          </a:p>
          <a:p>
            <a:r>
              <a:rPr lang="en-US" sz="2400" dirty="0"/>
              <a:t>Screen locations (or pixels) are referenced with </a:t>
            </a:r>
            <a:r>
              <a:rPr lang="en-US" sz="2400" dirty="0">
                <a:solidFill>
                  <a:srgbClr val="FF0000"/>
                </a:solidFill>
              </a:rPr>
              <a:t>integer values</a:t>
            </a:r>
            <a:r>
              <a:rPr lang="en-US" sz="2400" dirty="0"/>
              <a:t>.</a:t>
            </a:r>
          </a:p>
          <a:p>
            <a:r>
              <a:rPr lang="en-US" sz="2400" dirty="0"/>
              <a:t>The frame buffer stores the intensities temporarily.</a:t>
            </a:r>
          </a:p>
          <a:p>
            <a:r>
              <a:rPr lang="en-US" sz="2400" dirty="0"/>
              <a:t>Video controller reads from the frame buffer and plots the screen pixels.</a:t>
            </a:r>
            <a:endParaRPr lang="en-US" sz="2400" dirty="0">
              <a:solidFill>
                <a:srgbClr val="646C86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DDE9-E6FA-46D3-8BD0-344E0C3D6D88}" type="datetime5">
              <a:rPr lang="en-US" smtClean="0"/>
              <a:t>17-Jan-26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8FC1-9A27-46F0-BBDE-1A86A3068DF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1C5F7D-3216-CA4E-1022-10EDF732F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1" y="2133600"/>
            <a:ext cx="2816352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54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Digital Representation(cont.)</a:t>
            </a:r>
            <a:endParaRPr lang="en-US" sz="3600" b="1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E" sz="2400" dirty="0"/>
              <a:t>A </a:t>
            </a:r>
            <a:r>
              <a:rPr lang="en-IE" sz="2400" dirty="0">
                <a:solidFill>
                  <a:srgbClr val="FF0000"/>
                </a:solidFill>
              </a:rPr>
              <a:t>line segment </a:t>
            </a:r>
            <a:r>
              <a:rPr lang="en-IE" sz="2400" dirty="0"/>
              <a:t>in a scene is defined by the coordinate positions of the line end-points.</a:t>
            </a:r>
            <a:endParaRPr lang="en-US" sz="2400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5A0EF-5A42-49E9-9547-EBFBC83234CD}" type="datetime5">
              <a:rPr lang="en-US" smtClean="0"/>
              <a:t>17-Jan-26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8FC1-9A27-46F0-BBDE-1A86A3068DF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grpSp>
        <p:nvGrpSpPr>
          <p:cNvPr id="16" name="Group 9"/>
          <p:cNvGrpSpPr>
            <a:grpSpLocks/>
          </p:cNvGrpSpPr>
          <p:nvPr/>
        </p:nvGrpSpPr>
        <p:grpSpPr bwMode="auto">
          <a:xfrm>
            <a:off x="2601913" y="2676525"/>
            <a:ext cx="3605212" cy="3503613"/>
            <a:chOff x="1499" y="1666"/>
            <a:chExt cx="2271" cy="2207"/>
          </a:xfrm>
        </p:grpSpPr>
        <p:sp>
          <p:nvSpPr>
            <p:cNvPr id="17" name="Line 5"/>
            <p:cNvSpPr>
              <a:spLocks noChangeShapeType="1"/>
            </p:cNvSpPr>
            <p:nvPr/>
          </p:nvSpPr>
          <p:spPr bwMode="auto">
            <a:xfrm flipV="1">
              <a:off x="1727" y="1727"/>
              <a:ext cx="0" cy="20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" name="Line 6"/>
            <p:cNvSpPr>
              <a:spLocks noChangeShapeType="1"/>
            </p:cNvSpPr>
            <p:nvPr/>
          </p:nvSpPr>
          <p:spPr bwMode="auto">
            <a:xfrm rot="5400000" flipV="1">
              <a:off x="2670" y="2660"/>
              <a:ext cx="0" cy="20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" name="Text Box 7"/>
            <p:cNvSpPr txBox="1">
              <a:spLocks noChangeArrowheads="1"/>
            </p:cNvSpPr>
            <p:nvPr/>
          </p:nvSpPr>
          <p:spPr bwMode="auto">
            <a:xfrm>
              <a:off x="3590" y="3642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IE" i="1">
                  <a:latin typeface="Times New Roman" pitchFamily="18" charset="0"/>
                </a:rPr>
                <a:t>x</a:t>
              </a:r>
              <a:endParaRPr lang="en-US" i="1">
                <a:latin typeface="Times New Roman" pitchFamily="18" charset="0"/>
              </a:endParaRPr>
            </a:p>
          </p:txBody>
        </p:sp>
        <p:sp>
          <p:nvSpPr>
            <p:cNvPr id="20" name="Text Box 8"/>
            <p:cNvSpPr txBox="1">
              <a:spLocks noChangeArrowheads="1"/>
            </p:cNvSpPr>
            <p:nvPr/>
          </p:nvSpPr>
          <p:spPr bwMode="auto">
            <a:xfrm>
              <a:off x="1499" y="1666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IE" i="1">
                  <a:latin typeface="Times New Roman" pitchFamily="18" charset="0"/>
                </a:rPr>
                <a:t>y</a:t>
              </a:r>
              <a:endParaRPr lang="en-US" i="1">
                <a:latin typeface="Times New Roman" pitchFamily="18" charset="0"/>
              </a:endParaRPr>
            </a:p>
          </p:txBody>
        </p:sp>
      </p:grpSp>
      <p:sp>
        <p:nvSpPr>
          <p:cNvPr id="21" name="Line 10"/>
          <p:cNvSpPr>
            <a:spLocks noChangeShapeType="1"/>
          </p:cNvSpPr>
          <p:nvPr/>
        </p:nvSpPr>
        <p:spPr bwMode="auto">
          <a:xfrm flipV="1">
            <a:off x="3738563" y="3886200"/>
            <a:ext cx="1906587" cy="1249363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214688" y="5156200"/>
            <a:ext cx="774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IE" sz="2000" b="1">
                <a:solidFill>
                  <a:srgbClr val="000099"/>
                </a:solidFill>
              </a:rPr>
              <a:t>(2, 2)</a:t>
            </a:r>
            <a:endParaRPr lang="en-US" sz="2000" b="1">
              <a:solidFill>
                <a:srgbClr val="000099"/>
              </a:solidFill>
            </a:endParaRP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5611813" y="3498850"/>
            <a:ext cx="774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IE" sz="2000" b="1">
                <a:solidFill>
                  <a:srgbClr val="000099"/>
                </a:solidFill>
              </a:rPr>
              <a:t>(7, 5)</a:t>
            </a:r>
            <a:endParaRPr lang="en-US" sz="2000" b="1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980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Digital Representation(cont.)</a:t>
            </a:r>
            <a:endParaRPr lang="en-US" sz="3600" b="1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97552"/>
          </a:xfrm>
        </p:spPr>
        <p:txBody>
          <a:bodyPr>
            <a:normAutofit/>
          </a:bodyPr>
          <a:lstStyle/>
          <a:p>
            <a:r>
              <a:rPr lang="en-IE" sz="2400" dirty="0"/>
              <a:t>But what happens when we try to draw this on a pixel based display?</a:t>
            </a:r>
          </a:p>
          <a:p>
            <a:endParaRPr lang="en-IE" sz="2400" dirty="0"/>
          </a:p>
          <a:p>
            <a:endParaRPr lang="en-IE" sz="2400" dirty="0"/>
          </a:p>
          <a:p>
            <a:endParaRPr lang="en-IE" sz="2400" dirty="0"/>
          </a:p>
          <a:p>
            <a:endParaRPr lang="en-IE" sz="2400" dirty="0"/>
          </a:p>
          <a:p>
            <a:endParaRPr lang="en-IE" sz="2400" dirty="0"/>
          </a:p>
          <a:p>
            <a:endParaRPr lang="en-IE" sz="2400" dirty="0"/>
          </a:p>
          <a:p>
            <a:pPr marL="0" indent="0">
              <a:buNone/>
            </a:pPr>
            <a:endParaRPr lang="en-IE" sz="2400" dirty="0"/>
          </a:p>
          <a:p>
            <a:pPr marL="0" indent="0">
              <a:buNone/>
            </a:pPr>
            <a:endParaRPr lang="en-IE" sz="2400" dirty="0"/>
          </a:p>
          <a:p>
            <a:r>
              <a:rPr lang="en-IE" sz="2400" dirty="0"/>
              <a:t>How do we choose which pixels to turn on?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>
              <a:solidFill>
                <a:srgbClr val="646C86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CA3E-B7BA-456C-A8B0-4143057369E8}" type="datetime5">
              <a:rPr lang="en-US" smtClean="0"/>
              <a:t>17-Jan-26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8FC1-9A27-46F0-BBDE-1A86A3068DF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745" y="2431473"/>
            <a:ext cx="3627437" cy="327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5124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Scan Conversion</a:t>
            </a:r>
            <a:endParaRPr lang="en-US" sz="3600" b="1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process of representing continuous graphics object as a collection of discrete pixels is called </a:t>
            </a:r>
            <a:r>
              <a:rPr lang="en-US" sz="2400" dirty="0">
                <a:solidFill>
                  <a:srgbClr val="FF0000"/>
                </a:solidFill>
              </a:rPr>
              <a:t>Scan Conversion</a:t>
            </a:r>
            <a:r>
              <a:rPr lang="en-US" sz="2400" dirty="0"/>
              <a:t>.</a:t>
            </a:r>
          </a:p>
          <a:p>
            <a:r>
              <a:rPr lang="en-US" sz="2400" dirty="0"/>
              <a:t>For </a:t>
            </a:r>
            <a:r>
              <a:rPr lang="en-US" sz="2400" dirty="0" err="1"/>
              <a:t>e.g</a:t>
            </a:r>
            <a:r>
              <a:rPr lang="en-US" sz="2400" dirty="0"/>
              <a:t> a line is defined by its two end points &amp; the line equation, where as a circle is defined by its radius, center position &amp; circle equation.</a:t>
            </a:r>
          </a:p>
          <a:p>
            <a:r>
              <a:rPr lang="en-US" sz="2400" dirty="0"/>
              <a:t>It is the responsibility of graphics system or the application program to convert each primitive from its </a:t>
            </a:r>
            <a:r>
              <a:rPr lang="en-US" sz="2400" dirty="0">
                <a:solidFill>
                  <a:srgbClr val="FF0000"/>
                </a:solidFill>
              </a:rPr>
              <a:t>geometric definition</a:t>
            </a:r>
            <a:r>
              <a:rPr lang="en-US" sz="2400" dirty="0"/>
              <a:t> into a </a:t>
            </a:r>
            <a:r>
              <a:rPr lang="en-US" sz="2400" dirty="0">
                <a:solidFill>
                  <a:srgbClr val="FF0000"/>
                </a:solidFill>
              </a:rPr>
              <a:t>set of pixels </a:t>
            </a:r>
            <a:r>
              <a:rPr lang="en-US" sz="2400" dirty="0"/>
              <a:t>that make up the primitive in image space. This conversion task is generally referred to as a </a:t>
            </a:r>
            <a:r>
              <a:rPr lang="en-US" sz="2400" dirty="0">
                <a:solidFill>
                  <a:srgbClr val="FF0000"/>
                </a:solidFill>
              </a:rPr>
              <a:t>scan conversion or </a:t>
            </a:r>
            <a:r>
              <a:rPr lang="en-US" sz="2400" dirty="0" err="1">
                <a:solidFill>
                  <a:srgbClr val="FF0000"/>
                </a:solidFill>
              </a:rPr>
              <a:t>rasterization</a:t>
            </a:r>
            <a:r>
              <a:rPr lang="en-US" sz="2400" b="1" dirty="0"/>
              <a:t>.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DDE9-E6FA-46D3-8BD0-344E0C3D6D88}" type="datetime5">
              <a:rPr lang="en-US" smtClean="0"/>
              <a:t>17-Jan-26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8FC1-9A27-46F0-BBDE-1A86A3068DF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</p:spTree>
    <p:extLst>
      <p:ext uri="{BB962C8B-B14F-4D97-AF65-F5344CB8AC3E}">
        <p14:creationId xmlns:p14="http://schemas.microsoft.com/office/powerpoint/2010/main" val="695876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336B0-A2EE-5881-A55B-E09160A7B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6B0D0-00C6-4C39-8160-7C3C83D2B70B}" type="datetime5">
              <a:rPr lang="en-US" smtClean="0"/>
              <a:t>17-Jan-26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5657BB-C8F5-AED3-ABCB-9182ABD5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32F59-8C53-2201-9AA5-557962F7E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BA5-D5B2-424C-91A7-107B6EDDC15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998F023B-319D-0DC4-3D37-CDB7ABAF444B}"/>
              </a:ext>
            </a:extLst>
          </p:cNvPr>
          <p:cNvSpPr txBox="1">
            <a:spLocks/>
          </p:cNvSpPr>
          <p:nvPr/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300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600">
                <a:solidFill>
                  <a:schemeClr val="bg2">
                    <a:lumMod val="50000"/>
                  </a:schemeClr>
                </a:solidFill>
              </a:rPr>
              <a:t>Scan Conversion(cont.)</a:t>
            </a:r>
            <a:endParaRPr lang="en-US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CD3D6-E1B6-8E06-10EA-5934243F7E87}"/>
              </a:ext>
            </a:extLst>
          </p:cNvPr>
          <p:cNvSpPr txBox="1"/>
          <p:nvPr/>
        </p:nvSpPr>
        <p:spPr>
          <a:xfrm>
            <a:off x="1143000" y="1573107"/>
            <a:ext cx="7162800" cy="4081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85000"/>
            </a:pPr>
            <a:r>
              <a:rPr lang="en-US" sz="2400" dirty="0">
                <a:latin typeface="+mn-lt"/>
              </a:rPr>
              <a:t>How It Works in Practice</a:t>
            </a:r>
          </a:p>
          <a:p>
            <a:pPr marL="274320" indent="-274320" ea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400" b="1" dirty="0">
                <a:latin typeface="+mn-lt"/>
              </a:rPr>
              <a:t>Define the primitive: </a:t>
            </a:r>
            <a:r>
              <a:rPr lang="en-US" sz="2400" dirty="0">
                <a:latin typeface="+mn-lt"/>
              </a:rPr>
              <a:t>e.g., a line from (2,3) to (7,8).</a:t>
            </a:r>
          </a:p>
          <a:p>
            <a:pPr marL="274320" indent="-274320" ea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400" b="1" dirty="0">
                <a:latin typeface="+mn-lt"/>
              </a:rPr>
              <a:t>Apply scan conversion algorithm: </a:t>
            </a:r>
            <a:r>
              <a:rPr lang="en-US" sz="2400" dirty="0">
                <a:latin typeface="+mn-lt"/>
              </a:rPr>
              <a:t>Determine which pixels best approximate the shape.</a:t>
            </a:r>
          </a:p>
          <a:p>
            <a:pPr marL="274320" indent="-274320" ea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400" b="1" dirty="0">
                <a:latin typeface="+mn-lt"/>
              </a:rPr>
              <a:t>Store pixel data in frame buffer: </a:t>
            </a:r>
            <a:r>
              <a:rPr lang="en-US" sz="2400" dirty="0">
                <a:latin typeface="+mn-lt"/>
              </a:rPr>
              <a:t>Each pixel gets intensity/color info.</a:t>
            </a:r>
          </a:p>
          <a:p>
            <a:pPr marL="274320" indent="-274320" ea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400" b="1" dirty="0">
                <a:latin typeface="+mn-lt"/>
              </a:rPr>
              <a:t>Video controller reads buffer: </a:t>
            </a:r>
            <a:r>
              <a:rPr lang="en-US" sz="2400" dirty="0">
                <a:latin typeface="+mn-lt"/>
              </a:rPr>
              <a:t>It plots the pixels on screen row by row.</a:t>
            </a:r>
          </a:p>
        </p:txBody>
      </p:sp>
    </p:spTree>
    <p:extLst>
      <p:ext uri="{BB962C8B-B14F-4D97-AF65-F5344CB8AC3E}">
        <p14:creationId xmlns:p14="http://schemas.microsoft.com/office/powerpoint/2010/main" val="289091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Scan Conversion(cont.)</a:t>
            </a:r>
            <a:endParaRPr lang="en-US" sz="3600" b="1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42900" indent="-342900">
              <a:buFontTx/>
              <a:buChar char="•"/>
            </a:pPr>
            <a:r>
              <a:rPr lang="en-US" sz="2600" dirty="0">
                <a:solidFill>
                  <a:srgbClr val="000000"/>
                </a:solidFill>
              </a:rPr>
              <a:t>Drawing lines, circles, and etc. on a grid implicitly involves approximation. </a:t>
            </a:r>
          </a:p>
          <a:p>
            <a:pPr marL="342900" indent="-342900">
              <a:buFontTx/>
              <a:buChar char="•"/>
            </a:pPr>
            <a:r>
              <a:rPr lang="en-US" sz="2600" dirty="0">
                <a:solidFill>
                  <a:srgbClr val="000000"/>
                </a:solidFill>
              </a:rPr>
              <a:t>Ideally, the following properties should be considered</a:t>
            </a:r>
          </a:p>
          <a:p>
            <a:pPr marL="742950" lvl="1" indent="-285750">
              <a:buFontTx/>
              <a:buChar char="–"/>
            </a:pPr>
            <a:r>
              <a:rPr lang="en-US" sz="2600" dirty="0">
                <a:solidFill>
                  <a:srgbClr val="000000"/>
                </a:solidFill>
              </a:rPr>
              <a:t>smooth</a:t>
            </a:r>
          </a:p>
          <a:p>
            <a:pPr marL="742950" lvl="1" indent="-285750">
              <a:buFontTx/>
              <a:buChar char="–"/>
            </a:pPr>
            <a:r>
              <a:rPr lang="en-US" sz="2600" dirty="0">
                <a:solidFill>
                  <a:srgbClr val="000000"/>
                </a:solidFill>
              </a:rPr>
              <a:t>continuous</a:t>
            </a:r>
          </a:p>
          <a:p>
            <a:pPr marL="742950" lvl="1" indent="-285750">
              <a:buFontTx/>
              <a:buChar char="–"/>
            </a:pPr>
            <a:r>
              <a:rPr lang="en-US" sz="2600" dirty="0">
                <a:solidFill>
                  <a:srgbClr val="000000"/>
                </a:solidFill>
              </a:rPr>
              <a:t>pass through specified points</a:t>
            </a:r>
          </a:p>
          <a:p>
            <a:pPr marL="742950" lvl="1" indent="-285750">
              <a:buFontTx/>
              <a:buChar char="–"/>
            </a:pPr>
            <a:r>
              <a:rPr lang="en-US" sz="2600" dirty="0">
                <a:solidFill>
                  <a:srgbClr val="000000"/>
                </a:solidFill>
              </a:rPr>
              <a:t>uniform brightness</a:t>
            </a:r>
          </a:p>
          <a:p>
            <a:pPr marL="742950" lvl="1" indent="-285750">
              <a:buFontTx/>
              <a:buChar char="–"/>
            </a:pPr>
            <a:r>
              <a:rPr lang="en-US" sz="2600" dirty="0">
                <a:solidFill>
                  <a:srgbClr val="000000"/>
                </a:solidFill>
              </a:rPr>
              <a:t>efficient</a:t>
            </a:r>
          </a:p>
          <a:p>
            <a:endParaRPr lang="en-US" sz="2400" b="1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DDE9-E6FA-46D3-8BD0-344E0C3D6D88}" type="datetime5">
              <a:rPr lang="en-US" smtClean="0"/>
              <a:t>17-Jan-26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8FC1-9A27-46F0-BBDE-1A86A3068DF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6E3B2F-2758-C718-7827-6B95499DA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3048000"/>
            <a:ext cx="2857748" cy="27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01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Scan Converting a Point</a:t>
            </a:r>
            <a:endParaRPr lang="en-US" sz="3600" b="1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mathematical point (</a:t>
            </a:r>
            <a:r>
              <a:rPr lang="en-US" sz="2400" dirty="0" err="1"/>
              <a:t>x,y</a:t>
            </a:r>
            <a:r>
              <a:rPr lang="en-US" sz="2400" dirty="0"/>
              <a:t>) where x &amp; y are real numbers within an image area, needs to be scan-converted to a pixel at location (</a:t>
            </a:r>
            <a:r>
              <a:rPr lang="en-US" sz="2400" dirty="0" err="1"/>
              <a:t>x’,y</a:t>
            </a:r>
            <a:r>
              <a:rPr lang="en-US" sz="2400" dirty="0"/>
              <a:t>’).</a:t>
            </a:r>
          </a:p>
          <a:p>
            <a:r>
              <a:rPr lang="en-US" sz="2400" dirty="0"/>
              <a:t>Can be done by making x’ &amp;  y’ to be the integer part of x &amp; y.</a:t>
            </a:r>
          </a:p>
          <a:p>
            <a:pPr lvl="1"/>
            <a:r>
              <a:rPr lang="en-US" sz="2400" dirty="0"/>
              <a:t>x’= Floor(x) and y’= Floor(y)</a:t>
            </a:r>
          </a:p>
          <a:p>
            <a:pPr lvl="1"/>
            <a:r>
              <a:rPr lang="en-US" sz="2400" dirty="0"/>
              <a:t>P1(1.7,0.8) is represented by pixel (1,0) </a:t>
            </a:r>
          </a:p>
          <a:p>
            <a:pPr lvl="1"/>
            <a:r>
              <a:rPr lang="en-US" sz="2400" dirty="0"/>
              <a:t>P2(2.2,1.3) and P3(2.8,1.9) are both represented by pixel (2,1).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DDE9-E6FA-46D3-8BD0-344E0C3D6D88}" type="datetime5">
              <a:rPr lang="en-US" smtClean="0"/>
              <a:t>17-Jan-26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8FC1-9A27-46F0-BBDE-1A86A3068DF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</p:spTree>
    <p:extLst>
      <p:ext uri="{BB962C8B-B14F-4D97-AF65-F5344CB8AC3E}">
        <p14:creationId xmlns:p14="http://schemas.microsoft.com/office/powerpoint/2010/main" val="2263002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Scan Converting a Point(cont.)</a:t>
            </a:r>
            <a:endParaRPr lang="en-US" sz="3600" b="1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Another approach is to scan convert (</a:t>
            </a:r>
            <a:r>
              <a:rPr lang="en-US" sz="2200" dirty="0" err="1"/>
              <a:t>x,y</a:t>
            </a:r>
            <a:r>
              <a:rPr lang="en-US" sz="2200" dirty="0"/>
              <a:t>) by making </a:t>
            </a:r>
          </a:p>
          <a:p>
            <a:pPr lvl="1"/>
            <a:r>
              <a:rPr lang="en-US" dirty="0"/>
              <a:t>x’ = Floor(x + 0.5) and y’ =Floor(y+0.5). </a:t>
            </a:r>
          </a:p>
          <a:p>
            <a:pPr lvl="1"/>
            <a:r>
              <a:rPr lang="en-US" dirty="0"/>
              <a:t>Points P1 and P2 are now both represented by pixel (2,1) whereas point P3 is represented by pixel (3,2).</a:t>
            </a:r>
          </a:p>
          <a:p>
            <a:r>
              <a:rPr lang="en-US" sz="2200" dirty="0"/>
              <a:t>This essentially places the origin of the coordinate system for (</a:t>
            </a:r>
            <a:r>
              <a:rPr lang="en-US" sz="2200" dirty="0" err="1"/>
              <a:t>x,y</a:t>
            </a:r>
            <a:r>
              <a:rPr lang="en-US" sz="2200" dirty="0"/>
              <a:t>) at the center of pixel(0,0).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DDE9-E6FA-46D3-8BD0-344E0C3D6D88}" type="datetime5">
              <a:rPr lang="en-US" smtClean="0"/>
              <a:t>17-Jan-26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8FC1-9A27-46F0-BBDE-1A86A3068DF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33" y="3962400"/>
            <a:ext cx="3439351" cy="23529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877" y="3662100"/>
            <a:ext cx="4038601" cy="265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35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Scan Converting a Line</a:t>
            </a:r>
            <a:endParaRPr lang="en-US" sz="3600" b="1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A line is defined by its two end points &amp; the slope intercept equation for a line:</a:t>
            </a:r>
          </a:p>
          <a:p>
            <a:pPr lvl="1"/>
            <a:r>
              <a:rPr lang="en-US" sz="2400" dirty="0"/>
              <a:t>y = mx + b, m = Slope of the line, b = the y intercept of a line</a:t>
            </a:r>
          </a:p>
          <a:p>
            <a:r>
              <a:rPr lang="en-US" sz="2400" dirty="0"/>
              <a:t>Line drawing is done by:</a:t>
            </a:r>
          </a:p>
          <a:p>
            <a:pPr lvl="1"/>
            <a:r>
              <a:rPr lang="en-US" sz="2400" dirty="0"/>
              <a:t>Calculating </a:t>
            </a:r>
            <a:r>
              <a:rPr lang="en-US" sz="2400" dirty="0">
                <a:solidFill>
                  <a:srgbClr val="FF0000"/>
                </a:solidFill>
              </a:rPr>
              <a:t>intermediate positions </a:t>
            </a:r>
            <a:r>
              <a:rPr lang="en-US" sz="2400" dirty="0"/>
              <a:t>between the endpoints.</a:t>
            </a:r>
          </a:p>
          <a:p>
            <a:pPr lvl="1"/>
            <a:r>
              <a:rPr lang="en-US" sz="2400" dirty="0"/>
              <a:t>Directing the output device to fill in the calculated positions as in the case of plotting single points.</a:t>
            </a:r>
          </a:p>
          <a:p>
            <a:pPr lvl="1"/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DDE9-E6FA-46D3-8BD0-344E0C3D6D88}" type="datetime5">
              <a:rPr lang="en-US" smtClean="0"/>
              <a:t>17-Jan-26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8FC1-9A27-46F0-BBDE-1A86A3068DF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</p:spTree>
    <p:extLst>
      <p:ext uri="{BB962C8B-B14F-4D97-AF65-F5344CB8AC3E}">
        <p14:creationId xmlns:p14="http://schemas.microsoft.com/office/powerpoint/2010/main" val="1435340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Scan Converting a Line(cont.)</a:t>
            </a:r>
            <a:endParaRPr lang="en-US" sz="3600" b="1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200" dirty="0"/>
              <a:t>Plotted positions may be only approximations to the actual line positions between endpoints.</a:t>
            </a:r>
          </a:p>
          <a:p>
            <a:pPr lvl="1"/>
            <a:r>
              <a:rPr lang="en-US" dirty="0"/>
              <a:t>A computed position (10.48, 20.51) is converted to pixel (10,21).</a:t>
            </a:r>
          </a:p>
          <a:p>
            <a:r>
              <a:rPr lang="en-US" sz="2200" dirty="0"/>
              <a:t>This rounding causes the lines to be displayed with a </a:t>
            </a:r>
            <a:r>
              <a:rPr lang="en-US" sz="2200" dirty="0" err="1">
                <a:solidFill>
                  <a:srgbClr val="FF0000"/>
                </a:solidFill>
              </a:rPr>
              <a:t>stairstep</a:t>
            </a:r>
            <a:r>
              <a:rPr lang="en-US" sz="2200" dirty="0">
                <a:solidFill>
                  <a:srgbClr val="FF0000"/>
                </a:solidFill>
              </a:rPr>
              <a:t> appearance</a:t>
            </a:r>
            <a:r>
              <a:rPr lang="en-US" sz="2200" dirty="0"/>
              <a:t>.</a:t>
            </a:r>
          </a:p>
          <a:p>
            <a:r>
              <a:rPr lang="en-US" sz="2200" dirty="0" err="1"/>
              <a:t>Stairsteps</a:t>
            </a:r>
            <a:r>
              <a:rPr lang="en-US" sz="2200" dirty="0"/>
              <a:t> are noticeable in low resolution systems, it can be improved by:</a:t>
            </a:r>
          </a:p>
          <a:p>
            <a:pPr lvl="1"/>
            <a:r>
              <a:rPr lang="en-US" dirty="0"/>
              <a:t>Displaying lines on high resolution systems.</a:t>
            </a:r>
          </a:p>
          <a:p>
            <a:pPr lvl="1"/>
            <a:r>
              <a:rPr lang="en-US" dirty="0"/>
              <a:t>Adjusting intensities along line path.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DDE9-E6FA-46D3-8BD0-344E0C3D6D88}" type="datetime5">
              <a:rPr lang="en-US" smtClean="0"/>
              <a:t>17-Jan-26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8FC1-9A27-46F0-BBDE-1A86A3068DF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</p:spTree>
    <p:extLst>
      <p:ext uri="{BB962C8B-B14F-4D97-AF65-F5344CB8AC3E}">
        <p14:creationId xmlns:p14="http://schemas.microsoft.com/office/powerpoint/2010/main" val="806970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Scan Converting a Line(cont.)</a:t>
            </a:r>
            <a:endParaRPr lang="en-US" sz="3600" b="1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200" dirty="0">
                <a:latin typeface="+mj-lt"/>
              </a:rPr>
              <a:t>The Cartesian intercept equation for a straight line:</a:t>
            </a:r>
          </a:p>
          <a:p>
            <a:pPr lvl="1"/>
            <a:r>
              <a:rPr lang="en-US" i="1" dirty="0">
                <a:solidFill>
                  <a:srgbClr val="FF0000"/>
                </a:solidFill>
                <a:latin typeface="+mj-lt"/>
              </a:rPr>
              <a:t>y= m. x +b</a:t>
            </a:r>
            <a:endParaRPr lang="en-US" dirty="0">
              <a:latin typeface="+mj-lt"/>
            </a:endParaRPr>
          </a:p>
          <a:p>
            <a:r>
              <a:rPr lang="en-US" sz="2200" dirty="0">
                <a:latin typeface="+mj-lt"/>
              </a:rPr>
              <a:t>For line segment starting in (x1,y1) and ending in (x2,y2), the slop is: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+mj-lt"/>
              </a:rPr>
              <a:t>m= (y1-y2)/(x1-x2)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+mj-lt"/>
              </a:rPr>
              <a:t>b= y1- m.x1</a:t>
            </a:r>
          </a:p>
          <a:p>
            <a:r>
              <a:rPr lang="en-US" sz="2200" dirty="0">
                <a:latin typeface="+mj-lt"/>
              </a:rPr>
              <a:t>For any given x interval </a:t>
            </a:r>
            <a:r>
              <a:rPr lang="el-GR" sz="2200" dirty="0">
                <a:latin typeface="+mj-lt"/>
                <a:cs typeface="Calibri"/>
              </a:rPr>
              <a:t>Δ</a:t>
            </a:r>
            <a:r>
              <a:rPr lang="en-US" sz="2200" dirty="0">
                <a:latin typeface="+mj-lt"/>
              </a:rPr>
              <a:t>x, we can compute the corresponding y interval </a:t>
            </a:r>
            <a:r>
              <a:rPr lang="el-GR" sz="2200" dirty="0">
                <a:latin typeface="+mj-lt"/>
                <a:cs typeface="Calibri"/>
              </a:rPr>
              <a:t>Δ</a:t>
            </a:r>
            <a:r>
              <a:rPr lang="en-US" sz="2200" dirty="0">
                <a:latin typeface="+mj-lt"/>
              </a:rPr>
              <a:t>y:</a:t>
            </a:r>
          </a:p>
          <a:p>
            <a:pPr lvl="1"/>
            <a:r>
              <a:rPr lang="el-GR" dirty="0">
                <a:solidFill>
                  <a:srgbClr val="FF0000"/>
                </a:solidFill>
                <a:latin typeface="+mj-lt"/>
                <a:cs typeface="Calibri"/>
              </a:rPr>
              <a:t>Δ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y= m .</a:t>
            </a:r>
            <a:r>
              <a:rPr lang="el-GR" dirty="0">
                <a:solidFill>
                  <a:srgbClr val="FF0000"/>
                </a:solidFill>
                <a:latin typeface="+mj-lt"/>
                <a:cs typeface="Calibri"/>
              </a:rPr>
              <a:t> Δ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x</a:t>
            </a:r>
          </a:p>
          <a:p>
            <a:r>
              <a:rPr lang="en-US" sz="2200" dirty="0">
                <a:latin typeface="+mj-lt"/>
              </a:rPr>
              <a:t>Or x interval </a:t>
            </a:r>
            <a:r>
              <a:rPr lang="el-GR" sz="2200" dirty="0">
                <a:latin typeface="+mj-lt"/>
                <a:cs typeface="Calibri"/>
              </a:rPr>
              <a:t>Δ</a:t>
            </a:r>
            <a:r>
              <a:rPr lang="en-US" sz="2200" dirty="0">
                <a:latin typeface="+mj-lt"/>
              </a:rPr>
              <a:t>x from a given </a:t>
            </a:r>
            <a:r>
              <a:rPr lang="el-GR" sz="2200" dirty="0">
                <a:latin typeface="+mj-lt"/>
                <a:cs typeface="Calibri"/>
              </a:rPr>
              <a:t>Δ</a:t>
            </a:r>
            <a:r>
              <a:rPr lang="en-US" sz="2200" dirty="0">
                <a:latin typeface="+mj-lt"/>
              </a:rPr>
              <a:t>y:</a:t>
            </a:r>
          </a:p>
          <a:p>
            <a:pPr lvl="1"/>
            <a:r>
              <a:rPr lang="el-GR" dirty="0">
                <a:solidFill>
                  <a:srgbClr val="FF0000"/>
                </a:solidFill>
                <a:latin typeface="+mj-lt"/>
                <a:cs typeface="Calibri"/>
              </a:rPr>
              <a:t>Δ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x= </a:t>
            </a:r>
            <a:r>
              <a:rPr lang="el-GR" dirty="0">
                <a:solidFill>
                  <a:srgbClr val="FF0000"/>
                </a:solidFill>
                <a:latin typeface="+mj-lt"/>
                <a:cs typeface="Calibri"/>
              </a:rPr>
              <a:t>Δ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y/m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DDE9-E6FA-46D3-8BD0-344E0C3D6D88}" type="datetime5">
              <a:rPr lang="en-US" smtClean="0"/>
              <a:t>17-Jan-26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8FC1-9A27-46F0-BBDE-1A86A3068DF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</p:spTree>
    <p:extLst>
      <p:ext uri="{BB962C8B-B14F-4D97-AF65-F5344CB8AC3E}">
        <p14:creationId xmlns:p14="http://schemas.microsoft.com/office/powerpoint/2010/main" val="2605817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271321-BEC5-85E2-8B19-ABDCE61D3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6B0D0-00C6-4C39-8160-7C3C83D2B70B}" type="datetime5">
              <a:rPr lang="en-US" smtClean="0"/>
              <a:t>17-Jan-26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28254D-2DDC-E675-7A62-6D6389E20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8A72E-99D4-F22F-013F-546188E0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BA5-D5B2-424C-91A7-107B6EDDC15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DB74CB-F46E-A130-8CFF-518C3846D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524000"/>
            <a:ext cx="8455152" cy="4880984"/>
          </a:xfrm>
          <a:prstGeom prst="rect">
            <a:avLst/>
          </a:prstGeom>
        </p:spPr>
      </p:pic>
      <p:sp>
        <p:nvSpPr>
          <p:cNvPr id="7" name="Title 5">
            <a:extLst>
              <a:ext uri="{FF2B5EF4-FFF2-40B4-BE49-F238E27FC236}">
                <a16:creationId xmlns:a16="http://schemas.microsoft.com/office/drawing/2014/main" id="{93F4FF5D-4A49-F732-B215-EF61C5A5A10C}"/>
              </a:ext>
            </a:extLst>
          </p:cNvPr>
          <p:cNvSpPr txBox="1">
            <a:spLocks/>
          </p:cNvSpPr>
          <p:nvPr/>
        </p:nvSpPr>
        <p:spPr>
          <a:xfrm>
            <a:off x="415413" y="381000"/>
            <a:ext cx="8534400" cy="75895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300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600">
                <a:solidFill>
                  <a:schemeClr val="bg2">
                    <a:lumMod val="50000"/>
                  </a:schemeClr>
                </a:solidFill>
              </a:rPr>
              <a:t>Scan Converting a Line(cont.)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102133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600200"/>
            <a:ext cx="2905992" cy="450601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Scan Converting a Line(cont.)</a:t>
            </a:r>
            <a:endParaRPr lang="en-US" sz="3600" b="1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4879848" cy="4572000"/>
          </a:xfrm>
        </p:spPr>
        <p:txBody>
          <a:bodyPr>
            <a:noAutofit/>
          </a:bodyPr>
          <a:lstStyle/>
          <a:p>
            <a:r>
              <a:rPr lang="en-US" sz="2200" dirty="0"/>
              <a:t>On raster systems, lines are plotted with pixels, and step sizes in the horizontal and vertical directions are constrained by pixel separations.</a:t>
            </a:r>
          </a:p>
          <a:p>
            <a:r>
              <a:rPr lang="en-US" sz="2200" dirty="0"/>
              <a:t>Scan conversion process samples a line at discrete positions and determine the nearest pixel to the line at each sampled position. </a:t>
            </a:r>
            <a:r>
              <a:rPr lang="en-US" sz="2200" dirty="0">
                <a:solidFill>
                  <a:srgbClr val="FF0000"/>
                </a:solidFill>
              </a:rPr>
              <a:t>(Incremental Fashion)</a:t>
            </a:r>
            <a:endParaRPr lang="en-US" sz="22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BDDE9-E6FA-46D3-8BD0-344E0C3D6D88}" type="datetime5">
              <a:rPr lang="en-US" smtClean="0"/>
              <a:t>17-Jan-26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8FC1-9A27-46F0-BBDE-1A86A3068DF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</p:spTree>
    <p:extLst>
      <p:ext uri="{BB962C8B-B14F-4D97-AF65-F5344CB8AC3E}">
        <p14:creationId xmlns:p14="http://schemas.microsoft.com/office/powerpoint/2010/main" val="4103510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55120-52EB-2AEE-1512-C73B8F610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8D623-164D-E7CE-CD77-18F5714A7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6B0D0-00C6-4C39-8160-7C3C83D2B70B}" type="datetime5">
              <a:rPr lang="en-US" smtClean="0"/>
              <a:t>17-Jan-26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371241-56C1-DFEE-CC1F-2038E072B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0232A-AAA2-AE1D-418A-40D67027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BA5-D5B2-424C-91A7-107B6EDDC15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BC15B4CB-4A8C-BF6C-AA27-A5216FA6E2A4}"/>
              </a:ext>
            </a:extLst>
          </p:cNvPr>
          <p:cNvSpPr txBox="1">
            <a:spLocks/>
          </p:cNvSpPr>
          <p:nvPr/>
        </p:nvSpPr>
        <p:spPr>
          <a:xfrm>
            <a:off x="415413" y="381000"/>
            <a:ext cx="8534400" cy="75895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300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600">
                <a:solidFill>
                  <a:schemeClr val="bg2">
                    <a:lumMod val="50000"/>
                  </a:schemeClr>
                </a:solidFill>
              </a:rPr>
              <a:t>Scan Converting a Line(cont.)</a:t>
            </a:r>
            <a:endParaRPr lang="en-US" sz="3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BA0ADA-286A-0C72-F3D8-E1089127F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17" y="1029941"/>
            <a:ext cx="8641965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799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fld id="{916BB626-7B41-4D59-8407-0BD70450DA57}" type="slidenum">
              <a:rPr lang="en-US" sz="1000" smtClean="0">
                <a:latin typeface="Tahoma" pitchFamily="34" charset="0"/>
              </a:rPr>
              <a:pPr/>
              <a:t>17</a:t>
            </a:fld>
            <a:endParaRPr lang="en-US" sz="1000">
              <a:latin typeface="Tahoma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Drawing - Algorithm 1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050925" y="1449388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endParaRPr lang="en-US"/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914400" y="1447800"/>
            <a:ext cx="52677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latin typeface="+mj-lt"/>
                <a:cs typeface="Tahoma" pitchFamily="34" charset="0"/>
              </a:rPr>
              <a:t>A Straightforward Implementation</a:t>
            </a: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990600" y="2057400"/>
            <a:ext cx="5384807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dirty="0" err="1">
                <a:latin typeface="+mj-lt"/>
                <a:cs typeface="Tahoma" pitchFamily="34" charset="0"/>
              </a:rPr>
              <a:t>DrawLine</a:t>
            </a:r>
            <a:r>
              <a:rPr lang="en-US" sz="2000" dirty="0">
                <a:latin typeface="+mj-lt"/>
                <a:cs typeface="Tahoma" pitchFamily="34" charset="0"/>
              </a:rPr>
              <a:t>(</a:t>
            </a:r>
            <a:r>
              <a:rPr lang="en-US" sz="2000" dirty="0" err="1">
                <a:latin typeface="+mj-lt"/>
                <a:cs typeface="Tahoma" pitchFamily="34" charset="0"/>
              </a:rPr>
              <a:t>int</a:t>
            </a:r>
            <a:r>
              <a:rPr lang="en-US" sz="2000" dirty="0">
                <a:latin typeface="+mj-lt"/>
                <a:cs typeface="Tahoma" pitchFamily="34" charset="0"/>
              </a:rPr>
              <a:t> x1,int y1, </a:t>
            </a:r>
            <a:r>
              <a:rPr lang="en-US" sz="2000" dirty="0" err="1">
                <a:latin typeface="+mj-lt"/>
                <a:cs typeface="Tahoma" pitchFamily="34" charset="0"/>
              </a:rPr>
              <a:t>int</a:t>
            </a:r>
            <a:r>
              <a:rPr lang="en-US" sz="2000" dirty="0">
                <a:latin typeface="+mj-lt"/>
                <a:cs typeface="Tahoma" pitchFamily="34" charset="0"/>
              </a:rPr>
              <a:t> x2,int y2, </a:t>
            </a:r>
            <a:r>
              <a:rPr lang="en-US" sz="2000" dirty="0" err="1">
                <a:latin typeface="+mj-lt"/>
                <a:cs typeface="Tahoma" pitchFamily="34" charset="0"/>
              </a:rPr>
              <a:t>int</a:t>
            </a:r>
            <a:r>
              <a:rPr lang="en-US" sz="2000" dirty="0">
                <a:latin typeface="+mj-lt"/>
                <a:cs typeface="Tahoma" pitchFamily="34" charset="0"/>
              </a:rPr>
              <a:t> color)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{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float y;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</a:t>
            </a:r>
            <a:r>
              <a:rPr lang="en-US" sz="2000" dirty="0" err="1">
                <a:latin typeface="+mj-lt"/>
                <a:cs typeface="Tahoma" pitchFamily="34" charset="0"/>
              </a:rPr>
              <a:t>int</a:t>
            </a:r>
            <a:r>
              <a:rPr lang="en-US" sz="2000" dirty="0">
                <a:latin typeface="+mj-lt"/>
                <a:cs typeface="Tahoma" pitchFamily="34" charset="0"/>
              </a:rPr>
              <a:t> x;</a:t>
            </a:r>
          </a:p>
          <a:p>
            <a:endParaRPr lang="en-US" sz="2000" dirty="0">
              <a:latin typeface="+mj-lt"/>
              <a:cs typeface="Tahoma" pitchFamily="34" charset="0"/>
            </a:endParaRPr>
          </a:p>
          <a:p>
            <a:r>
              <a:rPr lang="en-US" sz="2000" dirty="0">
                <a:latin typeface="+mj-lt"/>
                <a:cs typeface="Tahoma" pitchFamily="34" charset="0"/>
              </a:rPr>
              <a:t>    for (x=x1; x&lt;=x2; x++) 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{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     y = y1 + (x-x1)*m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     </a:t>
            </a:r>
            <a:r>
              <a:rPr lang="en-US" sz="2000" dirty="0" err="1">
                <a:latin typeface="+mj-lt"/>
                <a:cs typeface="Tahoma" pitchFamily="34" charset="0"/>
              </a:rPr>
              <a:t>WritePixel</a:t>
            </a:r>
            <a:r>
              <a:rPr lang="en-US" sz="2000" dirty="0">
                <a:latin typeface="+mj-lt"/>
                <a:cs typeface="Tahoma" pitchFamily="34" charset="0"/>
              </a:rPr>
              <a:t>(x, Round(y), color );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}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723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4ADE6-8409-4CDB-B451-3D6F81F98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9BE8D-E9BB-604D-AF11-FA4CAD1F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6B0D0-00C6-4C39-8160-7C3C83D2B70B}" type="datetime5">
              <a:rPr lang="en-US" smtClean="0"/>
              <a:t>17-Jan-26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5E4C6E-D9B0-5D51-D1B4-0F11E91AC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D2446-744C-FBB0-29C7-B7BA241C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BA5-D5B2-424C-91A7-107B6EDDC15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BE894CCF-42AE-845B-08AE-A158D94D1F90}"/>
              </a:ext>
            </a:extLst>
          </p:cNvPr>
          <p:cNvSpPr txBox="1">
            <a:spLocks/>
          </p:cNvSpPr>
          <p:nvPr/>
        </p:nvSpPr>
        <p:spPr>
          <a:xfrm>
            <a:off x="415413" y="381000"/>
            <a:ext cx="8534400" cy="75895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300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600">
                <a:solidFill>
                  <a:schemeClr val="bg2">
                    <a:lumMod val="50000"/>
                  </a:schemeClr>
                </a:solidFill>
              </a:rPr>
              <a:t>Scan Converting a Line(cont.)</a:t>
            </a:r>
            <a:endParaRPr lang="en-US"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7A42DF-6751-E74A-0746-C5DF846F5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07" y="986416"/>
            <a:ext cx="8426245" cy="533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042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D111E-5127-07BE-3472-8F49DF2CF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317CA5-62EB-FE58-76A0-1296F2911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6B0D0-00C6-4C39-8160-7C3C83D2B70B}" type="datetime5">
              <a:rPr lang="en-US" smtClean="0"/>
              <a:t>17-Jan-26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D6887F-84C5-441F-27F5-42763A13F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024B4-0F90-56F5-E3CE-C0C1AAAE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BA5-D5B2-424C-91A7-107B6EDDC15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82CC5248-8688-8561-97AE-1AF2DDB77530}"/>
              </a:ext>
            </a:extLst>
          </p:cNvPr>
          <p:cNvSpPr txBox="1">
            <a:spLocks/>
          </p:cNvSpPr>
          <p:nvPr/>
        </p:nvSpPr>
        <p:spPr>
          <a:xfrm>
            <a:off x="415413" y="381000"/>
            <a:ext cx="8534400" cy="75895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300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600">
                <a:solidFill>
                  <a:schemeClr val="bg2">
                    <a:lumMod val="50000"/>
                  </a:schemeClr>
                </a:solidFill>
              </a:rPr>
              <a:t>Scan Converting a Line(cont.)</a:t>
            </a:r>
            <a:endParaRPr lang="en-US" sz="3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D53559-5244-44E7-9683-E7C81A70F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13455"/>
            <a:ext cx="7961745" cy="533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181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fld id="{23805A97-2BD6-41B7-B3F9-0B2FB18DB06D}" type="slidenum">
              <a:rPr lang="en-US" sz="1000" smtClean="0">
                <a:latin typeface="Tahoma" pitchFamily="34" charset="0"/>
              </a:rPr>
              <a:pPr/>
              <a:t>20</a:t>
            </a:fld>
            <a:endParaRPr lang="en-US" sz="1000">
              <a:latin typeface="Tahoma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 Drawing - Algorithm 2</a:t>
            </a:r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325997" y="834736"/>
            <a:ext cx="39340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latin typeface="+mj-lt"/>
                <a:cs typeface="Tahoma" pitchFamily="34" charset="0"/>
              </a:rPr>
              <a:t>A Better Implementation</a:t>
            </a:r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301752" y="1261765"/>
            <a:ext cx="624840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000" dirty="0" err="1">
                <a:latin typeface="+mj-lt"/>
                <a:cs typeface="Tahoma" pitchFamily="34" charset="0"/>
              </a:rPr>
              <a:t>DrawLine</a:t>
            </a:r>
            <a:r>
              <a:rPr lang="en-US" sz="2000" dirty="0">
                <a:latin typeface="+mj-lt"/>
                <a:cs typeface="Tahoma" pitchFamily="34" charset="0"/>
              </a:rPr>
              <a:t>(</a:t>
            </a:r>
            <a:r>
              <a:rPr lang="en-US" sz="2000" dirty="0" err="1">
                <a:latin typeface="+mj-lt"/>
                <a:cs typeface="Tahoma" pitchFamily="34" charset="0"/>
              </a:rPr>
              <a:t>int</a:t>
            </a:r>
            <a:r>
              <a:rPr lang="en-US" sz="2000" dirty="0">
                <a:latin typeface="+mj-lt"/>
                <a:cs typeface="Tahoma" pitchFamily="34" charset="0"/>
              </a:rPr>
              <a:t> x1,int y1,int x2,int y2, </a:t>
            </a:r>
            <a:r>
              <a:rPr lang="en-US" sz="2000" dirty="0" err="1">
                <a:latin typeface="+mj-lt"/>
                <a:cs typeface="Tahoma" pitchFamily="34" charset="0"/>
              </a:rPr>
              <a:t>int</a:t>
            </a:r>
            <a:r>
              <a:rPr lang="en-US" sz="2000" dirty="0">
                <a:latin typeface="+mj-lt"/>
                <a:cs typeface="Tahoma" pitchFamily="34" charset="0"/>
              </a:rPr>
              <a:t> color)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{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float </a:t>
            </a:r>
            <a:r>
              <a:rPr lang="en-US" sz="2000" dirty="0" err="1">
                <a:latin typeface="+mj-lt"/>
                <a:cs typeface="Tahoma" pitchFamily="34" charset="0"/>
              </a:rPr>
              <a:t>m,y</a:t>
            </a:r>
            <a:r>
              <a:rPr lang="en-US" sz="2000" dirty="0">
                <a:latin typeface="+mj-lt"/>
                <a:cs typeface="Tahoma" pitchFamily="34" charset="0"/>
              </a:rPr>
              <a:t>;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</a:t>
            </a:r>
            <a:r>
              <a:rPr lang="en-US" sz="2000" dirty="0" err="1">
                <a:latin typeface="+mj-lt"/>
                <a:cs typeface="Tahoma" pitchFamily="34" charset="0"/>
              </a:rPr>
              <a:t>int</a:t>
            </a:r>
            <a:r>
              <a:rPr lang="en-US" sz="2000" dirty="0">
                <a:latin typeface="+mj-lt"/>
                <a:cs typeface="Tahoma" pitchFamily="34" charset="0"/>
              </a:rPr>
              <a:t> </a:t>
            </a:r>
            <a:r>
              <a:rPr lang="en-US" sz="2000" dirty="0" err="1">
                <a:latin typeface="+mj-lt"/>
                <a:cs typeface="Tahoma" pitchFamily="34" charset="0"/>
              </a:rPr>
              <a:t>dx,dy,x</a:t>
            </a:r>
            <a:r>
              <a:rPr lang="en-US" sz="2000" dirty="0">
                <a:latin typeface="+mj-lt"/>
                <a:cs typeface="Tahoma" pitchFamily="34" charset="0"/>
              </a:rPr>
              <a:t>;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dx = x2 - x1; </a:t>
            </a:r>
            <a:r>
              <a:rPr lang="en-US" sz="2000" dirty="0" err="1">
                <a:latin typeface="+mj-lt"/>
                <a:cs typeface="Tahoma" pitchFamily="34" charset="0"/>
              </a:rPr>
              <a:t>dy</a:t>
            </a:r>
            <a:r>
              <a:rPr lang="en-US" sz="2000" dirty="0">
                <a:latin typeface="+mj-lt"/>
                <a:cs typeface="Tahoma" pitchFamily="34" charset="0"/>
              </a:rPr>
              <a:t> = y2 - y1; m = </a:t>
            </a:r>
            <a:r>
              <a:rPr lang="en-US" sz="2000" dirty="0" err="1">
                <a:latin typeface="+mj-lt"/>
                <a:cs typeface="Tahoma" pitchFamily="34" charset="0"/>
              </a:rPr>
              <a:t>dy</a:t>
            </a:r>
            <a:r>
              <a:rPr lang="en-US" sz="2000" dirty="0">
                <a:latin typeface="+mj-lt"/>
                <a:cs typeface="Tahoma" pitchFamily="34" charset="0"/>
              </a:rPr>
              <a:t>/dx;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if (dx&gt;=</a:t>
            </a:r>
            <a:r>
              <a:rPr lang="en-US" sz="2000" dirty="0" err="1">
                <a:latin typeface="+mj-lt"/>
                <a:cs typeface="Tahoma" pitchFamily="34" charset="0"/>
              </a:rPr>
              <a:t>dy</a:t>
            </a:r>
            <a:r>
              <a:rPr lang="en-US" sz="2000" dirty="0">
                <a:latin typeface="+mj-lt"/>
                <a:cs typeface="Tahoma" pitchFamily="34" charset="0"/>
              </a:rPr>
              <a:t>){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for (x=x1; x&lt;=x2; x++) 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{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     </a:t>
            </a:r>
            <a:r>
              <a:rPr lang="en-US" sz="2000" dirty="0" err="1">
                <a:latin typeface="+mj-lt"/>
                <a:cs typeface="Tahoma" pitchFamily="34" charset="0"/>
              </a:rPr>
              <a:t>WritePixel</a:t>
            </a:r>
            <a:r>
              <a:rPr lang="en-US" sz="2000" dirty="0">
                <a:latin typeface="+mj-lt"/>
                <a:cs typeface="Tahoma" pitchFamily="34" charset="0"/>
              </a:rPr>
              <a:t>(x, Round(y), color );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     y = y + m;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}}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else {for (y=y1; y&lt;=y2; y++) 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{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     </a:t>
            </a:r>
            <a:r>
              <a:rPr lang="en-US" sz="2000" dirty="0" err="1">
                <a:latin typeface="+mj-lt"/>
                <a:cs typeface="Tahoma" pitchFamily="34" charset="0"/>
              </a:rPr>
              <a:t>WritePixel</a:t>
            </a:r>
            <a:r>
              <a:rPr lang="en-US" sz="2000" dirty="0">
                <a:latin typeface="+mj-lt"/>
                <a:cs typeface="Tahoma" pitchFamily="34" charset="0"/>
              </a:rPr>
              <a:t>(Round(x),y, color );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     x = x + 1/m;</a:t>
            </a:r>
          </a:p>
          <a:p>
            <a:r>
              <a:rPr lang="en-US" sz="2000" dirty="0">
                <a:latin typeface="+mj-lt"/>
                <a:cs typeface="Tahoma" pitchFamily="34" charset="0"/>
              </a:rPr>
              <a:t>    }}</a:t>
            </a:r>
          </a:p>
          <a:p>
            <a:endParaRPr lang="en-US" sz="2000" dirty="0">
              <a:latin typeface="+mj-lt"/>
              <a:cs typeface="Tahoma" pitchFamily="34" charset="0"/>
            </a:endParaRPr>
          </a:p>
          <a:p>
            <a:r>
              <a:rPr lang="en-US" sz="2000" dirty="0">
                <a:latin typeface="+mj-lt"/>
                <a:cs typeface="Tahoma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8496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05117-5745-52C0-ABA0-15443ABD3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B2F5D8-35D2-D2C3-E9AF-5E64DA053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6B0D0-00C6-4C39-8160-7C3C83D2B70B}" type="datetime5">
              <a:rPr lang="en-US" smtClean="0"/>
              <a:t>17-Jan-26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6E2C9B-1F3F-658B-7AA4-4A1100E74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5E4A2-CF1C-9698-64C3-475E2F10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BA5-D5B2-424C-91A7-107B6EDDC15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BC467E16-8924-D4A7-0D40-0B65A9BEC23F}"/>
              </a:ext>
            </a:extLst>
          </p:cNvPr>
          <p:cNvSpPr txBox="1">
            <a:spLocks/>
          </p:cNvSpPr>
          <p:nvPr/>
        </p:nvSpPr>
        <p:spPr>
          <a:xfrm>
            <a:off x="415413" y="381000"/>
            <a:ext cx="8534400" cy="75895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300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600">
                <a:solidFill>
                  <a:schemeClr val="bg2">
                    <a:lumMod val="50000"/>
                  </a:schemeClr>
                </a:solidFill>
              </a:rPr>
              <a:t>Scan Converting a Line(cont.)</a:t>
            </a:r>
            <a:endParaRPr lang="en-US"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081CB8-23A8-603F-836B-B8017423E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15" y="990600"/>
            <a:ext cx="7502769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049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5C525-0F12-46B1-97ED-DA21B9EDC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93498-4D3C-EC1C-3A66-BF829B5DD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6B0D0-00C6-4C39-8160-7C3C83D2B70B}" type="datetime5">
              <a:rPr lang="en-US" smtClean="0"/>
              <a:t>17-Jan-26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0353B1-3DE9-0ADB-B953-761333370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Scan Conversion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00CC-3FAB-4EDF-8BF9-86C52EA5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BA5-D5B2-424C-91A7-107B6EDDC15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1C8038E1-FFF5-4B87-8DFB-20FFAE05B3FE}"/>
              </a:ext>
            </a:extLst>
          </p:cNvPr>
          <p:cNvSpPr txBox="1">
            <a:spLocks/>
          </p:cNvSpPr>
          <p:nvPr/>
        </p:nvSpPr>
        <p:spPr>
          <a:xfrm>
            <a:off x="415413" y="381000"/>
            <a:ext cx="8534400" cy="75895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300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600">
                <a:solidFill>
                  <a:schemeClr val="bg2">
                    <a:lumMod val="50000"/>
                  </a:schemeClr>
                </a:solidFill>
              </a:rPr>
              <a:t>Scan Converting a Line(cont.)</a:t>
            </a:r>
            <a:endParaRPr lang="en-US"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2FBE56-5EA4-4798-4345-16767BD14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56" y="990600"/>
            <a:ext cx="7432887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57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fld id="{351ABEF1-ED9E-4EEE-A242-0EE34AFC0056}" type="slidenum">
              <a:rPr lang="en-US" sz="1000" smtClean="0">
                <a:latin typeface="Tahoma" pitchFamily="34" charset="0"/>
              </a:rPr>
              <a:pPr/>
              <a:t>23</a:t>
            </a:fld>
            <a:endParaRPr lang="en-US" sz="1000">
              <a:latin typeface="Tahoma" pitchFamily="34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Drawing Algorithm Comparison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Advantages over Algorithm 1</a:t>
            </a:r>
          </a:p>
          <a:p>
            <a:pPr lvl="1"/>
            <a:r>
              <a:rPr lang="en-US" dirty="0"/>
              <a:t>eliminates multiplication</a:t>
            </a:r>
          </a:p>
          <a:p>
            <a:pPr lvl="1"/>
            <a:r>
              <a:rPr lang="en-US" dirty="0"/>
              <a:t>improves speed</a:t>
            </a:r>
          </a:p>
          <a:p>
            <a:r>
              <a:rPr lang="en-US" sz="2200" dirty="0"/>
              <a:t>Disadvantages</a:t>
            </a:r>
          </a:p>
          <a:p>
            <a:pPr lvl="1"/>
            <a:r>
              <a:rPr lang="en-US" dirty="0"/>
              <a:t>round-off error builds up</a:t>
            </a:r>
          </a:p>
          <a:p>
            <a:pPr lvl="2"/>
            <a:r>
              <a:rPr lang="en-US" dirty="0"/>
              <a:t>get pixel drift</a:t>
            </a:r>
          </a:p>
          <a:p>
            <a:pPr lvl="1"/>
            <a:r>
              <a:rPr lang="en-US" dirty="0"/>
              <a:t>rounding and floating point arithmetic still time consuming</a:t>
            </a:r>
          </a:p>
          <a:p>
            <a:pPr lvl="1"/>
            <a:r>
              <a:rPr lang="en-US" dirty="0"/>
              <a:t>works well only for |m| &lt; 1</a:t>
            </a:r>
          </a:p>
          <a:p>
            <a:pPr lvl="1"/>
            <a:r>
              <a:rPr lang="en-US" dirty="0"/>
              <a:t>need to loop in y for |m| &gt; 1</a:t>
            </a:r>
          </a:p>
          <a:p>
            <a:pPr lvl="1"/>
            <a:r>
              <a:rPr lang="en-US" dirty="0"/>
              <a:t>need to handle special cases</a:t>
            </a:r>
          </a:p>
        </p:txBody>
      </p:sp>
    </p:spTree>
    <p:extLst>
      <p:ext uri="{BB962C8B-B14F-4D97-AF65-F5344CB8AC3E}">
        <p14:creationId xmlns:p14="http://schemas.microsoft.com/office/powerpoint/2010/main" val="1044987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3485</TotalTime>
  <Words>1355</Words>
  <Application>Microsoft Office PowerPoint</Application>
  <PresentationFormat>On-screen Show (4:3)</PresentationFormat>
  <Paragraphs>208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 Light (Headings)</vt:lpstr>
      <vt:lpstr>Georgia</vt:lpstr>
      <vt:lpstr>Tahoma</vt:lpstr>
      <vt:lpstr>Times New Roman</vt:lpstr>
      <vt:lpstr>Verdana</vt:lpstr>
      <vt:lpstr>Wingdings</vt:lpstr>
      <vt:lpstr>Wingdings 2</vt:lpstr>
      <vt:lpstr>Civic</vt:lpstr>
      <vt:lpstr>PowerPoint Presentation</vt:lpstr>
      <vt:lpstr>Output Primitives</vt:lpstr>
      <vt:lpstr>Digital Representation</vt:lpstr>
      <vt:lpstr>Digital Representation(cont.)</vt:lpstr>
      <vt:lpstr>Digital Representation(cont.)</vt:lpstr>
      <vt:lpstr>Scan Conversion</vt:lpstr>
      <vt:lpstr>PowerPoint Presentation</vt:lpstr>
      <vt:lpstr>Scan Conversion(cont.)</vt:lpstr>
      <vt:lpstr>Scan Converting a Point</vt:lpstr>
      <vt:lpstr>Scan Converting a Point(cont.)</vt:lpstr>
      <vt:lpstr>Scan Converting a Line</vt:lpstr>
      <vt:lpstr>Scan Converting a Line(cont.)</vt:lpstr>
      <vt:lpstr>Scan Converting a Line(cont.)</vt:lpstr>
      <vt:lpstr>PowerPoint Presentation</vt:lpstr>
      <vt:lpstr>Scan Converting a Line(cont.)</vt:lpstr>
      <vt:lpstr>PowerPoint Presentation</vt:lpstr>
      <vt:lpstr>Line Drawing - Algorithm 1</vt:lpstr>
      <vt:lpstr>PowerPoint Presentation</vt:lpstr>
      <vt:lpstr>PowerPoint Presentation</vt:lpstr>
      <vt:lpstr>Line Drawing - Algorithm 2</vt:lpstr>
      <vt:lpstr>PowerPoint Presentation</vt:lpstr>
      <vt:lpstr>PowerPoint Presentation</vt:lpstr>
      <vt:lpstr>Line Drawing Algorithm Comparison</vt:lpstr>
    </vt:vector>
  </TitlesOfParts>
  <Company>kuet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hasan</dc:creator>
  <cp:lastModifiedBy>Md Manirujjaman</cp:lastModifiedBy>
  <cp:revision>209</cp:revision>
  <dcterms:created xsi:type="dcterms:W3CDTF">2009-08-20T07:17:59Z</dcterms:created>
  <dcterms:modified xsi:type="dcterms:W3CDTF">2026-01-17T16:14:07Z</dcterms:modified>
</cp:coreProperties>
</file>