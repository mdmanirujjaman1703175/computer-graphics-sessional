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9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0" r:id="rId19"/>
    <p:sldId id="273" r:id="rId20"/>
    <p:sldId id="282" r:id="rId21"/>
    <p:sldId id="283" r:id="rId22"/>
    <p:sldId id="284" r:id="rId23"/>
    <p:sldId id="281" r:id="rId24"/>
    <p:sldId id="274" r:id="rId25"/>
    <p:sldId id="275" r:id="rId26"/>
    <p:sldId id="276" r:id="rId27"/>
    <p:sldId id="277" r:id="rId28"/>
    <p:sldId id="285" r:id="rId29"/>
    <p:sldId id="286" r:id="rId30"/>
    <p:sldId id="287" r:id="rId31"/>
    <p:sldId id="288" r:id="rId32"/>
    <p:sldId id="289" r:id="rId33"/>
    <p:sldId id="290" r:id="rId34"/>
    <p:sldId id="279" r:id="rId3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FA856-BB6A-443E-93BA-45A1BA32AB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4D2E8-8074-4C43-B636-B23A4082B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5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89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Enlarged images look jagged or blocky because each new pixel just copies the nearest pixel. Sharp edges may appear distorted or “</a:t>
            </a:r>
            <a:r>
              <a:rPr lang="en-US" dirty="0" err="1"/>
              <a:t>staircased</a:t>
            </a:r>
            <a:r>
              <a:rPr lang="en-US" dirty="0"/>
              <a:t>” (jagged lines).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64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process if we implement this in MATLAB normalize differently. Instead of taking intervals it takes </a:t>
            </a:r>
            <a:r>
              <a:rPr lang="en-US" b="1" dirty="0"/>
              <a:t>the relative position within 4 output points.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77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1DBDF-B5BE-3253-4807-4024185C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956B8-516C-88DE-5905-F29EA31F0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E5C90-022A-306A-2142-C285DCFF6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process if we implement this in MATLAB normalize differently. Instead of taking intervals it takes </a:t>
            </a:r>
            <a:r>
              <a:rPr lang="en-US" b="1" dirty="0"/>
              <a:t>the relative position within 4 output points.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971D2-A273-5A23-8BAB-047F9ECBA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94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9C7B-C40F-FA47-E6B3-61205EAF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4A762-7A5C-040E-0487-A0F8E93A6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2CCC2-5FAB-3887-B999-33C8EA71F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process if we implement this in MATLAB normalize differently. Instead of taking intervals it takes </a:t>
            </a:r>
            <a:r>
              <a:rPr lang="en-US" b="1" dirty="0"/>
              <a:t>the relative position within 4 output points.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1EFF9-D5AE-E78C-57B0-DA52FEBDA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9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A8E7D-A9F5-D6F0-CA71-0FEF5B2C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05448-A50B-2B48-08EE-1307D62E1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3B4D7E-E0C1-DFC1-9205-EEA8A8D93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process if we implement this in MATLAB normalize differently. Instead of taking intervals it takes </a:t>
            </a:r>
            <a:r>
              <a:rPr lang="en-US" b="1" dirty="0"/>
              <a:t>the relative position within 4 output points.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75E88-D58A-6555-3E8D-6E4DFA5CE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1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143C2-E070-1427-2296-AB62B1ED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41C81-D01F-D4F8-C308-A27332081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37A58-430E-0E16-F8D4-14D19E353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process if we implement this in MATLAB normalize differently. Instead of taking intervals it takes </a:t>
            </a:r>
            <a:r>
              <a:rPr lang="en-US" b="1" dirty="0"/>
              <a:t>the relative position within 4 output points.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68006-7FAE-6B99-3301-6D92CD78A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02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process if we implement this in MATLAB normalize differently. Instead of taking intervals it takes </a:t>
            </a:r>
            <a:r>
              <a:rPr lang="en-US" b="1" dirty="0"/>
              <a:t>the relative position within 4 output points.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51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process if we implement this in MATLAB normalize differently. Instead of taking intervals it takes </a:t>
            </a:r>
            <a:r>
              <a:rPr lang="en-US" b="1" dirty="0"/>
              <a:t>the relative position within 4 output points.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59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process if we implement this in MATLAB normalize differently. Instead of taking intervals it takes </a:t>
            </a:r>
            <a:r>
              <a:rPr lang="en-US" b="1" dirty="0"/>
              <a:t>the relative position within 4 output points.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4D2E8-8074-4C43-B636-B23A4082B8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91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6324" y="926338"/>
            <a:ext cx="540258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324" y="907237"/>
            <a:ext cx="9034780" cy="7866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4580" y="1816306"/>
            <a:ext cx="10087610" cy="3759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6324" y="6570319"/>
            <a:ext cx="52387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174360" y="6570319"/>
            <a:ext cx="184785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75593" y="6560894"/>
            <a:ext cx="1981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0875" y="1564937"/>
            <a:ext cx="10069830" cy="213904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720465" marR="5080" indent="-3708400">
              <a:lnSpc>
                <a:spcPts val="4900"/>
              </a:lnSpc>
              <a:spcBef>
                <a:spcPts val="980"/>
              </a:spcBef>
            </a:pPr>
            <a:r>
              <a:rPr sz="4400" i="1" spc="-25" dirty="0">
                <a:solidFill>
                  <a:srgbClr val="252525"/>
                </a:solidFill>
                <a:latin typeface="Times New Roman"/>
                <a:cs typeface="Times New Roman"/>
              </a:rPr>
              <a:t>Chapter</a:t>
            </a:r>
            <a:r>
              <a:rPr sz="4400" i="1" spc="-2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4400" i="1" spc="-200" dirty="0">
                <a:solidFill>
                  <a:srgbClr val="252525"/>
                </a:solidFill>
                <a:latin typeface="Times New Roman"/>
                <a:cs typeface="Times New Roman"/>
              </a:rPr>
              <a:t>2</a:t>
            </a:r>
            <a:r>
              <a:rPr sz="4400" i="1" spc="-1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4400" i="1" dirty="0">
                <a:solidFill>
                  <a:srgbClr val="252525"/>
                </a:solidFill>
                <a:latin typeface="Times New Roman"/>
                <a:cs typeface="Times New Roman"/>
              </a:rPr>
              <a:t>~</a:t>
            </a:r>
            <a:r>
              <a:rPr sz="4400" i="1" spc="-1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4400" i="1" spc="-60" dirty="0">
                <a:latin typeface="Times New Roman"/>
                <a:cs typeface="Times New Roman"/>
              </a:rPr>
              <a:t>SPATIAL AND	INTENSITY RESOLUTION</a:t>
            </a:r>
          </a:p>
          <a:p>
            <a:pPr marL="3720465" marR="5080" indent="-3708400">
              <a:lnSpc>
                <a:spcPts val="4900"/>
              </a:lnSpc>
              <a:spcBef>
                <a:spcPts val="980"/>
              </a:spcBef>
            </a:pP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7200" y="2963629"/>
            <a:ext cx="36576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02310" algn="l">
              <a:spcBef>
                <a:spcPts val="100"/>
              </a:spcBef>
            </a:pPr>
            <a:r>
              <a:rPr lang="en-US" sz="2000" b="1" i="1" dirty="0">
                <a:latin typeface="Times New Roman"/>
                <a:cs typeface="Times New Roman"/>
              </a:rPr>
              <a:t>        Created By</a:t>
            </a:r>
          </a:p>
          <a:p>
            <a:pPr marL="12700" marR="5080" indent="702310" algn="l">
              <a:spcBef>
                <a:spcPts val="100"/>
              </a:spcBef>
            </a:pPr>
            <a:r>
              <a:rPr sz="2000" b="1" i="1" dirty="0">
                <a:latin typeface="Times New Roman"/>
                <a:cs typeface="Times New Roman"/>
              </a:rPr>
              <a:t>S.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M.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Mahedy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Hasan </a:t>
            </a:r>
            <a:r>
              <a:rPr sz="2000" i="1" dirty="0">
                <a:latin typeface="Times New Roman"/>
                <a:cs typeface="Times New Roman"/>
              </a:rPr>
              <a:t>Assistant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30" dirty="0">
                <a:latin typeface="Times New Roman"/>
                <a:cs typeface="Times New Roman"/>
              </a:rPr>
              <a:t>Professor,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Dept.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CSE </a:t>
            </a:r>
            <a:r>
              <a:rPr sz="2000" i="1" spc="-10" dirty="0">
                <a:latin typeface="Times New Roman"/>
                <a:cs typeface="Times New Roman"/>
              </a:rPr>
              <a:t>RUET,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Rajshahi-</a:t>
            </a:r>
            <a:r>
              <a:rPr sz="2000" i="1" dirty="0">
                <a:latin typeface="Times New Roman"/>
                <a:cs typeface="Times New Roman"/>
              </a:rPr>
              <a:t>6204,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Bangladesh.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86DCF-6AF3-867F-E1AB-83DBF3F76FBF}"/>
              </a:ext>
            </a:extLst>
          </p:cNvPr>
          <p:cNvSpPr txBox="1"/>
          <p:nvPr/>
        </p:nvSpPr>
        <p:spPr>
          <a:xfrm>
            <a:off x="4471997" y="4361379"/>
            <a:ext cx="32480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by </a:t>
            </a:r>
          </a:p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Manirujjaman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Lecturer, Dept. of CSE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DIU,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Satarkul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Badda, Dhaka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3B348-3B74-9514-55D4-C1104B33D07C}"/>
              </a:ext>
            </a:extLst>
          </p:cNvPr>
          <p:cNvCxnSpPr>
            <a:cxnSpLocks/>
          </p:cNvCxnSpPr>
          <p:nvPr/>
        </p:nvCxnSpPr>
        <p:spPr>
          <a:xfrm>
            <a:off x="1220875" y="1599777"/>
            <a:ext cx="9448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F2B834-8331-0306-4C57-5805F75B9F52}"/>
              </a:ext>
            </a:extLst>
          </p:cNvPr>
          <p:cNvCxnSpPr>
            <a:cxnSpLocks/>
          </p:cNvCxnSpPr>
          <p:nvPr/>
        </p:nvCxnSpPr>
        <p:spPr>
          <a:xfrm>
            <a:off x="3581400" y="2960396"/>
            <a:ext cx="4724400" cy="3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IU Logo">
            <a:extLst>
              <a:ext uri="{FF2B5EF4-FFF2-40B4-BE49-F238E27FC236}">
                <a16:creationId xmlns:a16="http://schemas.microsoft.com/office/drawing/2014/main" id="{5FD7247E-B3C0-280A-34B4-0A9709A88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4413"/>
            <a:ext cx="7948982" cy="157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latin typeface="Times New Roman"/>
                <a:cs typeface="Times New Roman"/>
              </a:rPr>
              <a:t>Image</a:t>
            </a:r>
            <a:r>
              <a:rPr b="0" spc="-250" dirty="0">
                <a:latin typeface="Times New Roman"/>
                <a:cs typeface="Times New Roman"/>
              </a:rPr>
              <a:t> </a:t>
            </a:r>
            <a:r>
              <a:rPr b="0" spc="-40" dirty="0">
                <a:latin typeface="Times New Roman"/>
                <a:cs typeface="Times New Roman"/>
              </a:rPr>
              <a:t>Sampling</a:t>
            </a:r>
            <a:r>
              <a:rPr b="0" spc="-229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245" dirty="0">
                <a:latin typeface="Times New Roman"/>
                <a:cs typeface="Times New Roman"/>
              </a:rPr>
              <a:t> </a:t>
            </a:r>
            <a:r>
              <a:rPr b="0" spc="-30" dirty="0">
                <a:latin typeface="Times New Roman"/>
                <a:cs typeface="Times New Roman"/>
              </a:rPr>
              <a:t>Quantization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11454" indent="-201295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b="1" dirty="0">
                <a:latin typeface="Times New Roman"/>
                <a:cs typeface="Times New Roman"/>
              </a:rPr>
              <a:t>Image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sampling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dirty="0"/>
              <a:t>involves</a:t>
            </a:r>
            <a:r>
              <a:rPr spc="-10" dirty="0"/>
              <a:t> </a:t>
            </a:r>
            <a:r>
              <a:rPr dirty="0"/>
              <a:t>taking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value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image</a:t>
            </a:r>
            <a:r>
              <a:rPr spc="-10" dirty="0"/>
              <a:t> </a:t>
            </a:r>
            <a:r>
              <a:rPr dirty="0"/>
              <a:t>at</a:t>
            </a:r>
            <a:r>
              <a:rPr spc="-20" dirty="0"/>
              <a:t> </a:t>
            </a:r>
            <a:r>
              <a:rPr dirty="0"/>
              <a:t>regular</a:t>
            </a:r>
            <a:r>
              <a:rPr spc="-15" dirty="0"/>
              <a:t> </a:t>
            </a:r>
            <a:r>
              <a:rPr dirty="0"/>
              <a:t>spatial</a:t>
            </a:r>
            <a:r>
              <a:rPr spc="-20" dirty="0"/>
              <a:t> </a:t>
            </a:r>
            <a:r>
              <a:rPr dirty="0"/>
              <a:t>intervals.</a:t>
            </a:r>
            <a:r>
              <a:rPr spc="-1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length</a:t>
            </a:r>
            <a:r>
              <a:rPr spc="-25" dirty="0"/>
              <a:t> of</a:t>
            </a: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intervals</a:t>
            </a:r>
            <a:r>
              <a:rPr spc="-50" dirty="0"/>
              <a:t> </a:t>
            </a:r>
            <a:r>
              <a:rPr dirty="0"/>
              <a:t>defines</a:t>
            </a:r>
            <a:r>
              <a:rPr spc="-3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spatial</a:t>
            </a:r>
            <a:r>
              <a:rPr spc="-35" dirty="0"/>
              <a:t> </a:t>
            </a:r>
            <a:r>
              <a:rPr dirty="0"/>
              <a:t>resolution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image.</a:t>
            </a:r>
          </a:p>
          <a:p>
            <a:pPr marL="104139" marR="5080" indent="-94615">
              <a:lnSpc>
                <a:spcPct val="150000"/>
              </a:lnSpc>
              <a:spcBef>
                <a:spcPts val="140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104139" algn="l"/>
                <a:tab pos="210820" algn="l"/>
              </a:tabLst>
            </a:pPr>
            <a:r>
              <a:rPr dirty="0"/>
              <a:t>	If</a:t>
            </a:r>
            <a:r>
              <a:rPr spc="45" dirty="0"/>
              <a:t> </a:t>
            </a:r>
            <a:r>
              <a:rPr dirty="0"/>
              <a:t>we</a:t>
            </a:r>
            <a:r>
              <a:rPr spc="30" dirty="0"/>
              <a:t> </a:t>
            </a:r>
            <a:r>
              <a:rPr dirty="0"/>
              <a:t>increase</a:t>
            </a:r>
            <a:r>
              <a:rPr spc="3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number</a:t>
            </a:r>
            <a:r>
              <a:rPr spc="4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dirty="0"/>
              <a:t>pixels</a:t>
            </a:r>
            <a:r>
              <a:rPr spc="30" dirty="0"/>
              <a:t> </a:t>
            </a:r>
            <a:r>
              <a:rPr dirty="0"/>
              <a:t>in</a:t>
            </a:r>
            <a:r>
              <a:rPr spc="4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image,</a:t>
            </a:r>
            <a:r>
              <a:rPr spc="50" dirty="0"/>
              <a:t> </a:t>
            </a:r>
            <a:r>
              <a:rPr dirty="0"/>
              <a:t>we</a:t>
            </a:r>
            <a:r>
              <a:rPr spc="45" dirty="0"/>
              <a:t> </a:t>
            </a:r>
            <a:r>
              <a:rPr dirty="0"/>
              <a:t>can</a:t>
            </a:r>
            <a:r>
              <a:rPr spc="35" dirty="0"/>
              <a:t> </a:t>
            </a:r>
            <a:r>
              <a:rPr dirty="0"/>
              <a:t>better</a:t>
            </a:r>
            <a:r>
              <a:rPr spc="35" dirty="0"/>
              <a:t> </a:t>
            </a:r>
            <a:r>
              <a:rPr dirty="0"/>
              <a:t>represent</a:t>
            </a:r>
            <a:r>
              <a:rPr spc="40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dirty="0"/>
              <a:t>analog</a:t>
            </a:r>
            <a:r>
              <a:rPr spc="45" dirty="0"/>
              <a:t> </a:t>
            </a:r>
            <a:r>
              <a:rPr dirty="0"/>
              <a:t>object</a:t>
            </a:r>
            <a:r>
              <a:rPr spc="35" dirty="0"/>
              <a:t> </a:t>
            </a:r>
            <a:r>
              <a:rPr dirty="0"/>
              <a:t>into</a:t>
            </a:r>
            <a:r>
              <a:rPr spc="35" dirty="0"/>
              <a:t> </a:t>
            </a:r>
            <a:r>
              <a:rPr spc="-50" dirty="0"/>
              <a:t>a </a:t>
            </a:r>
            <a:r>
              <a:rPr dirty="0"/>
              <a:t>digital</a:t>
            </a:r>
            <a:r>
              <a:rPr spc="-25" dirty="0"/>
              <a:t> </a:t>
            </a:r>
            <a:r>
              <a:rPr spc="-10" dirty="0"/>
              <a:t>image.</a:t>
            </a: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E38312"/>
              </a:buClr>
              <a:buFont typeface="Wingdings"/>
              <a:buChar char=""/>
            </a:pPr>
            <a:endParaRPr spc="-10" dirty="0"/>
          </a:p>
          <a:p>
            <a:pPr marL="212090" indent="-201930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12090" algn="l"/>
              </a:tabLst>
            </a:pPr>
            <a:r>
              <a:rPr b="1" dirty="0">
                <a:latin typeface="Times New Roman"/>
                <a:cs typeface="Times New Roman"/>
              </a:rPr>
              <a:t>Image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quantization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dirty="0"/>
              <a:t>involves</a:t>
            </a:r>
            <a:r>
              <a:rPr spc="-55" dirty="0"/>
              <a:t> </a:t>
            </a:r>
            <a:r>
              <a:rPr dirty="0"/>
              <a:t>discretizing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intensity</a:t>
            </a:r>
            <a:r>
              <a:rPr spc="-45" dirty="0"/>
              <a:t> </a:t>
            </a:r>
            <a:r>
              <a:rPr dirty="0"/>
              <a:t>values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analog</a:t>
            </a:r>
            <a:r>
              <a:rPr spc="-30" dirty="0"/>
              <a:t> </a:t>
            </a:r>
            <a:r>
              <a:rPr spc="-10" dirty="0"/>
              <a:t>image.</a:t>
            </a:r>
          </a:p>
          <a:p>
            <a:pPr marL="104139" marR="6985" indent="-94615">
              <a:lnSpc>
                <a:spcPct val="150000"/>
              </a:lnSpc>
              <a:spcBef>
                <a:spcPts val="1410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104139" algn="l"/>
                <a:tab pos="210820" algn="l"/>
              </a:tabLst>
            </a:pPr>
            <a:r>
              <a:rPr dirty="0"/>
              <a:t>	If</a:t>
            </a:r>
            <a:r>
              <a:rPr spc="390" dirty="0"/>
              <a:t> </a:t>
            </a:r>
            <a:r>
              <a:rPr dirty="0"/>
              <a:t>we</a:t>
            </a:r>
            <a:r>
              <a:rPr spc="390" dirty="0"/>
              <a:t> </a:t>
            </a:r>
            <a:r>
              <a:rPr dirty="0"/>
              <a:t>increase</a:t>
            </a:r>
            <a:r>
              <a:rPr spc="375" dirty="0"/>
              <a:t> </a:t>
            </a:r>
            <a:r>
              <a:rPr dirty="0"/>
              <a:t>the</a:t>
            </a:r>
            <a:r>
              <a:rPr spc="390" dirty="0"/>
              <a:t> </a:t>
            </a:r>
            <a:r>
              <a:rPr dirty="0"/>
              <a:t>number</a:t>
            </a:r>
            <a:r>
              <a:rPr spc="375" dirty="0"/>
              <a:t> </a:t>
            </a:r>
            <a:r>
              <a:rPr dirty="0"/>
              <a:t>of</a:t>
            </a:r>
            <a:r>
              <a:rPr spc="395" dirty="0"/>
              <a:t> </a:t>
            </a:r>
            <a:r>
              <a:rPr dirty="0"/>
              <a:t>discrete</a:t>
            </a:r>
            <a:r>
              <a:rPr spc="390" dirty="0"/>
              <a:t> </a:t>
            </a:r>
            <a:r>
              <a:rPr dirty="0"/>
              <a:t>values</a:t>
            </a:r>
            <a:r>
              <a:rPr spc="390" dirty="0"/>
              <a:t> </a:t>
            </a:r>
            <a:r>
              <a:rPr dirty="0"/>
              <a:t>representing</a:t>
            </a:r>
            <a:r>
              <a:rPr spc="390" dirty="0"/>
              <a:t> </a:t>
            </a:r>
            <a:r>
              <a:rPr dirty="0"/>
              <a:t>the</a:t>
            </a:r>
            <a:r>
              <a:rPr spc="390" dirty="0"/>
              <a:t> </a:t>
            </a:r>
            <a:r>
              <a:rPr dirty="0"/>
              <a:t>image</a:t>
            </a:r>
            <a:r>
              <a:rPr spc="390" dirty="0"/>
              <a:t> </a:t>
            </a:r>
            <a:r>
              <a:rPr dirty="0"/>
              <a:t>intensity</a:t>
            </a:r>
            <a:r>
              <a:rPr spc="385" dirty="0"/>
              <a:t> </a:t>
            </a:r>
            <a:r>
              <a:rPr dirty="0"/>
              <a:t>values</a:t>
            </a:r>
            <a:r>
              <a:rPr spc="400" dirty="0"/>
              <a:t> </a:t>
            </a:r>
            <a:r>
              <a:rPr dirty="0"/>
              <a:t>in</a:t>
            </a:r>
            <a:r>
              <a:rPr spc="400" dirty="0"/>
              <a:t> </a:t>
            </a:r>
            <a:r>
              <a:rPr spc="-25" dirty="0"/>
              <a:t>the </a:t>
            </a:r>
            <a:r>
              <a:rPr dirty="0"/>
              <a:t>image,</a:t>
            </a:r>
            <a:r>
              <a:rPr spc="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better</a:t>
            </a:r>
            <a:r>
              <a:rPr spc="-20" dirty="0"/>
              <a:t> </a:t>
            </a:r>
            <a:r>
              <a:rPr dirty="0"/>
              <a:t>we</a:t>
            </a:r>
            <a:r>
              <a:rPr spc="-5" dirty="0"/>
              <a:t> </a:t>
            </a:r>
            <a:r>
              <a:rPr dirty="0"/>
              <a:t>can</a:t>
            </a:r>
            <a:r>
              <a:rPr spc="-5" dirty="0"/>
              <a:t> </a:t>
            </a:r>
            <a:r>
              <a:rPr dirty="0"/>
              <a:t>represent</a:t>
            </a:r>
            <a:r>
              <a:rPr spc="-45" dirty="0"/>
              <a:t> </a:t>
            </a:r>
            <a:r>
              <a:rPr dirty="0"/>
              <a:t>an</a:t>
            </a:r>
            <a:r>
              <a:rPr spc="-10" dirty="0"/>
              <a:t> </a:t>
            </a:r>
            <a:r>
              <a:rPr dirty="0"/>
              <a:t>analog</a:t>
            </a:r>
            <a:r>
              <a:rPr spc="-25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dirty="0"/>
              <a:t>into</a:t>
            </a:r>
            <a:r>
              <a:rPr spc="-2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digital</a:t>
            </a:r>
            <a:r>
              <a:rPr spc="-40" dirty="0"/>
              <a:t> </a:t>
            </a:r>
            <a:r>
              <a:rPr spc="-10" dirty="0"/>
              <a:t>image.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latin typeface="Times New Roman"/>
                <a:cs typeface="Times New Roman"/>
              </a:rPr>
              <a:t>Image</a:t>
            </a:r>
            <a:r>
              <a:rPr b="0" spc="-250" dirty="0">
                <a:latin typeface="Times New Roman"/>
                <a:cs typeface="Times New Roman"/>
              </a:rPr>
              <a:t> </a:t>
            </a:r>
            <a:r>
              <a:rPr b="0" spc="-40" dirty="0">
                <a:latin typeface="Times New Roman"/>
                <a:cs typeface="Times New Roman"/>
              </a:rPr>
              <a:t>Sampling</a:t>
            </a:r>
            <a:r>
              <a:rPr b="0" spc="-229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245" dirty="0">
                <a:latin typeface="Times New Roman"/>
                <a:cs typeface="Times New Roman"/>
              </a:rPr>
              <a:t> </a:t>
            </a:r>
            <a:r>
              <a:rPr b="0" spc="-30" dirty="0">
                <a:latin typeface="Times New Roman"/>
                <a:cs typeface="Times New Roman"/>
              </a:rPr>
              <a:t>Quantization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22830"/>
            <a:ext cx="10083800" cy="2183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5250">
              <a:lnSpc>
                <a:spcPct val="150000"/>
              </a:lnSpc>
              <a:spcBef>
                <a:spcPts val="100"/>
              </a:spcBef>
              <a:buSzPct val="91666"/>
              <a:buFont typeface="Wingdings"/>
              <a:buChar char=""/>
              <a:tabLst>
                <a:tab pos="104139" algn="l"/>
                <a:tab pos="191135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	Widely</a:t>
            </a:r>
            <a:r>
              <a:rPr sz="1800" b="1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1800" b="1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definition</a:t>
            </a:r>
            <a:r>
              <a:rPr sz="1800" b="1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b="1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b="1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resolution</a:t>
            </a:r>
            <a:r>
              <a:rPr sz="1800" b="1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3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largest</a:t>
            </a:r>
            <a:r>
              <a:rPr sz="1800" spc="3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18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discernible</a:t>
            </a:r>
            <a:r>
              <a:rPr sz="18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line</a:t>
            </a:r>
            <a:r>
              <a:rPr sz="1800" b="1" spc="3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pairs</a:t>
            </a:r>
            <a:r>
              <a:rPr sz="1800" b="1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per</a:t>
            </a:r>
            <a:r>
              <a:rPr sz="1800" b="1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unit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distance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191770" indent="-182245">
              <a:lnSpc>
                <a:spcPct val="100000"/>
              </a:lnSpc>
              <a:spcBef>
                <a:spcPts val="1275"/>
              </a:spcBef>
              <a:buSzPct val="91666"/>
              <a:buFont typeface="Wingdings"/>
              <a:buChar char=""/>
              <a:tabLst>
                <a:tab pos="19177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printing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publishing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industry,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dots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per</a:t>
            </a:r>
            <a:r>
              <a:rPr sz="18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unit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distance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measure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resolution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used.</a:t>
            </a:r>
            <a:endParaRPr sz="1800">
              <a:latin typeface="Times New Roman"/>
              <a:cs typeface="Times New Roman"/>
            </a:endParaRPr>
          </a:p>
          <a:p>
            <a:pPr marL="182245" marR="2526030" lvl="1" indent="-182245" algn="r">
              <a:lnSpc>
                <a:spcPct val="100000"/>
              </a:lnSpc>
              <a:spcBef>
                <a:spcPts val="1280"/>
              </a:spcBef>
              <a:buSzPct val="94444"/>
              <a:buFont typeface="Wingdings"/>
              <a:buChar char=""/>
              <a:tabLst>
                <a:tab pos="182245" algn="l"/>
              </a:tabLst>
            </a:pPr>
            <a:r>
              <a:rPr sz="1800" dirty="0">
                <a:latin typeface="Times New Roman"/>
                <a:cs typeface="Times New Roman"/>
              </a:rPr>
              <a:t>Example: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U.S</a:t>
            </a:r>
            <a:r>
              <a:rPr sz="1800" dirty="0">
                <a:latin typeface="Times New Roman"/>
                <a:cs typeface="Times New Roman"/>
              </a:rPr>
              <a:t>.,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measure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usually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expressed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dots</a:t>
            </a:r>
            <a:r>
              <a:rPr sz="1800" b="1" i="1" spc="-3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per</a:t>
            </a:r>
            <a:r>
              <a:rPr sz="1800" b="1" i="1" spc="-10" dirty="0">
                <a:latin typeface="Times New Roman"/>
                <a:cs typeface="Times New Roman"/>
              </a:rPr>
              <a:t> inch(dpi)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179070" marR="2468245" indent="-179070" algn="r">
              <a:lnSpc>
                <a:spcPct val="100000"/>
              </a:lnSpc>
              <a:spcBef>
                <a:spcPts val="1480"/>
              </a:spcBef>
              <a:buSzPct val="91666"/>
              <a:buFont typeface="Wingdings"/>
              <a:buChar char=""/>
              <a:tabLst>
                <a:tab pos="179070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Sampling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principle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factor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determining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spatial</a:t>
            </a:r>
            <a:r>
              <a:rPr sz="18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resolution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35" dirty="0">
                <a:latin typeface="Times New Roman"/>
                <a:cs typeface="Times New Roman"/>
              </a:rPr>
              <a:t>Spatial</a:t>
            </a:r>
            <a:r>
              <a:rPr b="0" spc="-250" dirty="0">
                <a:latin typeface="Times New Roman"/>
                <a:cs typeface="Times New Roman"/>
              </a:rPr>
              <a:t> </a:t>
            </a:r>
            <a:r>
              <a:rPr b="0" spc="-40" dirty="0">
                <a:latin typeface="Times New Roman"/>
                <a:cs typeface="Times New Roman"/>
              </a:rPr>
              <a:t>Resolution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4639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b="1" dirty="0">
                <a:latin typeface="Times New Roman"/>
                <a:cs typeface="Times New Roman"/>
              </a:rPr>
              <a:t>Intuitively</a:t>
            </a:r>
            <a:r>
              <a:rPr dirty="0"/>
              <a:t>,</a:t>
            </a:r>
            <a:r>
              <a:rPr spc="-55" dirty="0"/>
              <a:t> </a:t>
            </a:r>
            <a:r>
              <a:rPr b="1" dirty="0">
                <a:latin typeface="Times New Roman"/>
                <a:cs typeface="Times New Roman"/>
              </a:rPr>
              <a:t>spatial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resolution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measure</a:t>
            </a:r>
            <a:r>
              <a:rPr spc="-2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smallest</a:t>
            </a:r>
            <a:r>
              <a:rPr spc="-25" dirty="0"/>
              <a:t> </a:t>
            </a:r>
            <a:r>
              <a:rPr dirty="0"/>
              <a:t>discernible</a:t>
            </a:r>
            <a:r>
              <a:rPr spc="-50" dirty="0"/>
              <a:t> </a:t>
            </a:r>
            <a:r>
              <a:rPr dirty="0"/>
              <a:t>detail</a:t>
            </a:r>
            <a:r>
              <a:rPr spc="-2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spc="-10" dirty="0"/>
              <a:t>image.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E38312"/>
              </a:buClr>
              <a:buFont typeface="Wingdings"/>
              <a:buChar char=""/>
            </a:pPr>
            <a:endParaRPr spc="-10" dirty="0"/>
          </a:p>
          <a:p>
            <a:pPr marL="239395" indent="-226695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b="1" dirty="0">
                <a:latin typeface="Times New Roman"/>
                <a:cs typeface="Times New Roman"/>
              </a:rPr>
              <a:t>Quantitatively</a:t>
            </a:r>
            <a:r>
              <a:rPr dirty="0"/>
              <a:t>,</a:t>
            </a:r>
            <a:r>
              <a:rPr spc="160" dirty="0"/>
              <a:t> </a:t>
            </a:r>
            <a:r>
              <a:rPr b="1" dirty="0">
                <a:latin typeface="Times New Roman"/>
                <a:cs typeface="Times New Roman"/>
              </a:rPr>
              <a:t>spatial</a:t>
            </a:r>
            <a:r>
              <a:rPr b="1" spc="1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resolution</a:t>
            </a:r>
            <a:r>
              <a:rPr b="1" spc="165" dirty="0">
                <a:latin typeface="Times New Roman"/>
                <a:cs typeface="Times New Roman"/>
              </a:rPr>
              <a:t> </a:t>
            </a:r>
            <a:r>
              <a:rPr dirty="0"/>
              <a:t>can</a:t>
            </a:r>
            <a:r>
              <a:rPr spc="150" dirty="0"/>
              <a:t> </a:t>
            </a:r>
            <a:r>
              <a:rPr dirty="0"/>
              <a:t>be</a:t>
            </a:r>
            <a:r>
              <a:rPr spc="145" dirty="0"/>
              <a:t> </a:t>
            </a:r>
            <a:r>
              <a:rPr dirty="0"/>
              <a:t>stated</a:t>
            </a:r>
            <a:r>
              <a:rPr spc="155" dirty="0"/>
              <a:t> </a:t>
            </a:r>
            <a:r>
              <a:rPr dirty="0"/>
              <a:t>in</a:t>
            </a:r>
            <a:r>
              <a:rPr spc="165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dirty="0"/>
              <a:t>number</a:t>
            </a:r>
            <a:r>
              <a:rPr spc="170" dirty="0"/>
              <a:t> </a:t>
            </a:r>
            <a:r>
              <a:rPr dirty="0"/>
              <a:t>of</a:t>
            </a:r>
            <a:r>
              <a:rPr spc="160" dirty="0"/>
              <a:t> </a:t>
            </a:r>
            <a:r>
              <a:rPr dirty="0"/>
              <a:t>ways,</a:t>
            </a:r>
            <a:r>
              <a:rPr spc="145" dirty="0"/>
              <a:t> </a:t>
            </a:r>
            <a:r>
              <a:rPr dirty="0"/>
              <a:t>with</a:t>
            </a:r>
            <a:r>
              <a:rPr spc="160" dirty="0"/>
              <a:t> </a:t>
            </a:r>
            <a:r>
              <a:rPr dirty="0"/>
              <a:t>line</a:t>
            </a:r>
            <a:r>
              <a:rPr spc="155" dirty="0"/>
              <a:t> </a:t>
            </a:r>
            <a:r>
              <a:rPr dirty="0"/>
              <a:t>pairs</a:t>
            </a:r>
            <a:r>
              <a:rPr spc="155" dirty="0"/>
              <a:t> </a:t>
            </a:r>
            <a:r>
              <a:rPr dirty="0"/>
              <a:t>per</a:t>
            </a:r>
            <a:r>
              <a:rPr spc="170" dirty="0"/>
              <a:t> </a:t>
            </a:r>
            <a:r>
              <a:rPr spc="-20" dirty="0"/>
              <a:t>unit</a:t>
            </a:r>
          </a:p>
          <a:p>
            <a:pPr marL="104139">
              <a:lnSpc>
                <a:spcPct val="100000"/>
              </a:lnSpc>
              <a:spcBef>
                <a:spcPts val="1205"/>
              </a:spcBef>
            </a:pPr>
            <a:r>
              <a:rPr dirty="0"/>
              <a:t>distance,</a:t>
            </a:r>
            <a:r>
              <a:rPr spc="-4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dots</a:t>
            </a:r>
            <a:r>
              <a:rPr spc="-30" dirty="0"/>
              <a:t> </a:t>
            </a:r>
            <a:r>
              <a:rPr dirty="0"/>
              <a:t>(pixels)</a:t>
            </a:r>
            <a:r>
              <a:rPr spc="-40" dirty="0"/>
              <a:t> </a:t>
            </a:r>
            <a:r>
              <a:rPr dirty="0"/>
              <a:t>per</a:t>
            </a:r>
            <a:r>
              <a:rPr spc="-20" dirty="0"/>
              <a:t> </a:t>
            </a:r>
            <a:r>
              <a:rPr dirty="0"/>
              <a:t>unit</a:t>
            </a:r>
            <a:r>
              <a:rPr spc="-35" dirty="0"/>
              <a:t> </a:t>
            </a:r>
            <a:r>
              <a:rPr dirty="0"/>
              <a:t>distance</a:t>
            </a:r>
            <a:r>
              <a:rPr spc="-25" dirty="0"/>
              <a:t> </a:t>
            </a:r>
            <a:r>
              <a:rPr dirty="0"/>
              <a:t>being</a:t>
            </a:r>
            <a:r>
              <a:rPr spc="-25" dirty="0"/>
              <a:t> </a:t>
            </a:r>
            <a:r>
              <a:rPr dirty="0"/>
              <a:t>among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most</a:t>
            </a:r>
            <a:r>
              <a:rPr spc="-10" dirty="0"/>
              <a:t> </a:t>
            </a:r>
            <a:r>
              <a:rPr dirty="0"/>
              <a:t>common</a:t>
            </a:r>
            <a:r>
              <a:rPr spc="15" dirty="0"/>
              <a:t> </a:t>
            </a:r>
            <a:r>
              <a:rPr spc="-10" dirty="0"/>
              <a:t>measures.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Intensity</a:t>
            </a:r>
            <a:r>
              <a:rPr spc="-254" dirty="0"/>
              <a:t> </a:t>
            </a:r>
            <a:r>
              <a:rPr spc="-35" dirty="0"/>
              <a:t>Resolution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16306"/>
            <a:ext cx="10085705" cy="31242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04139" indent="-93980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95000"/>
              <a:buFont typeface="Times New Roman"/>
              <a:buChar char="-"/>
              <a:tabLst>
                <a:tab pos="104139" algn="l"/>
              </a:tabLst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(Gray-Level)</a:t>
            </a:r>
            <a:r>
              <a:rPr sz="20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resolution</a:t>
            </a:r>
            <a:r>
              <a:rPr sz="20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similarly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refers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smallest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discernible</a:t>
            </a:r>
            <a:r>
              <a:rPr sz="20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change</a:t>
            </a:r>
            <a:r>
              <a:rPr sz="20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level.</a:t>
            </a:r>
            <a:endParaRPr sz="2000">
              <a:latin typeface="Times New Roman"/>
              <a:cs typeface="Times New Roman"/>
            </a:endParaRPr>
          </a:p>
          <a:p>
            <a:pPr marL="104139" marR="423545" indent="-94615">
              <a:lnSpc>
                <a:spcPct val="150000"/>
              </a:lnSpc>
              <a:spcBef>
                <a:spcPts val="1405"/>
              </a:spcBef>
              <a:buClr>
                <a:srgbClr val="E38312"/>
              </a:buClr>
              <a:buSzPct val="95000"/>
              <a:buChar char="-"/>
              <a:tabLst>
                <a:tab pos="104139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common</a:t>
            </a:r>
            <a:r>
              <a:rPr sz="20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practice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refer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bits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quantize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intensity resolution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E38312"/>
              </a:buClr>
              <a:buFont typeface="Times New Roman"/>
              <a:buChar char="-"/>
            </a:pPr>
            <a:endParaRPr sz="2000">
              <a:latin typeface="Times New Roman"/>
              <a:cs typeface="Times New Roman"/>
            </a:endParaRPr>
          </a:p>
          <a:p>
            <a:pPr marL="103505" indent="-93345">
              <a:lnSpc>
                <a:spcPct val="100000"/>
              </a:lnSpc>
              <a:buClr>
                <a:srgbClr val="E38312"/>
              </a:buClr>
              <a:buSzPct val="95000"/>
              <a:buChar char="-"/>
              <a:tabLst>
                <a:tab pos="10350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example,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common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say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whose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quantized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256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levels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has </a:t>
            </a:r>
            <a:r>
              <a:rPr sz="20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205"/>
              </a:spcBef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bits</a:t>
            </a:r>
            <a:r>
              <a:rPr sz="20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resolution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1240281"/>
            <a:ext cx="8864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5" dirty="0"/>
              <a:t>Illustration</a:t>
            </a:r>
            <a:r>
              <a:rPr sz="2800" spc="-130" dirty="0"/>
              <a:t> </a:t>
            </a:r>
            <a:r>
              <a:rPr sz="2800" dirty="0"/>
              <a:t>of</a:t>
            </a:r>
            <a:r>
              <a:rPr sz="2800" spc="-90" dirty="0"/>
              <a:t> </a:t>
            </a:r>
            <a:r>
              <a:rPr sz="2800" spc="-25" dirty="0"/>
              <a:t>the</a:t>
            </a:r>
            <a:r>
              <a:rPr sz="2800" spc="-100" dirty="0"/>
              <a:t> </a:t>
            </a:r>
            <a:r>
              <a:rPr sz="2800" spc="-45" dirty="0"/>
              <a:t>effects</a:t>
            </a:r>
            <a:r>
              <a:rPr sz="2800" spc="-105" dirty="0"/>
              <a:t> </a:t>
            </a:r>
            <a:r>
              <a:rPr sz="2800" dirty="0"/>
              <a:t>of</a:t>
            </a:r>
            <a:r>
              <a:rPr sz="2800" spc="-90" dirty="0"/>
              <a:t> </a:t>
            </a:r>
            <a:r>
              <a:rPr sz="2800" spc="-65" dirty="0"/>
              <a:t>reducing</a:t>
            </a:r>
            <a:r>
              <a:rPr sz="2800" spc="-105" dirty="0"/>
              <a:t> </a:t>
            </a:r>
            <a:r>
              <a:rPr sz="2800" spc="-55" dirty="0"/>
              <a:t>image</a:t>
            </a:r>
            <a:r>
              <a:rPr sz="2800" spc="-114" dirty="0"/>
              <a:t> </a:t>
            </a:r>
            <a:r>
              <a:rPr sz="2800" spc="-55" dirty="0"/>
              <a:t>spatial</a:t>
            </a:r>
            <a:r>
              <a:rPr sz="2800" spc="-120" dirty="0"/>
              <a:t> </a:t>
            </a:r>
            <a:r>
              <a:rPr sz="2800" spc="-10" dirty="0"/>
              <a:t>resolution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84580" y="1871598"/>
            <a:ext cx="5708650" cy="3028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4615" algn="just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94444"/>
              <a:buFont typeface="Wingdings"/>
              <a:buChar char=""/>
              <a:tabLst>
                <a:tab pos="104139" algn="l"/>
                <a:tab pos="21399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	Figure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shows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effects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reducing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spatial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resolution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endParaRPr sz="1800" dirty="0">
              <a:latin typeface="Times New Roman"/>
              <a:cs typeface="Times New Roman"/>
            </a:endParaRPr>
          </a:p>
          <a:p>
            <a:pPr marL="215265" indent="-205104" algn="just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SzPct val="94444"/>
              <a:buFont typeface="Wingdings"/>
              <a:buChar char=""/>
              <a:tabLst>
                <a:tab pos="21526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Figs.</a:t>
            </a:r>
            <a:r>
              <a:rPr sz="18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(a)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(d)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shown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1250,</a:t>
            </a:r>
            <a:r>
              <a:rPr sz="1800" b="1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300,</a:t>
            </a:r>
            <a:endParaRPr sz="1800" dirty="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150,</a:t>
            </a:r>
            <a:r>
              <a:rPr sz="1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72 dpi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,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respectively.</a:t>
            </a:r>
            <a:endParaRPr sz="1800" dirty="0">
              <a:latin typeface="Times New Roman"/>
              <a:cs typeface="Times New Roman"/>
            </a:endParaRPr>
          </a:p>
          <a:p>
            <a:pPr marL="104139" marR="5080" indent="-94615" algn="just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SzPct val="94444"/>
              <a:buFont typeface="Wingdings"/>
              <a:buChar char=""/>
              <a:tabLst>
                <a:tab pos="104139" algn="l"/>
                <a:tab pos="213995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	Naturally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 lower resolution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smaller</a:t>
            </a:r>
            <a:r>
              <a:rPr sz="18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than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original.</a:t>
            </a:r>
            <a:endParaRPr sz="1800" dirty="0">
              <a:latin typeface="Times New Roman"/>
              <a:cs typeface="Times New Roman"/>
            </a:endParaRPr>
          </a:p>
          <a:p>
            <a:pPr marL="104139" marR="5715" indent="-94615" algn="just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SzPct val="94444"/>
              <a:buFont typeface="Wingdings"/>
              <a:buChar char=""/>
              <a:tabLst>
                <a:tab pos="104139" algn="l"/>
                <a:tab pos="21399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	For</a:t>
            </a:r>
            <a:r>
              <a:rPr sz="18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example,</a:t>
            </a:r>
            <a:r>
              <a:rPr sz="18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original</a:t>
            </a:r>
            <a:r>
              <a:rPr sz="1800" spc="3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size</a:t>
            </a:r>
            <a:r>
              <a:rPr sz="18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3692</a:t>
            </a:r>
            <a:r>
              <a:rPr sz="18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X</a:t>
            </a:r>
            <a:r>
              <a:rPr sz="18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2812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pixels,</a:t>
            </a:r>
            <a:r>
              <a:rPr sz="18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sz="18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72</a:t>
            </a:r>
            <a:r>
              <a:rPr sz="18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dpi</a:t>
            </a:r>
            <a:r>
              <a:rPr sz="18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array</a:t>
            </a:r>
            <a:r>
              <a:rPr sz="18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size</a:t>
            </a:r>
            <a:r>
              <a:rPr sz="18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213</a:t>
            </a:r>
            <a:r>
              <a:rPr sz="18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X</a:t>
            </a:r>
            <a:r>
              <a:rPr sz="18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162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pixels.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3971" y="1891526"/>
            <a:ext cx="3792995" cy="44124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98041" y="5360670"/>
            <a:ext cx="5614670" cy="78676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376555" indent="-285750">
              <a:lnSpc>
                <a:spcPct val="100000"/>
              </a:lnSpc>
              <a:spcBef>
                <a:spcPts val="915"/>
              </a:spcBef>
              <a:buFont typeface="Wingdings"/>
              <a:buChar char=""/>
              <a:tabLst>
                <a:tab pos="376555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possible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 improve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Fig.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(d)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choice</a:t>
            </a:r>
            <a:endParaRPr sz="1600">
              <a:latin typeface="Times New Roman"/>
              <a:cs typeface="Times New Roman"/>
            </a:endParaRPr>
          </a:p>
          <a:p>
            <a:pPr marL="377190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interpolation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method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used.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82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/>
              <a:t>Typical</a:t>
            </a:r>
            <a:r>
              <a:rPr sz="2400" spc="-105" dirty="0"/>
              <a:t> </a:t>
            </a:r>
            <a:r>
              <a:rPr sz="2400" spc="-50" dirty="0"/>
              <a:t>effects</a:t>
            </a:r>
            <a:r>
              <a:rPr sz="2400" spc="-114" dirty="0"/>
              <a:t> </a:t>
            </a:r>
            <a:r>
              <a:rPr sz="2400" spc="-20" dirty="0"/>
              <a:t>of</a:t>
            </a:r>
            <a:r>
              <a:rPr sz="2400" spc="-90" dirty="0"/>
              <a:t> </a:t>
            </a:r>
            <a:r>
              <a:rPr sz="2400" spc="-50" dirty="0"/>
              <a:t>varying</a:t>
            </a:r>
            <a:r>
              <a:rPr sz="2400" spc="-105" dirty="0"/>
              <a:t> </a:t>
            </a:r>
            <a:r>
              <a:rPr sz="2400" spc="-45" dirty="0"/>
              <a:t>the</a:t>
            </a:r>
            <a:r>
              <a:rPr sz="2400" spc="-90" dirty="0"/>
              <a:t> </a:t>
            </a:r>
            <a:r>
              <a:rPr sz="2400" spc="-60" dirty="0"/>
              <a:t>number</a:t>
            </a:r>
            <a:r>
              <a:rPr sz="2400" spc="-140" dirty="0"/>
              <a:t> </a:t>
            </a:r>
            <a:r>
              <a:rPr sz="2400" spc="-10" dirty="0"/>
              <a:t>of</a:t>
            </a:r>
            <a:r>
              <a:rPr sz="2400" spc="-80" dirty="0"/>
              <a:t> </a:t>
            </a:r>
            <a:r>
              <a:rPr sz="2400" spc="-55" dirty="0"/>
              <a:t>intensity</a:t>
            </a:r>
            <a:r>
              <a:rPr sz="2400" spc="-130" dirty="0"/>
              <a:t> </a:t>
            </a:r>
            <a:r>
              <a:rPr sz="2400" spc="-45" dirty="0"/>
              <a:t>levels</a:t>
            </a:r>
            <a:r>
              <a:rPr sz="2400" spc="-114" dirty="0"/>
              <a:t> </a:t>
            </a:r>
            <a:r>
              <a:rPr sz="2400" spc="-30" dirty="0"/>
              <a:t>in</a:t>
            </a:r>
            <a:r>
              <a:rPr sz="2400" spc="-100" dirty="0"/>
              <a:t> </a:t>
            </a:r>
            <a:r>
              <a:rPr sz="2400" dirty="0"/>
              <a:t>a</a:t>
            </a:r>
            <a:r>
              <a:rPr sz="2400" spc="-80" dirty="0"/>
              <a:t> </a:t>
            </a:r>
            <a:r>
              <a:rPr sz="2400" spc="-50" dirty="0"/>
              <a:t>digital</a:t>
            </a:r>
            <a:r>
              <a:rPr sz="2400" spc="-125" dirty="0"/>
              <a:t> </a:t>
            </a:r>
            <a:r>
              <a:rPr sz="2400" spc="-10" dirty="0"/>
              <a:t>image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549900" y="1816306"/>
            <a:ext cx="5621020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 marR="5080" indent="-92075" algn="just">
              <a:lnSpc>
                <a:spcPct val="150000"/>
              </a:lnSpc>
              <a:spcBef>
                <a:spcPts val="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103505" algn="l"/>
                <a:tab pos="23876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In</a:t>
            </a:r>
            <a:r>
              <a:rPr sz="2000" spc="4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2000" spc="4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example,</a:t>
            </a:r>
            <a:r>
              <a:rPr sz="2000" spc="45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2000" spc="4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keep</a:t>
            </a:r>
            <a:r>
              <a:rPr sz="2000" spc="45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4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spc="4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4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samples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constant</a:t>
            </a:r>
            <a:r>
              <a:rPr sz="2000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reduce</a:t>
            </a:r>
            <a:r>
              <a:rPr sz="2000" b="1" spc="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b="1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b="1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b="1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b="1" spc="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levels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256</a:t>
            </a:r>
            <a:r>
              <a:rPr sz="20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32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integer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powers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2.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9900" y="3517772"/>
            <a:ext cx="5518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Here,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size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452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X 374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pixels.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75460" y="1880616"/>
            <a:ext cx="3549650" cy="3950335"/>
            <a:chOff x="1775460" y="1880616"/>
            <a:chExt cx="3549650" cy="39503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5460" y="1880616"/>
              <a:ext cx="3313176" cy="39502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15255" y="3486912"/>
              <a:ext cx="609600" cy="368935"/>
            </a:xfrm>
            <a:custGeom>
              <a:avLst/>
              <a:gdLst/>
              <a:ahLst/>
              <a:cxnLst/>
              <a:rect l="l" t="t" r="r" b="b"/>
              <a:pathLst>
                <a:path w="609600" h="368935">
                  <a:moveTo>
                    <a:pt x="609600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609600" y="368807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94250" y="3510788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rebuchet MS"/>
                <a:cs typeface="Trebuchet MS"/>
              </a:rPr>
              <a:t>128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95244" y="3486911"/>
            <a:ext cx="609600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1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1800" spc="-25" dirty="0">
                <a:latin typeface="Trebuchet MS"/>
                <a:cs typeface="Trebuchet MS"/>
              </a:rPr>
              <a:t>256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06111" y="5515355"/>
            <a:ext cx="609600" cy="368935"/>
          </a:xfrm>
          <a:custGeom>
            <a:avLst/>
            <a:gdLst/>
            <a:ahLst/>
            <a:cxnLst/>
            <a:rect l="l" t="t" r="r" b="b"/>
            <a:pathLst>
              <a:path w="609600" h="368935">
                <a:moveTo>
                  <a:pt x="609600" y="0"/>
                </a:moveTo>
                <a:lnTo>
                  <a:pt x="0" y="0"/>
                </a:lnTo>
                <a:lnTo>
                  <a:pt x="0" y="368808"/>
                </a:lnTo>
                <a:lnTo>
                  <a:pt x="609600" y="368808"/>
                </a:lnTo>
                <a:lnTo>
                  <a:pt x="609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84852" y="5539536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32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57144" y="5468111"/>
            <a:ext cx="609600" cy="368935"/>
          </a:xfrm>
          <a:custGeom>
            <a:avLst/>
            <a:gdLst/>
            <a:ahLst/>
            <a:cxnLst/>
            <a:rect l="l" t="t" r="r" b="b"/>
            <a:pathLst>
              <a:path w="609600" h="368935">
                <a:moveTo>
                  <a:pt x="609600" y="0"/>
                </a:moveTo>
                <a:lnTo>
                  <a:pt x="0" y="0"/>
                </a:lnTo>
                <a:lnTo>
                  <a:pt x="0" y="368807"/>
                </a:lnTo>
                <a:lnTo>
                  <a:pt x="609600" y="368807"/>
                </a:lnTo>
                <a:lnTo>
                  <a:pt x="609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36773" y="549229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64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82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/>
              <a:t>Typical</a:t>
            </a:r>
            <a:r>
              <a:rPr sz="2400" spc="-105" dirty="0"/>
              <a:t> </a:t>
            </a:r>
            <a:r>
              <a:rPr sz="2400" spc="-50" dirty="0"/>
              <a:t>effects</a:t>
            </a:r>
            <a:r>
              <a:rPr sz="2400" spc="-114" dirty="0"/>
              <a:t> </a:t>
            </a:r>
            <a:r>
              <a:rPr sz="2400" spc="-20" dirty="0"/>
              <a:t>of</a:t>
            </a:r>
            <a:r>
              <a:rPr sz="2400" spc="-90" dirty="0"/>
              <a:t> </a:t>
            </a:r>
            <a:r>
              <a:rPr sz="2400" spc="-50" dirty="0"/>
              <a:t>varying</a:t>
            </a:r>
            <a:r>
              <a:rPr sz="2400" spc="-105" dirty="0"/>
              <a:t> </a:t>
            </a:r>
            <a:r>
              <a:rPr sz="2400" spc="-45" dirty="0"/>
              <a:t>the</a:t>
            </a:r>
            <a:r>
              <a:rPr sz="2400" spc="-90" dirty="0"/>
              <a:t> </a:t>
            </a:r>
            <a:r>
              <a:rPr sz="2400" spc="-60" dirty="0"/>
              <a:t>number</a:t>
            </a:r>
            <a:r>
              <a:rPr sz="2400" spc="-140" dirty="0"/>
              <a:t> </a:t>
            </a:r>
            <a:r>
              <a:rPr sz="2400" spc="-10" dirty="0"/>
              <a:t>of</a:t>
            </a:r>
            <a:r>
              <a:rPr sz="2400" spc="-80" dirty="0"/>
              <a:t> </a:t>
            </a:r>
            <a:r>
              <a:rPr sz="2400" spc="-55" dirty="0"/>
              <a:t>intensity</a:t>
            </a:r>
            <a:r>
              <a:rPr sz="2400" spc="-130" dirty="0"/>
              <a:t> </a:t>
            </a:r>
            <a:r>
              <a:rPr sz="2400" spc="-45" dirty="0"/>
              <a:t>levels</a:t>
            </a:r>
            <a:r>
              <a:rPr sz="2400" spc="-114" dirty="0"/>
              <a:t> </a:t>
            </a:r>
            <a:r>
              <a:rPr sz="2400" spc="-30" dirty="0"/>
              <a:t>in</a:t>
            </a:r>
            <a:r>
              <a:rPr sz="2400" spc="-100" dirty="0"/>
              <a:t> </a:t>
            </a:r>
            <a:r>
              <a:rPr sz="2400" dirty="0"/>
              <a:t>a</a:t>
            </a:r>
            <a:r>
              <a:rPr sz="2400" spc="-80" dirty="0"/>
              <a:t> </a:t>
            </a:r>
            <a:r>
              <a:rPr sz="2400" spc="-50" dirty="0"/>
              <a:t>digital</a:t>
            </a:r>
            <a:r>
              <a:rPr sz="2400" spc="-125" dirty="0"/>
              <a:t> </a:t>
            </a:r>
            <a:r>
              <a:rPr sz="2400" spc="-10" dirty="0"/>
              <a:t>image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206109" y="1816306"/>
            <a:ext cx="3867785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 marR="5080" indent="-92075">
              <a:lnSpc>
                <a:spcPct val="150000"/>
              </a:lnSpc>
              <a:spcBef>
                <a:spcPts val="9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103505" algn="l"/>
                <a:tab pos="238760" algn="l"/>
                <a:tab pos="894715" algn="l"/>
                <a:tab pos="1388745" algn="l"/>
                <a:tab pos="1772285" algn="l"/>
                <a:tab pos="1983105" algn="l"/>
                <a:tab pos="2259330" algn="l"/>
                <a:tab pos="2482850" algn="l"/>
                <a:tab pos="2663190" algn="l"/>
                <a:tab pos="2884170" algn="l"/>
                <a:tab pos="2924810" algn="l"/>
                <a:tab pos="3307715" algn="l"/>
              </a:tabLst>
            </a:pP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	The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32-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level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image,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		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however,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imperceptible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4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set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	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very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fine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structures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areas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constant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03357" y="1816306"/>
            <a:ext cx="1068705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3835" algn="just">
              <a:lnSpc>
                <a:spcPct val="150000"/>
              </a:lnSpc>
              <a:spcBef>
                <a:spcPts val="95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has</a:t>
            </a:r>
            <a:r>
              <a:rPr sz="2000" spc="170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ridge-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like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229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nearly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7548" y="3339464"/>
            <a:ext cx="48736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constant</a:t>
            </a:r>
            <a:r>
              <a:rPr sz="20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(particularly</a:t>
            </a:r>
            <a:r>
              <a:rPr sz="2000" b="1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b="1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b="1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skull)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7548" y="3645360"/>
            <a:ext cx="487235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2000" spc="4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effect,</a:t>
            </a:r>
            <a:r>
              <a:rPr sz="2000" spc="45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caused</a:t>
            </a:r>
            <a:r>
              <a:rPr sz="2000" spc="45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000" spc="459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4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2000" spc="45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4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insufficient</a:t>
            </a:r>
            <a:r>
              <a:rPr sz="2000" b="1" spc="1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2000" b="1" spc="13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b="1" spc="15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b="1" spc="1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levels</a:t>
            </a:r>
            <a:r>
              <a:rPr sz="2000" b="1" spc="1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smooth</a:t>
            </a:r>
            <a:r>
              <a:rPr sz="20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areas</a:t>
            </a:r>
            <a:r>
              <a:rPr sz="20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20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image,</a:t>
            </a:r>
            <a:r>
              <a:rPr sz="2000" spc="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called</a:t>
            </a:r>
            <a:r>
              <a:rPr sz="2000" b="1" u="sng" spc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false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contouring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75460" y="1880616"/>
            <a:ext cx="3549650" cy="3950335"/>
            <a:chOff x="1775460" y="1880616"/>
            <a:chExt cx="3549650" cy="395033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5460" y="1880616"/>
              <a:ext cx="3313176" cy="39502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715255" y="3486912"/>
              <a:ext cx="609600" cy="368935"/>
            </a:xfrm>
            <a:custGeom>
              <a:avLst/>
              <a:gdLst/>
              <a:ahLst/>
              <a:cxnLst/>
              <a:rect l="l" t="t" r="r" b="b"/>
              <a:pathLst>
                <a:path w="609600" h="368935">
                  <a:moveTo>
                    <a:pt x="609600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609600" y="368807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794250" y="3510788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rebuchet MS"/>
                <a:cs typeface="Trebuchet MS"/>
              </a:rPr>
              <a:t>128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95244" y="3486911"/>
            <a:ext cx="609600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1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1800" spc="-25" dirty="0">
                <a:latin typeface="Trebuchet MS"/>
                <a:cs typeface="Trebuchet MS"/>
              </a:rPr>
              <a:t>256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06111" y="5515355"/>
            <a:ext cx="609600" cy="368935"/>
          </a:xfrm>
          <a:custGeom>
            <a:avLst/>
            <a:gdLst/>
            <a:ahLst/>
            <a:cxnLst/>
            <a:rect l="l" t="t" r="r" b="b"/>
            <a:pathLst>
              <a:path w="609600" h="368935">
                <a:moveTo>
                  <a:pt x="609600" y="0"/>
                </a:moveTo>
                <a:lnTo>
                  <a:pt x="0" y="0"/>
                </a:lnTo>
                <a:lnTo>
                  <a:pt x="0" y="368808"/>
                </a:lnTo>
                <a:lnTo>
                  <a:pt x="609600" y="368808"/>
                </a:lnTo>
                <a:lnTo>
                  <a:pt x="609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84852" y="5539536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32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57144" y="5468111"/>
            <a:ext cx="609600" cy="368935"/>
          </a:xfrm>
          <a:custGeom>
            <a:avLst/>
            <a:gdLst/>
            <a:ahLst/>
            <a:cxnLst/>
            <a:rect l="l" t="t" r="r" b="b"/>
            <a:pathLst>
              <a:path w="609600" h="368935">
                <a:moveTo>
                  <a:pt x="609600" y="0"/>
                </a:moveTo>
                <a:lnTo>
                  <a:pt x="0" y="0"/>
                </a:lnTo>
                <a:lnTo>
                  <a:pt x="0" y="368807"/>
                </a:lnTo>
                <a:lnTo>
                  <a:pt x="609600" y="368807"/>
                </a:lnTo>
                <a:lnTo>
                  <a:pt x="609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36773" y="549229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64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5571" y="1767839"/>
            <a:ext cx="3800855" cy="4533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82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/>
              <a:t>Typical</a:t>
            </a:r>
            <a:r>
              <a:rPr sz="2400" spc="-105" dirty="0"/>
              <a:t> </a:t>
            </a:r>
            <a:r>
              <a:rPr sz="2400" spc="-50" dirty="0"/>
              <a:t>effects</a:t>
            </a:r>
            <a:r>
              <a:rPr sz="2400" spc="-114" dirty="0"/>
              <a:t> </a:t>
            </a:r>
            <a:r>
              <a:rPr sz="2400" spc="-20" dirty="0"/>
              <a:t>of</a:t>
            </a:r>
            <a:r>
              <a:rPr sz="2400" spc="-90" dirty="0"/>
              <a:t> </a:t>
            </a:r>
            <a:r>
              <a:rPr sz="2400" spc="-50" dirty="0"/>
              <a:t>varying</a:t>
            </a:r>
            <a:r>
              <a:rPr sz="2400" spc="-105" dirty="0"/>
              <a:t> </a:t>
            </a:r>
            <a:r>
              <a:rPr sz="2400" spc="-45" dirty="0"/>
              <a:t>the</a:t>
            </a:r>
            <a:r>
              <a:rPr sz="2400" spc="-90" dirty="0"/>
              <a:t> </a:t>
            </a:r>
            <a:r>
              <a:rPr sz="2400" spc="-60" dirty="0"/>
              <a:t>number</a:t>
            </a:r>
            <a:r>
              <a:rPr sz="2400" spc="-140" dirty="0"/>
              <a:t> </a:t>
            </a:r>
            <a:r>
              <a:rPr sz="2400" spc="-10" dirty="0"/>
              <a:t>of</a:t>
            </a:r>
            <a:r>
              <a:rPr sz="2400" spc="-80" dirty="0"/>
              <a:t> </a:t>
            </a:r>
            <a:r>
              <a:rPr sz="2400" spc="-55" dirty="0"/>
              <a:t>intensity</a:t>
            </a:r>
            <a:r>
              <a:rPr sz="2400" spc="-130" dirty="0"/>
              <a:t> </a:t>
            </a:r>
            <a:r>
              <a:rPr sz="2400" spc="-45" dirty="0"/>
              <a:t>levels</a:t>
            </a:r>
            <a:r>
              <a:rPr sz="2400" spc="-114" dirty="0"/>
              <a:t> </a:t>
            </a:r>
            <a:r>
              <a:rPr sz="2400" spc="-30" dirty="0"/>
              <a:t>in</a:t>
            </a:r>
            <a:r>
              <a:rPr sz="2400" spc="-100" dirty="0"/>
              <a:t> </a:t>
            </a:r>
            <a:r>
              <a:rPr sz="2400" dirty="0"/>
              <a:t>a</a:t>
            </a:r>
            <a:r>
              <a:rPr sz="2400" spc="-80" dirty="0"/>
              <a:t> </a:t>
            </a:r>
            <a:r>
              <a:rPr sz="2400" spc="-50" dirty="0"/>
              <a:t>digital</a:t>
            </a:r>
            <a:r>
              <a:rPr sz="2400" spc="-125" dirty="0"/>
              <a:t> </a:t>
            </a:r>
            <a:r>
              <a:rPr sz="2400" spc="-10" dirty="0"/>
              <a:t>image</a:t>
            </a:r>
            <a:endParaRPr sz="24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474720" y="2814827"/>
            <a:ext cx="609600" cy="368935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300"/>
              </a:spcBef>
            </a:pPr>
            <a:r>
              <a:rPr sz="1800" spc="-25" dirty="0">
                <a:latin typeface="Times New Roman"/>
                <a:cs typeface="Times New Roman"/>
              </a:rPr>
              <a:t>16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4720" y="5120640"/>
            <a:ext cx="609600" cy="370840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7680" y="2814827"/>
            <a:ext cx="609600" cy="368935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00"/>
              </a:spcBef>
            </a:pPr>
            <a:r>
              <a:rPr sz="1800" spc="-50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7680" y="5120640"/>
            <a:ext cx="609600" cy="370840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0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26338"/>
            <a:ext cx="81857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5" dirty="0"/>
              <a:t> </a:t>
            </a:r>
            <a:r>
              <a:rPr dirty="0"/>
              <a:t>and</a:t>
            </a:r>
            <a:r>
              <a:rPr spc="-250" dirty="0"/>
              <a:t> </a:t>
            </a:r>
            <a:r>
              <a:rPr spc="-40" dirty="0"/>
              <a:t>Intensity</a:t>
            </a:r>
            <a:r>
              <a:rPr spc="-260" dirty="0"/>
              <a:t> </a:t>
            </a:r>
            <a:r>
              <a:rPr spc="-20" dirty="0"/>
              <a:t>Resolution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1637111"/>
            <a:ext cx="9898380" cy="118173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b="1" dirty="0">
                <a:latin typeface="Times New Roman"/>
                <a:cs typeface="Times New Roman"/>
              </a:rPr>
              <a:t>Huang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[1965]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attempted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quantify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experimentally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quality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varying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R="7252334" algn="ctr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k </a:t>
            </a:r>
            <a:r>
              <a:rPr sz="1800" spc="-10" dirty="0">
                <a:latin typeface="Times New Roman"/>
                <a:cs typeface="Times New Roman"/>
              </a:rPr>
              <a:t>simultaneously.</a:t>
            </a:r>
            <a:endParaRPr sz="1800">
              <a:latin typeface="Times New Roman"/>
              <a:cs typeface="Times New Roman"/>
            </a:endParaRPr>
          </a:p>
          <a:p>
            <a:pPr marR="146685" algn="ctr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Dataset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5993" y="2974848"/>
            <a:ext cx="6401529" cy="2286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70605" y="5448096"/>
            <a:ext cx="573913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1: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(a)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level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detail.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(b)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medium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level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detail.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(c)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Image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relatively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large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amount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detail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Spatial</a:t>
            </a:r>
            <a:r>
              <a:rPr spc="-245" dirty="0"/>
              <a:t> </a:t>
            </a:r>
            <a:r>
              <a:rPr dirty="0"/>
              <a:t>and</a:t>
            </a:r>
            <a:r>
              <a:rPr spc="-250" dirty="0"/>
              <a:t> </a:t>
            </a:r>
            <a:r>
              <a:rPr spc="-40" dirty="0"/>
              <a:t>Intensity</a:t>
            </a:r>
            <a:r>
              <a:rPr spc="-260" dirty="0"/>
              <a:t> </a:t>
            </a:r>
            <a:r>
              <a:rPr spc="-20" dirty="0"/>
              <a:t>Resolution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39595"/>
            <a:ext cx="4965700" cy="31559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6350" indent="-94615" algn="just">
              <a:lnSpc>
                <a:spcPts val="2160"/>
              </a:lnSpc>
              <a:spcBef>
                <a:spcPts val="37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104139" algn="l"/>
                <a:tab pos="21082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Sets</a:t>
            </a:r>
            <a:r>
              <a:rPr sz="2000" spc="1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r>
              <a:rPr sz="2000" spc="12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types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images</a:t>
            </a:r>
            <a:r>
              <a:rPr sz="2000" spc="12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were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generated</a:t>
            </a:r>
            <a:r>
              <a:rPr sz="20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000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varying</a:t>
            </a:r>
            <a:r>
              <a:rPr sz="20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0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k,</a:t>
            </a:r>
            <a:r>
              <a:rPr sz="2000" spc="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observers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were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then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asked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rank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them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according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their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subjective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quality.</a:t>
            </a:r>
            <a:endParaRPr sz="2000">
              <a:latin typeface="Times New Roman"/>
              <a:cs typeface="Times New Roman"/>
            </a:endParaRPr>
          </a:p>
          <a:p>
            <a:pPr marL="104139" marR="5080" indent="-94615" algn="just">
              <a:lnSpc>
                <a:spcPts val="2160"/>
              </a:lnSpc>
              <a:spcBef>
                <a:spcPts val="140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104139" algn="l"/>
                <a:tab pos="21082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Results</a:t>
            </a:r>
            <a:r>
              <a:rPr sz="20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were</a:t>
            </a:r>
            <a:r>
              <a:rPr sz="20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summarized</a:t>
            </a:r>
            <a:r>
              <a:rPr sz="20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form</a:t>
            </a:r>
            <a:r>
              <a:rPr sz="20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so-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called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404040"/>
                </a:solidFill>
                <a:latin typeface="Times New Roman"/>
                <a:cs typeface="Times New Roman"/>
              </a:rPr>
              <a:t>iso-preference</a:t>
            </a:r>
            <a:r>
              <a:rPr sz="2000" b="1" i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404040"/>
                </a:solidFill>
                <a:latin typeface="Times New Roman"/>
                <a:cs typeface="Times New Roman"/>
              </a:rPr>
              <a:t>curves</a:t>
            </a:r>
            <a:r>
              <a:rPr sz="2000" b="1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NK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-plane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4139" marR="5080" indent="-94615" algn="just">
              <a:lnSpc>
                <a:spcPct val="90000"/>
              </a:lnSpc>
              <a:spcBef>
                <a:spcPts val="1360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104139" algn="l"/>
                <a:tab pos="21082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The</a:t>
            </a:r>
            <a:r>
              <a:rPr sz="20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key</a:t>
            </a:r>
            <a:r>
              <a:rPr sz="2000" b="1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point</a:t>
            </a:r>
            <a:r>
              <a:rPr sz="2000" b="1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interest</a:t>
            </a:r>
            <a:r>
              <a:rPr sz="20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context</a:t>
            </a:r>
            <a:r>
              <a:rPr sz="20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present</a:t>
            </a:r>
            <a:r>
              <a:rPr sz="2000" spc="45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discussion</a:t>
            </a:r>
            <a:r>
              <a:rPr sz="2000" spc="459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45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000" spc="459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iso-preference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curves</a:t>
            </a:r>
            <a:r>
              <a:rPr sz="20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tend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become</a:t>
            </a:r>
            <a:r>
              <a:rPr sz="20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vertical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detail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increases.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7914" y="1845564"/>
            <a:ext cx="2609321" cy="36269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18682" y="5546597"/>
            <a:ext cx="4937760" cy="646430"/>
          </a:xfrm>
          <a:prstGeom prst="rect">
            <a:avLst/>
          </a:prstGeom>
          <a:ln w="28955">
            <a:solidFill>
              <a:srgbClr val="C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latin typeface="Times New Roman"/>
                <a:cs typeface="Times New Roman"/>
              </a:rPr>
              <a:t>Larger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values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 and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k,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which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implies</a:t>
            </a:r>
            <a:r>
              <a:rPr sz="1800" b="1" spc="-10" dirty="0">
                <a:latin typeface="Times New Roman"/>
                <a:cs typeface="Times New Roman"/>
              </a:rPr>
              <a:t> better</a:t>
            </a:r>
            <a:endParaRPr sz="1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Times New Roman"/>
                <a:cs typeface="Times New Roman"/>
              </a:rPr>
              <a:t>picture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quality……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267205" y="5546597"/>
            <a:ext cx="4599940" cy="646430"/>
          </a:xfrm>
          <a:prstGeom prst="rect">
            <a:avLst/>
          </a:prstGeom>
          <a:ln w="28955">
            <a:solidFill>
              <a:srgbClr val="C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latin typeface="Times New Roman"/>
                <a:cs typeface="Times New Roman"/>
              </a:rPr>
              <a:t>Images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with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large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amount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detail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only </a:t>
            </a:r>
            <a:r>
              <a:rPr sz="1800" b="1" spc="-50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Times New Roman"/>
                <a:cs typeface="Times New Roman"/>
              </a:rPr>
              <a:t>few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intensity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levels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needed.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Image</a:t>
            </a:r>
            <a:r>
              <a:rPr spc="-260" dirty="0"/>
              <a:t> </a:t>
            </a:r>
            <a:r>
              <a:rPr spc="-45" dirty="0"/>
              <a:t>Interpolation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967611"/>
            <a:ext cx="10085070" cy="3531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1454" indent="-20129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1454" algn="l"/>
              </a:tabLst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Zooming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shrinking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rotating,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geometric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corrections.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E38312"/>
              </a:buClr>
              <a:buFont typeface="Wingdings"/>
              <a:buChar char=""/>
            </a:pPr>
            <a:endParaRPr sz="2000" dirty="0">
              <a:latin typeface="Times New Roman"/>
              <a:cs typeface="Times New Roman"/>
            </a:endParaRPr>
          </a:p>
          <a:p>
            <a:pPr marL="212090" indent="-201930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12090" algn="l"/>
              </a:tabLst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Interpolation</a:t>
            </a:r>
            <a:r>
              <a:rPr sz="20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process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known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data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estimate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unknown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locations.</a:t>
            </a:r>
            <a:endParaRPr sz="2000" dirty="0">
              <a:latin typeface="Times New Roman"/>
              <a:cs typeface="Times New Roman"/>
            </a:endParaRPr>
          </a:p>
          <a:p>
            <a:pPr marL="504825" lvl="1" indent="-290830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"/>
              <a:tabLst>
                <a:tab pos="504825" algn="l"/>
              </a:tabLst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Nearest</a:t>
            </a:r>
            <a:r>
              <a:rPr sz="20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Neighbor</a:t>
            </a:r>
            <a:r>
              <a:rPr sz="20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Interpolation</a:t>
            </a:r>
            <a:endParaRPr sz="2000" dirty="0">
              <a:latin typeface="Times New Roman"/>
              <a:cs typeface="Times New Roman"/>
            </a:endParaRPr>
          </a:p>
          <a:p>
            <a:pPr marL="504825" lvl="1" indent="-290830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Font typeface="Wingdings"/>
              <a:buChar char=""/>
              <a:tabLst>
                <a:tab pos="504825" algn="l"/>
              </a:tabLst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Bilinear</a:t>
            </a:r>
            <a:r>
              <a:rPr sz="20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Interpolation</a:t>
            </a:r>
            <a:endParaRPr sz="2000" dirty="0">
              <a:latin typeface="Times New Roman"/>
              <a:cs typeface="Times New Roman"/>
            </a:endParaRPr>
          </a:p>
          <a:p>
            <a:pPr marL="504190" lvl="1" indent="-290195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Font typeface="Wingdings"/>
              <a:buChar char=""/>
              <a:tabLst>
                <a:tab pos="504190" algn="l"/>
              </a:tabLst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Bicubic</a:t>
            </a:r>
            <a:r>
              <a:rPr sz="20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Interpolation</a:t>
            </a:r>
            <a:endParaRPr sz="2000" dirty="0">
              <a:latin typeface="Times New Roman"/>
              <a:cs typeface="Times New Roman"/>
            </a:endParaRPr>
          </a:p>
          <a:p>
            <a:pPr marL="762635" marR="5080" lvl="2" indent="-185420">
              <a:lnSpc>
                <a:spcPct val="150000"/>
              </a:lnSpc>
              <a:spcBef>
                <a:spcPts val="60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762635" algn="l"/>
                <a:tab pos="77851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Bicubic</a:t>
            </a:r>
            <a:r>
              <a:rPr sz="2000" spc="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interpolation</a:t>
            </a:r>
            <a:r>
              <a:rPr sz="20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standard</a:t>
            </a:r>
            <a:r>
              <a:rPr sz="20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2000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commercial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editing</a:t>
            </a:r>
            <a:r>
              <a:rPr sz="2000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programs,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such</a:t>
            </a:r>
            <a:r>
              <a:rPr sz="2000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as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Adobe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Photoshop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Corel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Photo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paint.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Nearest</a:t>
            </a:r>
            <a:r>
              <a:rPr spc="-225" dirty="0"/>
              <a:t> </a:t>
            </a:r>
            <a:r>
              <a:rPr spc="-50" dirty="0"/>
              <a:t>Neighbor</a:t>
            </a:r>
            <a:r>
              <a:rPr spc="-250" dirty="0"/>
              <a:t> </a:t>
            </a:r>
            <a:r>
              <a:rPr spc="-40" dirty="0"/>
              <a:t>Interpolation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83123" y="2889516"/>
            <a:ext cx="2277110" cy="554990"/>
            <a:chOff x="5183123" y="2889516"/>
            <a:chExt cx="2277110" cy="5549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3123" y="2906293"/>
              <a:ext cx="2276855" cy="4556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7047" y="2889516"/>
              <a:ext cx="1969007" cy="5547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0555" y="2933699"/>
              <a:ext cx="2189988" cy="36880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210555" y="2933700"/>
            <a:ext cx="2190115" cy="368935"/>
          </a:xfrm>
          <a:prstGeom prst="rect">
            <a:avLst/>
          </a:prstGeom>
          <a:ln w="12192">
            <a:solidFill>
              <a:srgbClr val="939F87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Nearest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Neighbor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78908" y="3378682"/>
            <a:ext cx="2877820" cy="305435"/>
            <a:chOff x="4978908" y="3378682"/>
            <a:chExt cx="2877820" cy="30543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8908" y="3378682"/>
              <a:ext cx="2877312" cy="3048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01006" y="3455288"/>
              <a:ext cx="2686050" cy="120650"/>
            </a:xfrm>
            <a:custGeom>
              <a:avLst/>
              <a:gdLst/>
              <a:ahLst/>
              <a:cxnLst/>
              <a:rect l="l" t="t" r="r" b="b"/>
              <a:pathLst>
                <a:path w="2686050" h="120650">
                  <a:moveTo>
                    <a:pt x="2663878" y="46989"/>
                  </a:moveTo>
                  <a:lnTo>
                    <a:pt x="2660396" y="46989"/>
                  </a:lnTo>
                  <a:lnTo>
                    <a:pt x="2660523" y="72898"/>
                  </a:lnTo>
                  <a:lnTo>
                    <a:pt x="2612502" y="73067"/>
                  </a:lnTo>
                  <a:lnTo>
                    <a:pt x="2570099" y="98044"/>
                  </a:lnTo>
                  <a:lnTo>
                    <a:pt x="2568067" y="105918"/>
                  </a:lnTo>
                  <a:lnTo>
                    <a:pt x="2571623" y="112140"/>
                  </a:lnTo>
                  <a:lnTo>
                    <a:pt x="2575305" y="118237"/>
                  </a:lnTo>
                  <a:lnTo>
                    <a:pt x="2583179" y="120269"/>
                  </a:lnTo>
                  <a:lnTo>
                    <a:pt x="2589403" y="116712"/>
                  </a:lnTo>
                  <a:lnTo>
                    <a:pt x="2686050" y="59816"/>
                  </a:lnTo>
                  <a:lnTo>
                    <a:pt x="2663878" y="46989"/>
                  </a:lnTo>
                  <a:close/>
                </a:path>
                <a:path w="2686050" h="120650">
                  <a:moveTo>
                    <a:pt x="2612544" y="47159"/>
                  </a:moveTo>
                  <a:lnTo>
                    <a:pt x="0" y="56387"/>
                  </a:lnTo>
                  <a:lnTo>
                    <a:pt x="0" y="82296"/>
                  </a:lnTo>
                  <a:lnTo>
                    <a:pt x="2612502" y="73067"/>
                  </a:lnTo>
                  <a:lnTo>
                    <a:pt x="2634712" y="59996"/>
                  </a:lnTo>
                  <a:lnTo>
                    <a:pt x="2612544" y="47159"/>
                  </a:lnTo>
                  <a:close/>
                </a:path>
                <a:path w="2686050" h="120650">
                  <a:moveTo>
                    <a:pt x="2634712" y="59996"/>
                  </a:moveTo>
                  <a:lnTo>
                    <a:pt x="2612502" y="73067"/>
                  </a:lnTo>
                  <a:lnTo>
                    <a:pt x="2660523" y="72898"/>
                  </a:lnTo>
                  <a:lnTo>
                    <a:pt x="2660514" y="71120"/>
                  </a:lnTo>
                  <a:lnTo>
                    <a:pt x="2653919" y="71120"/>
                  </a:lnTo>
                  <a:lnTo>
                    <a:pt x="2634712" y="59996"/>
                  </a:lnTo>
                  <a:close/>
                </a:path>
                <a:path w="2686050" h="120650">
                  <a:moveTo>
                    <a:pt x="2653792" y="48768"/>
                  </a:moveTo>
                  <a:lnTo>
                    <a:pt x="2634712" y="59996"/>
                  </a:lnTo>
                  <a:lnTo>
                    <a:pt x="2653919" y="71120"/>
                  </a:lnTo>
                  <a:lnTo>
                    <a:pt x="2653792" y="48768"/>
                  </a:lnTo>
                  <a:close/>
                </a:path>
                <a:path w="2686050" h="120650">
                  <a:moveTo>
                    <a:pt x="2660404" y="48768"/>
                  </a:moveTo>
                  <a:lnTo>
                    <a:pt x="2653792" y="48768"/>
                  </a:lnTo>
                  <a:lnTo>
                    <a:pt x="2653919" y="71120"/>
                  </a:lnTo>
                  <a:lnTo>
                    <a:pt x="2660514" y="71120"/>
                  </a:lnTo>
                  <a:lnTo>
                    <a:pt x="2660404" y="48768"/>
                  </a:lnTo>
                  <a:close/>
                </a:path>
                <a:path w="2686050" h="120650">
                  <a:moveTo>
                    <a:pt x="2660396" y="46989"/>
                  </a:moveTo>
                  <a:lnTo>
                    <a:pt x="2612544" y="47159"/>
                  </a:lnTo>
                  <a:lnTo>
                    <a:pt x="2634712" y="59996"/>
                  </a:lnTo>
                  <a:lnTo>
                    <a:pt x="2653792" y="48768"/>
                  </a:lnTo>
                  <a:lnTo>
                    <a:pt x="2660404" y="48768"/>
                  </a:lnTo>
                  <a:lnTo>
                    <a:pt x="2660396" y="46989"/>
                  </a:lnTo>
                  <a:close/>
                </a:path>
                <a:path w="2686050" h="120650">
                  <a:moveTo>
                    <a:pt x="2582799" y="0"/>
                  </a:moveTo>
                  <a:lnTo>
                    <a:pt x="2574925" y="2159"/>
                  </a:lnTo>
                  <a:lnTo>
                    <a:pt x="2571242" y="8382"/>
                  </a:lnTo>
                  <a:lnTo>
                    <a:pt x="2567686" y="14605"/>
                  </a:lnTo>
                  <a:lnTo>
                    <a:pt x="2569845" y="22478"/>
                  </a:lnTo>
                  <a:lnTo>
                    <a:pt x="2612544" y="47159"/>
                  </a:lnTo>
                  <a:lnTo>
                    <a:pt x="2663878" y="46989"/>
                  </a:lnTo>
                  <a:lnTo>
                    <a:pt x="2589022" y="3683"/>
                  </a:lnTo>
                  <a:lnTo>
                    <a:pt x="25827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96630" y="2652140"/>
            <a:ext cx="448309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0" spc="-420" dirty="0">
                <a:latin typeface="Trebuchet MS"/>
                <a:cs typeface="Trebuchet MS"/>
              </a:rPr>
              <a:t>?</a:t>
            </a:r>
            <a:endParaRPr sz="10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157086" y="3777488"/>
            <a:ext cx="336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×</a:t>
            </a:r>
            <a:r>
              <a:rPr sz="1800" spc="-50" dirty="0">
                <a:latin typeface="Trebuchet MS"/>
                <a:cs typeface="Trebuchet MS"/>
              </a:rPr>
              <a:t> 3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965450" y="2867025"/>
          <a:ext cx="1952625" cy="14211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Nearest</a:t>
            </a:r>
            <a:r>
              <a:rPr spc="-225" dirty="0"/>
              <a:t> </a:t>
            </a:r>
            <a:r>
              <a:rPr spc="-50" dirty="0"/>
              <a:t>Neighbor</a:t>
            </a:r>
            <a:r>
              <a:rPr spc="-250" dirty="0"/>
              <a:t> </a:t>
            </a:r>
            <a:r>
              <a:rPr spc="-40" dirty="0"/>
              <a:t>Interpolation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75229" y="3118611"/>
          <a:ext cx="1952625" cy="14211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654296" y="3311664"/>
            <a:ext cx="2278380" cy="554990"/>
            <a:chOff x="4654296" y="3311664"/>
            <a:chExt cx="2278380" cy="5549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4296" y="3329965"/>
              <a:ext cx="2278379" cy="455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8220" y="3311664"/>
              <a:ext cx="1969007" cy="5547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81728" y="3357371"/>
              <a:ext cx="2191512" cy="3688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681728" y="3357371"/>
            <a:ext cx="2192020" cy="368935"/>
          </a:xfrm>
          <a:prstGeom prst="rect">
            <a:avLst/>
          </a:prstGeom>
          <a:ln w="12192">
            <a:solidFill>
              <a:srgbClr val="939F87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Nearest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Neighbor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51603" y="3706342"/>
            <a:ext cx="2752725" cy="305435"/>
            <a:chOff x="4451603" y="3706342"/>
            <a:chExt cx="2752725" cy="3054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1603" y="3706342"/>
              <a:ext cx="2752344" cy="3048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73447" y="3784219"/>
              <a:ext cx="2562860" cy="120650"/>
            </a:xfrm>
            <a:custGeom>
              <a:avLst/>
              <a:gdLst/>
              <a:ahLst/>
              <a:cxnLst/>
              <a:rect l="l" t="t" r="r" b="b"/>
              <a:pathLst>
                <a:path w="2562859" h="120650">
                  <a:moveTo>
                    <a:pt x="2540201" y="45973"/>
                  </a:moveTo>
                  <a:lnTo>
                    <a:pt x="2536571" y="45973"/>
                  </a:lnTo>
                  <a:lnTo>
                    <a:pt x="2536927" y="70230"/>
                  </a:lnTo>
                  <a:lnTo>
                    <a:pt x="2536952" y="71881"/>
                  </a:lnTo>
                  <a:lnTo>
                    <a:pt x="2489174" y="72592"/>
                  </a:lnTo>
                  <a:lnTo>
                    <a:pt x="2453131" y="94360"/>
                  </a:lnTo>
                  <a:lnTo>
                    <a:pt x="2446908" y="98043"/>
                  </a:lnTo>
                  <a:lnTo>
                    <a:pt x="2445004" y="106044"/>
                  </a:lnTo>
                  <a:lnTo>
                    <a:pt x="2452370" y="118236"/>
                  </a:lnTo>
                  <a:lnTo>
                    <a:pt x="2460371" y="120141"/>
                  </a:lnTo>
                  <a:lnTo>
                    <a:pt x="2562479" y="58546"/>
                  </a:lnTo>
                  <a:lnTo>
                    <a:pt x="2540201" y="45973"/>
                  </a:lnTo>
                  <a:close/>
                </a:path>
                <a:path w="2562859" h="120650">
                  <a:moveTo>
                    <a:pt x="2488728" y="46685"/>
                  </a:moveTo>
                  <a:lnTo>
                    <a:pt x="0" y="83692"/>
                  </a:lnTo>
                  <a:lnTo>
                    <a:pt x="438" y="106044"/>
                  </a:lnTo>
                  <a:lnTo>
                    <a:pt x="507" y="109600"/>
                  </a:lnTo>
                  <a:lnTo>
                    <a:pt x="2489174" y="72592"/>
                  </a:lnTo>
                  <a:lnTo>
                    <a:pt x="2511140" y="59326"/>
                  </a:lnTo>
                  <a:lnTo>
                    <a:pt x="2488728" y="46685"/>
                  </a:lnTo>
                  <a:close/>
                </a:path>
                <a:path w="2562859" h="120650">
                  <a:moveTo>
                    <a:pt x="2511140" y="59326"/>
                  </a:moveTo>
                  <a:lnTo>
                    <a:pt x="2489174" y="72592"/>
                  </a:lnTo>
                  <a:lnTo>
                    <a:pt x="2536952" y="71881"/>
                  </a:lnTo>
                  <a:lnTo>
                    <a:pt x="2536927" y="70230"/>
                  </a:lnTo>
                  <a:lnTo>
                    <a:pt x="2530475" y="70230"/>
                  </a:lnTo>
                  <a:lnTo>
                    <a:pt x="2511140" y="59326"/>
                  </a:lnTo>
                  <a:close/>
                </a:path>
                <a:path w="2562859" h="120650">
                  <a:moveTo>
                    <a:pt x="2530094" y="47878"/>
                  </a:moveTo>
                  <a:lnTo>
                    <a:pt x="2511140" y="59326"/>
                  </a:lnTo>
                  <a:lnTo>
                    <a:pt x="2530475" y="70230"/>
                  </a:lnTo>
                  <a:lnTo>
                    <a:pt x="2530094" y="47878"/>
                  </a:lnTo>
                  <a:close/>
                </a:path>
                <a:path w="2562859" h="120650">
                  <a:moveTo>
                    <a:pt x="2536599" y="47878"/>
                  </a:moveTo>
                  <a:lnTo>
                    <a:pt x="2530094" y="47878"/>
                  </a:lnTo>
                  <a:lnTo>
                    <a:pt x="2530475" y="70230"/>
                  </a:lnTo>
                  <a:lnTo>
                    <a:pt x="2536927" y="70230"/>
                  </a:lnTo>
                  <a:lnTo>
                    <a:pt x="2536599" y="47878"/>
                  </a:lnTo>
                  <a:close/>
                </a:path>
                <a:path w="2562859" h="120650">
                  <a:moveTo>
                    <a:pt x="2536571" y="45973"/>
                  </a:moveTo>
                  <a:lnTo>
                    <a:pt x="2488728" y="46685"/>
                  </a:lnTo>
                  <a:lnTo>
                    <a:pt x="2511140" y="59326"/>
                  </a:lnTo>
                  <a:lnTo>
                    <a:pt x="2530094" y="47878"/>
                  </a:lnTo>
                  <a:lnTo>
                    <a:pt x="2536599" y="47878"/>
                  </a:lnTo>
                  <a:lnTo>
                    <a:pt x="2536571" y="45973"/>
                  </a:lnTo>
                  <a:close/>
                </a:path>
                <a:path w="2562859" h="120650">
                  <a:moveTo>
                    <a:pt x="2458593" y="0"/>
                  </a:moveTo>
                  <a:lnTo>
                    <a:pt x="2450719" y="2158"/>
                  </a:lnTo>
                  <a:lnTo>
                    <a:pt x="2443606" y="14604"/>
                  </a:lnTo>
                  <a:lnTo>
                    <a:pt x="2445893" y="22478"/>
                  </a:lnTo>
                  <a:lnTo>
                    <a:pt x="2488728" y="46685"/>
                  </a:lnTo>
                  <a:lnTo>
                    <a:pt x="2536571" y="45973"/>
                  </a:lnTo>
                  <a:lnTo>
                    <a:pt x="2540201" y="45973"/>
                  </a:lnTo>
                  <a:lnTo>
                    <a:pt x="2464816" y="3428"/>
                  </a:lnTo>
                  <a:lnTo>
                    <a:pt x="2458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609590" y="4010025"/>
            <a:ext cx="336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×</a:t>
            </a:r>
            <a:r>
              <a:rPr sz="1800" spc="-50" dirty="0">
                <a:latin typeface="Trebuchet MS"/>
                <a:cs typeface="Trebuchet MS"/>
              </a:rPr>
              <a:t> 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009130" y="2369311"/>
          <a:ext cx="3388994" cy="329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Nearest</a:t>
            </a:r>
            <a:r>
              <a:rPr spc="-225" dirty="0"/>
              <a:t> </a:t>
            </a:r>
            <a:r>
              <a:rPr spc="-50" dirty="0"/>
              <a:t>Neighbor</a:t>
            </a:r>
            <a:r>
              <a:rPr spc="-250" dirty="0"/>
              <a:t> </a:t>
            </a:r>
            <a:r>
              <a:rPr spc="-40" dirty="0"/>
              <a:t>Interpolation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79370" y="3190875"/>
          <a:ext cx="1952625" cy="14211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258055" y="3384816"/>
            <a:ext cx="2278380" cy="554990"/>
            <a:chOff x="4258055" y="3384816"/>
            <a:chExt cx="2278380" cy="5549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8055" y="3401593"/>
              <a:ext cx="2278379" cy="455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3503" y="3384816"/>
              <a:ext cx="1969007" cy="5547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487" y="3428999"/>
              <a:ext cx="2191512" cy="3688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85488" y="3429000"/>
            <a:ext cx="2192020" cy="368935"/>
          </a:xfrm>
          <a:prstGeom prst="rect">
            <a:avLst/>
          </a:prstGeom>
          <a:ln w="12192">
            <a:solidFill>
              <a:srgbClr val="939F87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Nearest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Neighbor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55364" y="3779494"/>
            <a:ext cx="2752725" cy="305435"/>
            <a:chOff x="4055364" y="3779494"/>
            <a:chExt cx="2752725" cy="3054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55364" y="3779494"/>
              <a:ext cx="2752343" cy="3048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77208" y="3857370"/>
              <a:ext cx="2562860" cy="120650"/>
            </a:xfrm>
            <a:custGeom>
              <a:avLst/>
              <a:gdLst/>
              <a:ahLst/>
              <a:cxnLst/>
              <a:rect l="l" t="t" r="r" b="b"/>
              <a:pathLst>
                <a:path w="2562859" h="120650">
                  <a:moveTo>
                    <a:pt x="2540201" y="45973"/>
                  </a:moveTo>
                  <a:lnTo>
                    <a:pt x="2536697" y="45973"/>
                  </a:lnTo>
                  <a:lnTo>
                    <a:pt x="2537054" y="70230"/>
                  </a:lnTo>
                  <a:lnTo>
                    <a:pt x="2537078" y="71881"/>
                  </a:lnTo>
                  <a:lnTo>
                    <a:pt x="2489171" y="72594"/>
                  </a:lnTo>
                  <a:lnTo>
                    <a:pt x="2453132" y="94360"/>
                  </a:lnTo>
                  <a:lnTo>
                    <a:pt x="2446909" y="98043"/>
                  </a:lnTo>
                  <a:lnTo>
                    <a:pt x="2445003" y="106044"/>
                  </a:lnTo>
                  <a:lnTo>
                    <a:pt x="2452369" y="118236"/>
                  </a:lnTo>
                  <a:lnTo>
                    <a:pt x="2460370" y="120141"/>
                  </a:lnTo>
                  <a:lnTo>
                    <a:pt x="2562478" y="58546"/>
                  </a:lnTo>
                  <a:lnTo>
                    <a:pt x="2540201" y="45973"/>
                  </a:lnTo>
                  <a:close/>
                </a:path>
                <a:path w="2562859" h="120650">
                  <a:moveTo>
                    <a:pt x="2488732" y="46687"/>
                  </a:moveTo>
                  <a:lnTo>
                    <a:pt x="0" y="83692"/>
                  </a:lnTo>
                  <a:lnTo>
                    <a:pt x="438" y="106044"/>
                  </a:lnTo>
                  <a:lnTo>
                    <a:pt x="507" y="109600"/>
                  </a:lnTo>
                  <a:lnTo>
                    <a:pt x="2489171" y="72594"/>
                  </a:lnTo>
                  <a:lnTo>
                    <a:pt x="2511140" y="59326"/>
                  </a:lnTo>
                  <a:lnTo>
                    <a:pt x="2488732" y="46687"/>
                  </a:lnTo>
                  <a:close/>
                </a:path>
                <a:path w="2562859" h="120650">
                  <a:moveTo>
                    <a:pt x="2511140" y="59326"/>
                  </a:moveTo>
                  <a:lnTo>
                    <a:pt x="2489171" y="72594"/>
                  </a:lnTo>
                  <a:lnTo>
                    <a:pt x="2537078" y="71881"/>
                  </a:lnTo>
                  <a:lnTo>
                    <a:pt x="2537054" y="70230"/>
                  </a:lnTo>
                  <a:lnTo>
                    <a:pt x="2530474" y="70230"/>
                  </a:lnTo>
                  <a:lnTo>
                    <a:pt x="2511140" y="59326"/>
                  </a:lnTo>
                  <a:close/>
                </a:path>
                <a:path w="2562859" h="120650">
                  <a:moveTo>
                    <a:pt x="2530093" y="47878"/>
                  </a:moveTo>
                  <a:lnTo>
                    <a:pt x="2511140" y="59326"/>
                  </a:lnTo>
                  <a:lnTo>
                    <a:pt x="2530474" y="70230"/>
                  </a:lnTo>
                  <a:lnTo>
                    <a:pt x="2530093" y="47878"/>
                  </a:lnTo>
                  <a:close/>
                </a:path>
                <a:path w="2562859" h="120650">
                  <a:moveTo>
                    <a:pt x="2536726" y="47878"/>
                  </a:moveTo>
                  <a:lnTo>
                    <a:pt x="2530093" y="47878"/>
                  </a:lnTo>
                  <a:lnTo>
                    <a:pt x="2530474" y="70230"/>
                  </a:lnTo>
                  <a:lnTo>
                    <a:pt x="2537054" y="70230"/>
                  </a:lnTo>
                  <a:lnTo>
                    <a:pt x="2536726" y="47878"/>
                  </a:lnTo>
                  <a:close/>
                </a:path>
                <a:path w="2562859" h="120650">
                  <a:moveTo>
                    <a:pt x="2536697" y="45973"/>
                  </a:moveTo>
                  <a:lnTo>
                    <a:pt x="2488732" y="46687"/>
                  </a:lnTo>
                  <a:lnTo>
                    <a:pt x="2511140" y="59326"/>
                  </a:lnTo>
                  <a:lnTo>
                    <a:pt x="2530093" y="47878"/>
                  </a:lnTo>
                  <a:lnTo>
                    <a:pt x="2536726" y="47878"/>
                  </a:lnTo>
                  <a:lnTo>
                    <a:pt x="2536697" y="45973"/>
                  </a:lnTo>
                  <a:close/>
                </a:path>
                <a:path w="2562859" h="120650">
                  <a:moveTo>
                    <a:pt x="2458592" y="0"/>
                  </a:moveTo>
                  <a:lnTo>
                    <a:pt x="2450718" y="2158"/>
                  </a:lnTo>
                  <a:lnTo>
                    <a:pt x="2443607" y="14604"/>
                  </a:lnTo>
                  <a:lnTo>
                    <a:pt x="2445892" y="22478"/>
                  </a:lnTo>
                  <a:lnTo>
                    <a:pt x="2488732" y="46687"/>
                  </a:lnTo>
                  <a:lnTo>
                    <a:pt x="2536697" y="45973"/>
                  </a:lnTo>
                  <a:lnTo>
                    <a:pt x="2540201" y="45973"/>
                  </a:lnTo>
                  <a:lnTo>
                    <a:pt x="2464816" y="3428"/>
                  </a:lnTo>
                  <a:lnTo>
                    <a:pt x="2458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13730" y="4082288"/>
            <a:ext cx="336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×</a:t>
            </a:r>
            <a:r>
              <a:rPr sz="1800" spc="-50" dirty="0">
                <a:latin typeface="Trebuchet MS"/>
                <a:cs typeface="Trebuchet MS"/>
              </a:rPr>
              <a:t> 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613270" y="2441575"/>
          <a:ext cx="3388994" cy="329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194" y="147904"/>
            <a:ext cx="7315834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0" spc="-35" dirty="0">
                <a:latin typeface="Times New Roman"/>
                <a:cs typeface="Times New Roman"/>
              </a:rPr>
              <a:t>Image</a:t>
            </a:r>
            <a:r>
              <a:rPr sz="4300" b="0" spc="-235" dirty="0">
                <a:latin typeface="Times New Roman"/>
                <a:cs typeface="Times New Roman"/>
              </a:rPr>
              <a:t> </a:t>
            </a:r>
            <a:r>
              <a:rPr sz="4300" b="0" spc="-45" dirty="0">
                <a:latin typeface="Times New Roman"/>
                <a:cs typeface="Times New Roman"/>
              </a:rPr>
              <a:t>Sampling</a:t>
            </a:r>
            <a:r>
              <a:rPr sz="4300" b="0" spc="-204" dirty="0">
                <a:latin typeface="Times New Roman"/>
                <a:cs typeface="Times New Roman"/>
              </a:rPr>
              <a:t> </a:t>
            </a:r>
            <a:r>
              <a:rPr sz="4300" b="0" spc="-10" dirty="0">
                <a:latin typeface="Times New Roman"/>
                <a:cs typeface="Times New Roman"/>
              </a:rPr>
              <a:t>and</a:t>
            </a:r>
            <a:r>
              <a:rPr sz="4300" b="0" spc="-254" dirty="0">
                <a:latin typeface="Times New Roman"/>
                <a:cs typeface="Times New Roman"/>
              </a:rPr>
              <a:t> </a:t>
            </a:r>
            <a:r>
              <a:rPr sz="4300" b="0" spc="-25" dirty="0">
                <a:latin typeface="Times New Roman"/>
                <a:cs typeface="Times New Roman"/>
              </a:rPr>
              <a:t>Quantization</a:t>
            </a:r>
            <a:endParaRPr sz="43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51050" y="2581275"/>
          <a:ext cx="1952625" cy="14211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230623" y="2775216"/>
            <a:ext cx="2277110" cy="554990"/>
            <a:chOff x="4230623" y="2775216"/>
            <a:chExt cx="2277110" cy="5549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0623" y="2791993"/>
              <a:ext cx="2276855" cy="455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4547" y="2775216"/>
              <a:ext cx="1969007" cy="5547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8055" y="2819399"/>
              <a:ext cx="2189988" cy="36880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58055" y="2819400"/>
            <a:ext cx="2190115" cy="368935"/>
          </a:xfrm>
          <a:prstGeom prst="rect">
            <a:avLst/>
          </a:prstGeom>
          <a:ln w="12192">
            <a:solidFill>
              <a:srgbClr val="939F87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Nearest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Neighbor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26408" y="3169894"/>
            <a:ext cx="2752725" cy="305435"/>
            <a:chOff x="4026408" y="3169894"/>
            <a:chExt cx="2752725" cy="30543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6408" y="3169894"/>
              <a:ext cx="2752343" cy="3048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48252" y="3247771"/>
              <a:ext cx="2562860" cy="120650"/>
            </a:xfrm>
            <a:custGeom>
              <a:avLst/>
              <a:gdLst/>
              <a:ahLst/>
              <a:cxnLst/>
              <a:rect l="l" t="t" r="r" b="b"/>
              <a:pathLst>
                <a:path w="2562859" h="120650">
                  <a:moveTo>
                    <a:pt x="2540201" y="45974"/>
                  </a:moveTo>
                  <a:lnTo>
                    <a:pt x="2536698" y="45974"/>
                  </a:lnTo>
                  <a:lnTo>
                    <a:pt x="2537054" y="70230"/>
                  </a:lnTo>
                  <a:lnTo>
                    <a:pt x="2537079" y="71881"/>
                  </a:lnTo>
                  <a:lnTo>
                    <a:pt x="2489171" y="72594"/>
                  </a:lnTo>
                  <a:lnTo>
                    <a:pt x="2453132" y="94361"/>
                  </a:lnTo>
                  <a:lnTo>
                    <a:pt x="2446909" y="98043"/>
                  </a:lnTo>
                  <a:lnTo>
                    <a:pt x="2445004" y="106044"/>
                  </a:lnTo>
                  <a:lnTo>
                    <a:pt x="2452370" y="118237"/>
                  </a:lnTo>
                  <a:lnTo>
                    <a:pt x="2460371" y="120141"/>
                  </a:lnTo>
                  <a:lnTo>
                    <a:pt x="2562479" y="58546"/>
                  </a:lnTo>
                  <a:lnTo>
                    <a:pt x="2540201" y="45974"/>
                  </a:lnTo>
                  <a:close/>
                </a:path>
                <a:path w="2562859" h="120650">
                  <a:moveTo>
                    <a:pt x="2488732" y="46687"/>
                  </a:moveTo>
                  <a:lnTo>
                    <a:pt x="0" y="83692"/>
                  </a:lnTo>
                  <a:lnTo>
                    <a:pt x="438" y="106044"/>
                  </a:lnTo>
                  <a:lnTo>
                    <a:pt x="508" y="109600"/>
                  </a:lnTo>
                  <a:lnTo>
                    <a:pt x="2489171" y="72594"/>
                  </a:lnTo>
                  <a:lnTo>
                    <a:pt x="2511140" y="59326"/>
                  </a:lnTo>
                  <a:lnTo>
                    <a:pt x="2488732" y="46687"/>
                  </a:lnTo>
                  <a:close/>
                </a:path>
                <a:path w="2562859" h="120650">
                  <a:moveTo>
                    <a:pt x="2511140" y="59326"/>
                  </a:moveTo>
                  <a:lnTo>
                    <a:pt x="2489171" y="72594"/>
                  </a:lnTo>
                  <a:lnTo>
                    <a:pt x="2537079" y="71881"/>
                  </a:lnTo>
                  <a:lnTo>
                    <a:pt x="2537054" y="70230"/>
                  </a:lnTo>
                  <a:lnTo>
                    <a:pt x="2530475" y="70230"/>
                  </a:lnTo>
                  <a:lnTo>
                    <a:pt x="2511140" y="59326"/>
                  </a:lnTo>
                  <a:close/>
                </a:path>
                <a:path w="2562859" h="120650">
                  <a:moveTo>
                    <a:pt x="2530094" y="47878"/>
                  </a:moveTo>
                  <a:lnTo>
                    <a:pt x="2511140" y="59326"/>
                  </a:lnTo>
                  <a:lnTo>
                    <a:pt x="2530475" y="70230"/>
                  </a:lnTo>
                  <a:lnTo>
                    <a:pt x="2530094" y="47878"/>
                  </a:lnTo>
                  <a:close/>
                </a:path>
                <a:path w="2562859" h="120650">
                  <a:moveTo>
                    <a:pt x="2536726" y="47878"/>
                  </a:moveTo>
                  <a:lnTo>
                    <a:pt x="2530094" y="47878"/>
                  </a:lnTo>
                  <a:lnTo>
                    <a:pt x="2530475" y="70230"/>
                  </a:lnTo>
                  <a:lnTo>
                    <a:pt x="2537054" y="70230"/>
                  </a:lnTo>
                  <a:lnTo>
                    <a:pt x="2536726" y="47878"/>
                  </a:lnTo>
                  <a:close/>
                </a:path>
                <a:path w="2562859" h="120650">
                  <a:moveTo>
                    <a:pt x="2536698" y="45974"/>
                  </a:moveTo>
                  <a:lnTo>
                    <a:pt x="2488732" y="46687"/>
                  </a:lnTo>
                  <a:lnTo>
                    <a:pt x="2511140" y="59326"/>
                  </a:lnTo>
                  <a:lnTo>
                    <a:pt x="2530094" y="47878"/>
                  </a:lnTo>
                  <a:lnTo>
                    <a:pt x="2536726" y="47878"/>
                  </a:lnTo>
                  <a:lnTo>
                    <a:pt x="2536698" y="45974"/>
                  </a:lnTo>
                  <a:close/>
                </a:path>
                <a:path w="2562859" h="120650">
                  <a:moveTo>
                    <a:pt x="2458593" y="0"/>
                  </a:moveTo>
                  <a:lnTo>
                    <a:pt x="2450719" y="2158"/>
                  </a:lnTo>
                  <a:lnTo>
                    <a:pt x="2443607" y="14604"/>
                  </a:lnTo>
                  <a:lnTo>
                    <a:pt x="2445893" y="22478"/>
                  </a:lnTo>
                  <a:lnTo>
                    <a:pt x="2488732" y="46687"/>
                  </a:lnTo>
                  <a:lnTo>
                    <a:pt x="2536698" y="45974"/>
                  </a:lnTo>
                  <a:lnTo>
                    <a:pt x="2540201" y="45974"/>
                  </a:lnTo>
                  <a:lnTo>
                    <a:pt x="2464816" y="3428"/>
                  </a:lnTo>
                  <a:lnTo>
                    <a:pt x="2458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85409" y="3472688"/>
            <a:ext cx="336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×</a:t>
            </a:r>
            <a:r>
              <a:rPr sz="1800" spc="-50" dirty="0">
                <a:latin typeface="Trebuchet MS"/>
                <a:cs typeface="Trebuchet MS"/>
              </a:rPr>
              <a:t> 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584950" y="1831975"/>
          <a:ext cx="3388994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874264" y="1007363"/>
            <a:ext cx="6847840" cy="463550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2400" b="1" dirty="0">
                <a:latin typeface="Times New Roman"/>
                <a:cs typeface="Times New Roman"/>
              </a:rPr>
              <a:t>Nearest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Neighbor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Interpolation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Nearest</a:t>
            </a:r>
            <a:r>
              <a:rPr spc="-225" dirty="0"/>
              <a:t> </a:t>
            </a:r>
            <a:r>
              <a:rPr spc="-50" dirty="0"/>
              <a:t>Neighbor</a:t>
            </a:r>
            <a:r>
              <a:rPr spc="-250" dirty="0"/>
              <a:t> </a:t>
            </a:r>
            <a:r>
              <a:rPr spc="-40" dirty="0"/>
              <a:t>Interpolation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69845" y="3195320"/>
          <a:ext cx="1952625" cy="14211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248911" y="3389388"/>
            <a:ext cx="2278380" cy="554990"/>
            <a:chOff x="4248911" y="3389388"/>
            <a:chExt cx="2278380" cy="5549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8911" y="3406165"/>
              <a:ext cx="2278380" cy="455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2835" y="3389388"/>
              <a:ext cx="1969008" cy="5547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6343" y="3433572"/>
              <a:ext cx="2191512" cy="3688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76344" y="3433571"/>
            <a:ext cx="2192020" cy="368935"/>
          </a:xfrm>
          <a:prstGeom prst="rect">
            <a:avLst/>
          </a:prstGeom>
          <a:ln w="12192">
            <a:solidFill>
              <a:srgbClr val="939F87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Nearest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Neighbor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46220" y="3784066"/>
            <a:ext cx="2752725" cy="305435"/>
            <a:chOff x="4046220" y="3784066"/>
            <a:chExt cx="2752725" cy="3054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6220" y="3784066"/>
              <a:ext cx="2752344" cy="3048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68064" y="3861943"/>
              <a:ext cx="2562860" cy="120650"/>
            </a:xfrm>
            <a:custGeom>
              <a:avLst/>
              <a:gdLst/>
              <a:ahLst/>
              <a:cxnLst/>
              <a:rect l="l" t="t" r="r" b="b"/>
              <a:pathLst>
                <a:path w="2562859" h="120650">
                  <a:moveTo>
                    <a:pt x="2540201" y="45973"/>
                  </a:moveTo>
                  <a:lnTo>
                    <a:pt x="2536697" y="45973"/>
                  </a:lnTo>
                  <a:lnTo>
                    <a:pt x="2537054" y="70230"/>
                  </a:lnTo>
                  <a:lnTo>
                    <a:pt x="2537079" y="71881"/>
                  </a:lnTo>
                  <a:lnTo>
                    <a:pt x="2489171" y="72594"/>
                  </a:lnTo>
                  <a:lnTo>
                    <a:pt x="2453132" y="94360"/>
                  </a:lnTo>
                  <a:lnTo>
                    <a:pt x="2446909" y="98043"/>
                  </a:lnTo>
                  <a:lnTo>
                    <a:pt x="2445004" y="106044"/>
                  </a:lnTo>
                  <a:lnTo>
                    <a:pt x="2452369" y="118236"/>
                  </a:lnTo>
                  <a:lnTo>
                    <a:pt x="2460370" y="120141"/>
                  </a:lnTo>
                  <a:lnTo>
                    <a:pt x="2562479" y="58546"/>
                  </a:lnTo>
                  <a:lnTo>
                    <a:pt x="2540201" y="45973"/>
                  </a:lnTo>
                  <a:close/>
                </a:path>
                <a:path w="2562859" h="120650">
                  <a:moveTo>
                    <a:pt x="2488732" y="46687"/>
                  </a:moveTo>
                  <a:lnTo>
                    <a:pt x="0" y="83692"/>
                  </a:lnTo>
                  <a:lnTo>
                    <a:pt x="438" y="106044"/>
                  </a:lnTo>
                  <a:lnTo>
                    <a:pt x="508" y="109600"/>
                  </a:lnTo>
                  <a:lnTo>
                    <a:pt x="2489171" y="72594"/>
                  </a:lnTo>
                  <a:lnTo>
                    <a:pt x="2511140" y="59326"/>
                  </a:lnTo>
                  <a:lnTo>
                    <a:pt x="2488732" y="46687"/>
                  </a:lnTo>
                  <a:close/>
                </a:path>
                <a:path w="2562859" h="120650">
                  <a:moveTo>
                    <a:pt x="2511140" y="59326"/>
                  </a:moveTo>
                  <a:lnTo>
                    <a:pt x="2489171" y="72594"/>
                  </a:lnTo>
                  <a:lnTo>
                    <a:pt x="2537079" y="71881"/>
                  </a:lnTo>
                  <a:lnTo>
                    <a:pt x="2537054" y="70230"/>
                  </a:lnTo>
                  <a:lnTo>
                    <a:pt x="2530475" y="70230"/>
                  </a:lnTo>
                  <a:lnTo>
                    <a:pt x="2511140" y="59326"/>
                  </a:lnTo>
                  <a:close/>
                </a:path>
                <a:path w="2562859" h="120650">
                  <a:moveTo>
                    <a:pt x="2530093" y="47878"/>
                  </a:moveTo>
                  <a:lnTo>
                    <a:pt x="2511140" y="59326"/>
                  </a:lnTo>
                  <a:lnTo>
                    <a:pt x="2530475" y="70230"/>
                  </a:lnTo>
                  <a:lnTo>
                    <a:pt x="2530093" y="47878"/>
                  </a:lnTo>
                  <a:close/>
                </a:path>
                <a:path w="2562859" h="120650">
                  <a:moveTo>
                    <a:pt x="2536726" y="47878"/>
                  </a:moveTo>
                  <a:lnTo>
                    <a:pt x="2530093" y="47878"/>
                  </a:lnTo>
                  <a:lnTo>
                    <a:pt x="2530475" y="70230"/>
                  </a:lnTo>
                  <a:lnTo>
                    <a:pt x="2537054" y="70230"/>
                  </a:lnTo>
                  <a:lnTo>
                    <a:pt x="2536726" y="47878"/>
                  </a:lnTo>
                  <a:close/>
                </a:path>
                <a:path w="2562859" h="120650">
                  <a:moveTo>
                    <a:pt x="2536697" y="45973"/>
                  </a:moveTo>
                  <a:lnTo>
                    <a:pt x="2488732" y="46687"/>
                  </a:lnTo>
                  <a:lnTo>
                    <a:pt x="2511140" y="59326"/>
                  </a:lnTo>
                  <a:lnTo>
                    <a:pt x="2530093" y="47878"/>
                  </a:lnTo>
                  <a:lnTo>
                    <a:pt x="2536726" y="47878"/>
                  </a:lnTo>
                  <a:lnTo>
                    <a:pt x="2536697" y="45973"/>
                  </a:lnTo>
                  <a:close/>
                </a:path>
                <a:path w="2562859" h="120650">
                  <a:moveTo>
                    <a:pt x="2458592" y="0"/>
                  </a:moveTo>
                  <a:lnTo>
                    <a:pt x="2450718" y="2158"/>
                  </a:lnTo>
                  <a:lnTo>
                    <a:pt x="2443607" y="14604"/>
                  </a:lnTo>
                  <a:lnTo>
                    <a:pt x="2445892" y="22478"/>
                  </a:lnTo>
                  <a:lnTo>
                    <a:pt x="2488732" y="46687"/>
                  </a:lnTo>
                  <a:lnTo>
                    <a:pt x="2536697" y="45973"/>
                  </a:lnTo>
                  <a:lnTo>
                    <a:pt x="2540201" y="45973"/>
                  </a:lnTo>
                  <a:lnTo>
                    <a:pt x="2464816" y="3428"/>
                  </a:lnTo>
                  <a:lnTo>
                    <a:pt x="24585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04205" y="4086859"/>
            <a:ext cx="336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×</a:t>
            </a:r>
            <a:r>
              <a:rPr sz="1800" spc="-50" dirty="0">
                <a:latin typeface="Trebuchet MS"/>
                <a:cs typeface="Trebuchet MS"/>
              </a:rPr>
              <a:t> 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603745" y="2446020"/>
          <a:ext cx="3388994" cy="329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26F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55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C57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2B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FF622F-5B60-B779-9679-F7848809B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04800"/>
            <a:ext cx="88392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17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838074"/>
            <a:ext cx="9034780" cy="786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Bilinear</a:t>
            </a:r>
            <a:r>
              <a:rPr spc="-235" dirty="0"/>
              <a:t> </a:t>
            </a:r>
            <a:r>
              <a:rPr spc="-45" dirty="0"/>
              <a:t>Interpolation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808597"/>
              </p:ext>
            </p:extLst>
          </p:nvPr>
        </p:nvGraphicFramePr>
        <p:xfrm>
          <a:off x="2283777" y="2223025"/>
          <a:ext cx="11303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49077" y="243892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81B362-5C5F-AE92-0AD3-36CD411B270D}"/>
              </a:ext>
            </a:extLst>
          </p:cNvPr>
          <p:cNvCxnSpPr>
            <a:cxnSpLocks/>
          </p:cNvCxnSpPr>
          <p:nvPr/>
        </p:nvCxnSpPr>
        <p:spPr>
          <a:xfrm>
            <a:off x="3512399" y="2588785"/>
            <a:ext cx="2895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6EBCA85-6C57-D224-6FA4-119FF7C2CCBB}"/>
              </a:ext>
            </a:extLst>
          </p:cNvPr>
          <p:cNvSpPr txBox="1"/>
          <p:nvPr/>
        </p:nvSpPr>
        <p:spPr>
          <a:xfrm>
            <a:off x="4746038" y="216229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0C19F72-6ECA-95BE-7BB6-4962D0DA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34727"/>
              </p:ext>
            </p:extLst>
          </p:nvPr>
        </p:nvGraphicFramePr>
        <p:xfrm>
          <a:off x="6693854" y="1807687"/>
          <a:ext cx="2667000" cy="1378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51185143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856751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151969288"/>
                    </a:ext>
                  </a:extLst>
                </a:gridCol>
              </a:tblGrid>
              <a:tr h="459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731028"/>
                  </a:ext>
                </a:extLst>
              </a:tr>
              <a:tr h="459422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697525"/>
                  </a:ext>
                </a:extLst>
              </a:tr>
              <a:tr h="459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67297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40FA6200-F21B-17B6-97A3-CAD87B0554D7}"/>
              </a:ext>
            </a:extLst>
          </p:cNvPr>
          <p:cNvSpPr txBox="1"/>
          <p:nvPr/>
        </p:nvSpPr>
        <p:spPr>
          <a:xfrm>
            <a:off x="338664" y="4221441"/>
            <a:ext cx="5376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Step 1: Horizontal interpolation (2 intervals)</a:t>
            </a:r>
          </a:p>
          <a:p>
            <a:r>
              <a:rPr lang="en-US" sz="1800" dirty="0"/>
              <a:t>• Between 1 and 2:  1 × 1/2 + 2 × 1/2 = 1.5</a:t>
            </a:r>
          </a:p>
          <a:p>
            <a:r>
              <a:rPr lang="en-US" sz="1800" dirty="0"/>
              <a:t>• Between 3 and 4:  3 × 1/2 + 4 × 1/2 = 3.5</a:t>
            </a:r>
          </a:p>
          <a:p>
            <a:r>
              <a:rPr lang="en-US" sz="1800" dirty="0"/>
              <a:t>Result after horizontal fill:</a:t>
            </a:r>
          </a:p>
          <a:p>
            <a:r>
              <a:rPr lang="en-US" sz="1800" dirty="0"/>
              <a:t>[ [1   1.5   2],</a:t>
            </a:r>
            <a:br>
              <a:rPr lang="en-US" sz="1800" dirty="0"/>
            </a:br>
            <a:r>
              <a:rPr lang="en-US" sz="1800" dirty="0"/>
              <a:t>  [3   3.5   4] 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63C952-9C45-82C0-33E5-1BB60F05DC90}"/>
              </a:ext>
            </a:extLst>
          </p:cNvPr>
          <p:cNvSpPr txBox="1"/>
          <p:nvPr/>
        </p:nvSpPr>
        <p:spPr>
          <a:xfrm>
            <a:off x="5381437" y="4270464"/>
            <a:ext cx="52918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Step 2: Vertical interpolation (2 intervals)</a:t>
            </a:r>
          </a:p>
          <a:p>
            <a:r>
              <a:rPr lang="en-US" sz="1800" dirty="0"/>
              <a:t>• Between 1 and 3:  1 × 1/2 + 3 × 1/2 = 2</a:t>
            </a:r>
          </a:p>
          <a:p>
            <a:r>
              <a:rPr lang="en-US" sz="1800" dirty="0"/>
              <a:t>• Between 1.5 and 3.5:  1.5 × 1/2 + 3.5 × 1/2 = 2.5</a:t>
            </a:r>
          </a:p>
          <a:p>
            <a:r>
              <a:rPr lang="en-US" sz="1800" dirty="0"/>
              <a:t>• Between 2 and 4:  2 × 1/2 + 4 × 1/2 = 3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AA8DC2-A24E-B5FD-A974-768F153E252C}"/>
                  </a:ext>
                </a:extLst>
              </p:cNvPr>
              <p:cNvSpPr txBox="1"/>
              <p:nvPr/>
            </p:nvSpPr>
            <p:spPr>
              <a:xfrm>
                <a:off x="175577" y="3126178"/>
                <a:ext cx="6477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𝑆𝑖𝑧𝑒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𝑠𝑐𝑎𝑙𝑒𝑑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𝑖𝑚𝑎𝑔𝑒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ar-A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  =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                            = 3*3</a:t>
                </a:r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AA8DC2-A24E-B5FD-A974-768F153E2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77" y="3126178"/>
                <a:ext cx="6477000" cy="923330"/>
              </a:xfrm>
              <a:prstGeom prst="rect">
                <a:avLst/>
              </a:prstGeom>
              <a:blipFill>
                <a:blip r:embed="rId3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2FA9-041D-ACBC-DBB2-D2548A940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EF3500-7302-BE7E-9B6F-D9CC599E8A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6324" y="838074"/>
            <a:ext cx="9034780" cy="786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Bilinear</a:t>
            </a:r>
            <a:r>
              <a:rPr spc="-235" dirty="0"/>
              <a:t> </a:t>
            </a:r>
            <a:r>
              <a:rPr spc="-45" dirty="0"/>
              <a:t>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53DB0C1-CD8C-214A-1FE8-D407F7C3DA03}"/>
              </a:ext>
            </a:extLst>
          </p:cNvPr>
          <p:cNvGraphicFramePr>
            <a:graphicFrameLocks noGrp="1"/>
          </p:cNvGraphicFramePr>
          <p:nvPr/>
        </p:nvGraphicFramePr>
        <p:xfrm>
          <a:off x="2283777" y="2223025"/>
          <a:ext cx="11303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9CDCEACC-CF10-C78C-9A4C-C4DB59D46EAA}"/>
              </a:ext>
            </a:extLst>
          </p:cNvPr>
          <p:cNvSpPr txBox="1"/>
          <p:nvPr/>
        </p:nvSpPr>
        <p:spPr>
          <a:xfrm>
            <a:off x="1849077" y="243892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EB692EB-EDC8-04D4-E12B-0C1E73C49F5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04AADBD-1752-CEE5-9A16-B63F36699DB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58DFDD5-BE3D-BFA2-1448-F62A4F8027A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19DB4C0-59AD-21D0-CFB4-43E8D80618CC}"/>
              </a:ext>
            </a:extLst>
          </p:cNvPr>
          <p:cNvCxnSpPr>
            <a:cxnSpLocks/>
          </p:cNvCxnSpPr>
          <p:nvPr/>
        </p:nvCxnSpPr>
        <p:spPr>
          <a:xfrm>
            <a:off x="3512399" y="2588785"/>
            <a:ext cx="2895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7493109-B679-DB0B-3F12-313B72D05A7F}"/>
              </a:ext>
            </a:extLst>
          </p:cNvPr>
          <p:cNvSpPr txBox="1"/>
          <p:nvPr/>
        </p:nvSpPr>
        <p:spPr>
          <a:xfrm>
            <a:off x="4746038" y="216229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5B08316-0709-5303-BD45-F9D4D6E5D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09871"/>
              </p:ext>
            </p:extLst>
          </p:nvPr>
        </p:nvGraphicFramePr>
        <p:xfrm>
          <a:off x="6693854" y="1807687"/>
          <a:ext cx="2667000" cy="1378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51185143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8567518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151969288"/>
                    </a:ext>
                  </a:extLst>
                </a:gridCol>
              </a:tblGrid>
              <a:tr h="459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731028"/>
                  </a:ext>
                </a:extLst>
              </a:tr>
              <a:tr h="459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697525"/>
                  </a:ext>
                </a:extLst>
              </a:tr>
              <a:tr h="459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67297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150F639F-F444-3828-48FB-3AFC601AD563}"/>
              </a:ext>
            </a:extLst>
          </p:cNvPr>
          <p:cNvSpPr txBox="1"/>
          <p:nvPr/>
        </p:nvSpPr>
        <p:spPr>
          <a:xfrm>
            <a:off x="338664" y="4221441"/>
            <a:ext cx="5376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Step 1: Horizontal interpolation (2 intervals)</a:t>
            </a:r>
          </a:p>
          <a:p>
            <a:r>
              <a:rPr lang="en-US" sz="1800" dirty="0"/>
              <a:t>• Between 1 and 2:  1 × 1/2 + 2 × 1/2 = 1.5</a:t>
            </a:r>
          </a:p>
          <a:p>
            <a:r>
              <a:rPr lang="en-US" sz="1800" dirty="0"/>
              <a:t>• Between 3 and 4:  3 × 1/2 + 4 × 1/2 = 3.5</a:t>
            </a:r>
          </a:p>
          <a:p>
            <a:r>
              <a:rPr lang="en-US" sz="1800" dirty="0"/>
              <a:t>Result after horizontal fill:</a:t>
            </a:r>
          </a:p>
          <a:p>
            <a:r>
              <a:rPr lang="en-US" sz="1800" dirty="0"/>
              <a:t>[ [1   1.5   2],</a:t>
            </a:r>
            <a:br>
              <a:rPr lang="en-US" sz="1800" dirty="0"/>
            </a:br>
            <a:r>
              <a:rPr lang="en-US" sz="1800" dirty="0"/>
              <a:t>  [3   3.5   4] 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7E2EE2-CEFC-1CD1-6DFD-F424288BD132}"/>
              </a:ext>
            </a:extLst>
          </p:cNvPr>
          <p:cNvSpPr txBox="1"/>
          <p:nvPr/>
        </p:nvSpPr>
        <p:spPr>
          <a:xfrm>
            <a:off x="5381437" y="4270464"/>
            <a:ext cx="52918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Step 2: Vertical interpolation (2 intervals)</a:t>
            </a:r>
          </a:p>
          <a:p>
            <a:r>
              <a:rPr lang="en-US" sz="1800" dirty="0"/>
              <a:t>• Between 1 and 3:  1 × 1/2 + 3 × 1/2 = 2</a:t>
            </a:r>
          </a:p>
          <a:p>
            <a:r>
              <a:rPr lang="en-US" sz="1800" dirty="0"/>
              <a:t>• Between 1.5 and 3.5:  1.5 × 1/2 + 3.5 × 1/2 = 2.5</a:t>
            </a:r>
          </a:p>
          <a:p>
            <a:r>
              <a:rPr lang="en-US" sz="1800" dirty="0"/>
              <a:t>• Between 2 and 4:  2 × 1/2 + 4 × 1/2 =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155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6F9D7-3034-D458-3B81-D2C9DC284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20C444-1088-73D2-CBEB-B168731E0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6324" y="838074"/>
            <a:ext cx="9034780" cy="786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Bilinear</a:t>
            </a:r>
            <a:r>
              <a:rPr spc="-235" dirty="0"/>
              <a:t> </a:t>
            </a:r>
            <a:r>
              <a:rPr spc="-45" dirty="0"/>
              <a:t>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5C1379E-F397-6AC4-FE34-D9809F576CBC}"/>
              </a:ext>
            </a:extLst>
          </p:cNvPr>
          <p:cNvGraphicFramePr>
            <a:graphicFrameLocks noGrp="1"/>
          </p:cNvGraphicFramePr>
          <p:nvPr/>
        </p:nvGraphicFramePr>
        <p:xfrm>
          <a:off x="2283777" y="2223025"/>
          <a:ext cx="11303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D1DB7325-558C-942F-196D-C3547856A11F}"/>
              </a:ext>
            </a:extLst>
          </p:cNvPr>
          <p:cNvSpPr txBox="1"/>
          <p:nvPr/>
        </p:nvSpPr>
        <p:spPr>
          <a:xfrm>
            <a:off x="1849077" y="243892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6813762-C922-12AC-EEC9-630C7DAEFE1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0A2864D9-409D-DDE7-51B1-B828691CADA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F69812DF-9052-7BD0-0BC2-CAB88D18679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4CE671B-FC19-2F7F-4D86-3F8E6310BA88}"/>
              </a:ext>
            </a:extLst>
          </p:cNvPr>
          <p:cNvCxnSpPr>
            <a:cxnSpLocks/>
          </p:cNvCxnSpPr>
          <p:nvPr/>
        </p:nvCxnSpPr>
        <p:spPr>
          <a:xfrm>
            <a:off x="3512399" y="2588785"/>
            <a:ext cx="2895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6619E0-D45A-93A0-FFD3-85276717E8F9}"/>
              </a:ext>
            </a:extLst>
          </p:cNvPr>
          <p:cNvSpPr txBox="1"/>
          <p:nvPr/>
        </p:nvSpPr>
        <p:spPr>
          <a:xfrm>
            <a:off x="4746038" y="216229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x3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052C0FD-39F8-4C94-9108-AE5689720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92049"/>
              </p:ext>
            </p:extLst>
          </p:nvPr>
        </p:nvGraphicFramePr>
        <p:xfrm>
          <a:off x="6693854" y="1807687"/>
          <a:ext cx="3059748" cy="20023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4937">
                  <a:extLst>
                    <a:ext uri="{9D8B030D-6E8A-4147-A177-3AD203B41FA5}">
                      <a16:colId xmlns:a16="http://schemas.microsoft.com/office/drawing/2014/main" val="511851432"/>
                    </a:ext>
                  </a:extLst>
                </a:gridCol>
                <a:gridCol w="764937">
                  <a:extLst>
                    <a:ext uri="{9D8B030D-6E8A-4147-A177-3AD203B41FA5}">
                      <a16:colId xmlns:a16="http://schemas.microsoft.com/office/drawing/2014/main" val="48567518"/>
                    </a:ext>
                  </a:extLst>
                </a:gridCol>
                <a:gridCol w="764937">
                  <a:extLst>
                    <a:ext uri="{9D8B030D-6E8A-4147-A177-3AD203B41FA5}">
                      <a16:colId xmlns:a16="http://schemas.microsoft.com/office/drawing/2014/main" val="1151969288"/>
                    </a:ext>
                  </a:extLst>
                </a:gridCol>
                <a:gridCol w="764937">
                  <a:extLst>
                    <a:ext uri="{9D8B030D-6E8A-4147-A177-3AD203B41FA5}">
                      <a16:colId xmlns:a16="http://schemas.microsoft.com/office/drawing/2014/main" val="1374788633"/>
                    </a:ext>
                  </a:extLst>
                </a:gridCol>
              </a:tblGrid>
              <a:tr h="6349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731028"/>
                  </a:ext>
                </a:extLst>
              </a:tr>
              <a:tr h="45577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697525"/>
                  </a:ext>
                </a:extLst>
              </a:tr>
              <a:tr h="45577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67297"/>
                  </a:ext>
                </a:extLst>
              </a:tr>
              <a:tr h="4557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72259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D54F7245-0B70-386C-DEE0-E5D0FD25A0A5}"/>
              </a:ext>
            </a:extLst>
          </p:cNvPr>
          <p:cNvSpPr txBox="1"/>
          <p:nvPr/>
        </p:nvSpPr>
        <p:spPr>
          <a:xfrm>
            <a:off x="533400" y="4101195"/>
            <a:ext cx="5029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Step 1: Horizontal interpolation (3 intervals)</a:t>
            </a:r>
          </a:p>
          <a:p>
            <a:pPr lvl="3"/>
            <a:r>
              <a:rPr lang="en-US" b="1" dirty="0"/>
              <a:t>Between 1 and 2:</a:t>
            </a:r>
            <a:br>
              <a:rPr lang="en-US" dirty="0"/>
            </a:br>
            <a:r>
              <a:rPr lang="en-US" dirty="0"/>
              <a:t>1 × 2/3 + 2 × 1/3 = 1.33</a:t>
            </a:r>
            <a:br>
              <a:rPr lang="en-US" dirty="0"/>
            </a:br>
            <a:r>
              <a:rPr lang="en-US" dirty="0"/>
              <a:t>1 × 1/3 + 2 × 2/3 = 1.667</a:t>
            </a:r>
          </a:p>
          <a:p>
            <a:pPr lvl="3"/>
            <a:r>
              <a:rPr lang="en-US" b="1" dirty="0"/>
              <a:t>Between 3 and 4:</a:t>
            </a:r>
            <a:br>
              <a:rPr lang="en-US" dirty="0"/>
            </a:br>
            <a:r>
              <a:rPr lang="en-US" dirty="0"/>
              <a:t>3 × 2/3 + 4 × 1/3 = 3.33</a:t>
            </a:r>
            <a:br>
              <a:rPr lang="en-US" dirty="0"/>
            </a:br>
            <a:r>
              <a:rPr lang="en-US" dirty="0"/>
              <a:t>3 × 1/3 + 4 × 2/3 = 3.667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A09AFA-FBAB-38DE-70F5-C9089D2749C2}"/>
                  </a:ext>
                </a:extLst>
              </p:cNvPr>
              <p:cNvSpPr txBox="1"/>
              <p:nvPr/>
            </p:nvSpPr>
            <p:spPr>
              <a:xfrm>
                <a:off x="228600" y="2899257"/>
                <a:ext cx="6477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𝑆𝑖𝑧𝑒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𝑠𝑐𝑎𝑙𝑒𝑑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𝑖𝑚𝑎𝑔𝑒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ar-A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  =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ar-AE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ar-AE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                            =4*4</a:t>
                </a:r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A09AFA-FBAB-38DE-70F5-C9089D274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899257"/>
                <a:ext cx="6477000" cy="923330"/>
              </a:xfrm>
              <a:prstGeom prst="rect">
                <a:avLst/>
              </a:prstGeom>
              <a:blipFill>
                <a:blip r:embed="rId3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062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9285-E747-B254-B9BD-4D01A94D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BD8BA0-AFE0-D30D-81BC-1CA32772B7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6324" y="838074"/>
            <a:ext cx="9034780" cy="786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Bilinear</a:t>
            </a:r>
            <a:r>
              <a:rPr spc="-235" dirty="0"/>
              <a:t> </a:t>
            </a:r>
            <a:r>
              <a:rPr spc="-45" dirty="0"/>
              <a:t>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8F98119-A657-DF07-D954-A1744A800867}"/>
              </a:ext>
            </a:extLst>
          </p:cNvPr>
          <p:cNvGraphicFramePr>
            <a:graphicFrameLocks noGrp="1"/>
          </p:cNvGraphicFramePr>
          <p:nvPr/>
        </p:nvGraphicFramePr>
        <p:xfrm>
          <a:off x="2283777" y="2223025"/>
          <a:ext cx="11303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0AE65514-C592-45C0-0E51-57CB7A2A6CC9}"/>
              </a:ext>
            </a:extLst>
          </p:cNvPr>
          <p:cNvSpPr txBox="1"/>
          <p:nvPr/>
        </p:nvSpPr>
        <p:spPr>
          <a:xfrm>
            <a:off x="1849077" y="243892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4757707E-F6DF-2D73-A2EA-BBACA794ED0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90411E93-9D27-6B81-8974-E3136CE2A4D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EE45931-EDDF-1F2A-6C07-E6E8A48471A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EC7933-306B-91EC-ED84-2F49DBF5A368}"/>
              </a:ext>
            </a:extLst>
          </p:cNvPr>
          <p:cNvCxnSpPr>
            <a:cxnSpLocks/>
          </p:cNvCxnSpPr>
          <p:nvPr/>
        </p:nvCxnSpPr>
        <p:spPr>
          <a:xfrm>
            <a:off x="3512399" y="2588785"/>
            <a:ext cx="2895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CEF96AE-FA0F-B6A3-B3D2-69F5BA7068B2}"/>
              </a:ext>
            </a:extLst>
          </p:cNvPr>
          <p:cNvSpPr txBox="1"/>
          <p:nvPr/>
        </p:nvSpPr>
        <p:spPr>
          <a:xfrm>
            <a:off x="4746038" y="216229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x3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A8767EEB-A522-24E6-8A14-102038FA0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97728"/>
              </p:ext>
            </p:extLst>
          </p:nvPr>
        </p:nvGraphicFramePr>
        <p:xfrm>
          <a:off x="6693854" y="1807687"/>
          <a:ext cx="3059748" cy="20023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4937">
                  <a:extLst>
                    <a:ext uri="{9D8B030D-6E8A-4147-A177-3AD203B41FA5}">
                      <a16:colId xmlns:a16="http://schemas.microsoft.com/office/drawing/2014/main" val="511851432"/>
                    </a:ext>
                  </a:extLst>
                </a:gridCol>
                <a:gridCol w="764937">
                  <a:extLst>
                    <a:ext uri="{9D8B030D-6E8A-4147-A177-3AD203B41FA5}">
                      <a16:colId xmlns:a16="http://schemas.microsoft.com/office/drawing/2014/main" val="48567518"/>
                    </a:ext>
                  </a:extLst>
                </a:gridCol>
                <a:gridCol w="764937">
                  <a:extLst>
                    <a:ext uri="{9D8B030D-6E8A-4147-A177-3AD203B41FA5}">
                      <a16:colId xmlns:a16="http://schemas.microsoft.com/office/drawing/2014/main" val="1151969288"/>
                    </a:ext>
                  </a:extLst>
                </a:gridCol>
                <a:gridCol w="764937">
                  <a:extLst>
                    <a:ext uri="{9D8B030D-6E8A-4147-A177-3AD203B41FA5}">
                      <a16:colId xmlns:a16="http://schemas.microsoft.com/office/drawing/2014/main" val="1374788633"/>
                    </a:ext>
                  </a:extLst>
                </a:gridCol>
              </a:tblGrid>
              <a:tr h="6349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731028"/>
                  </a:ext>
                </a:extLst>
              </a:tr>
              <a:tr h="4557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697525"/>
                  </a:ext>
                </a:extLst>
              </a:tr>
              <a:tr h="4557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67297"/>
                  </a:ext>
                </a:extLst>
              </a:tr>
              <a:tr h="4557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7225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CEAC343-F160-9E96-A6B3-B9328422CC21}"/>
              </a:ext>
            </a:extLst>
          </p:cNvPr>
          <p:cNvSpPr txBox="1"/>
          <p:nvPr/>
        </p:nvSpPr>
        <p:spPr>
          <a:xfrm>
            <a:off x="609600" y="4293747"/>
            <a:ext cx="5486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Column 1 (1 and 3):</a:t>
            </a:r>
            <a:endParaRPr lang="en-US" dirty="0"/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en-US" dirty="0"/>
              <a:t>New row 1: 1 × 2/3 + 3 × 1/3 = 1.667</a:t>
            </a: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en-US" dirty="0"/>
              <a:t>New row 2: 1 × 1/3 + 3 × 2/3 = 2.333</a:t>
            </a:r>
          </a:p>
          <a:p>
            <a:pPr>
              <a:buFont typeface="+mj-lt"/>
              <a:buAutoNum type="arabicPeriod" startAt="2"/>
            </a:pPr>
            <a:r>
              <a:rPr lang="en-US" b="1" dirty="0"/>
              <a:t>Column 2 (1.33 and 3.33):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New row 1: 1.33 × 2/3 + 3.33 × 1/3 = 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New row 2: 1.33 × 1/3 + 3.33 × 2/3 = 2.667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DEC600-F48C-9806-7FF5-58F0E2EF6417}"/>
              </a:ext>
            </a:extLst>
          </p:cNvPr>
          <p:cNvSpPr txBox="1"/>
          <p:nvPr/>
        </p:nvSpPr>
        <p:spPr>
          <a:xfrm>
            <a:off x="5693714" y="433718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 startAt="3"/>
            </a:pPr>
            <a:r>
              <a:rPr lang="en-US" b="1" dirty="0"/>
              <a:t>Column 3 (1.667 and 3.667):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New row 1: 1.667 × 2/3 + 3.667 × 1/3 = 2.334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New row 2: 1.667 × 1/3 + 3.667 × 2/3 = 3.001</a:t>
            </a:r>
          </a:p>
          <a:p>
            <a:pPr>
              <a:buFont typeface="+mj-lt"/>
              <a:buAutoNum type="arabicPeriod" startAt="4"/>
            </a:pPr>
            <a:r>
              <a:rPr lang="en-US" b="1" dirty="0"/>
              <a:t>Column 4 (2 and 4):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New row 1: 2 × 2/3 + 4 × 1/3 = 2.667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New row 2: 2 × 1/3 + 4 × 2/3 = 3.333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C33F2-DBF6-75E4-55F6-8F29D25EF711}"/>
              </a:ext>
            </a:extLst>
          </p:cNvPr>
          <p:cNvSpPr txBox="1"/>
          <p:nvPr/>
        </p:nvSpPr>
        <p:spPr>
          <a:xfrm>
            <a:off x="304800" y="374377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Step 2: Vertical interpolation</a:t>
            </a:r>
          </a:p>
        </p:txBody>
      </p:sp>
    </p:spTree>
    <p:extLst>
      <p:ext uri="{BB962C8B-B14F-4D97-AF65-F5344CB8AC3E}">
        <p14:creationId xmlns:p14="http://schemas.microsoft.com/office/powerpoint/2010/main" val="3628689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4EB82-2FFA-BD3B-128F-BDC92A25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FB4E116-9061-8FB6-CBDA-8041A0E178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Bilinear</a:t>
            </a:r>
            <a:r>
              <a:rPr spc="-235" dirty="0"/>
              <a:t> </a:t>
            </a:r>
            <a:r>
              <a:rPr spc="-45" dirty="0"/>
              <a:t>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E700E8A8-734E-1E2F-CA7D-0738F60E38A4}"/>
              </a:ext>
            </a:extLst>
          </p:cNvPr>
          <p:cNvGraphicFramePr>
            <a:graphicFrameLocks noGrp="1"/>
          </p:cNvGraphicFramePr>
          <p:nvPr/>
        </p:nvGraphicFramePr>
        <p:xfrm>
          <a:off x="2959100" y="1905000"/>
          <a:ext cx="11303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7773BECF-1EAB-48ED-3ADF-5987C8734A0C}"/>
              </a:ext>
            </a:extLst>
          </p:cNvPr>
          <p:cNvSpPr txBox="1"/>
          <p:nvPr/>
        </p:nvSpPr>
        <p:spPr>
          <a:xfrm>
            <a:off x="2598166" y="212026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D00388E-D2D6-F1A1-EA27-3BA43144F742}"/>
              </a:ext>
            </a:extLst>
          </p:cNvPr>
          <p:cNvSpPr txBox="1"/>
          <p:nvPr/>
        </p:nvSpPr>
        <p:spPr>
          <a:xfrm>
            <a:off x="5439155" y="1895855"/>
            <a:ext cx="3505200" cy="368935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Times New Roman"/>
                <a:cs typeface="Times New Roman"/>
              </a:rPr>
              <a:t>&gt;&gt;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imresize(I,2,'bilinear')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5393A05B-4B0F-A0D5-2983-D03B30CA6011}"/>
              </a:ext>
            </a:extLst>
          </p:cNvPr>
          <p:cNvGraphicFramePr>
            <a:graphicFrameLocks noGrp="1"/>
          </p:cNvGraphicFramePr>
          <p:nvPr/>
        </p:nvGraphicFramePr>
        <p:xfrm>
          <a:off x="6142990" y="2400300"/>
          <a:ext cx="276605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1.00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1.25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1.75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2.00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4.00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BC9D8D9D-5385-AC02-1D94-CF0904D39250}"/>
              </a:ext>
            </a:extLst>
          </p:cNvPr>
          <p:cNvSpPr txBox="1"/>
          <p:nvPr/>
        </p:nvSpPr>
        <p:spPr>
          <a:xfrm>
            <a:off x="5782817" y="298170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AE7030A-A38A-BF7D-E342-D35AEBBF2248}"/>
              </a:ext>
            </a:extLst>
          </p:cNvPr>
          <p:cNvSpPr txBox="1"/>
          <p:nvPr/>
        </p:nvSpPr>
        <p:spPr>
          <a:xfrm>
            <a:off x="3496436" y="5020436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D92125C7-C7F1-7FC9-F15A-3247D5741FC3}"/>
              </a:ext>
            </a:extLst>
          </p:cNvPr>
          <p:cNvGrpSpPr/>
          <p:nvPr/>
        </p:nvGrpSpPr>
        <p:grpSpPr>
          <a:xfrm>
            <a:off x="4456176" y="4488179"/>
            <a:ext cx="1668780" cy="1294130"/>
            <a:chOff x="4456176" y="4488179"/>
            <a:chExt cx="1668780" cy="1294130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1D1147A9-49CC-73E1-1E14-786D6FC83DE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4276" y="4576523"/>
              <a:ext cx="1630679" cy="109903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BD9E1A71-4237-8220-E907-7507CF2D7E8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6176" y="5672327"/>
              <a:ext cx="1621536" cy="102234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C4004E5F-498D-F674-AACA-EF74FB76843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2416" y="4590287"/>
              <a:ext cx="102235" cy="1173480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33ECDE15-A556-6B54-851B-DE7C89B2ACC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4228" y="4570475"/>
              <a:ext cx="119034" cy="1211580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442EE5D-824B-0ABE-5A1C-0531BE4FDB75}"/>
                </a:ext>
              </a:extLst>
            </p:cNvPr>
            <p:cNvSpPr/>
            <p:nvPr/>
          </p:nvSpPr>
          <p:spPr>
            <a:xfrm>
              <a:off x="4733544" y="4495799"/>
              <a:ext cx="287020" cy="266700"/>
            </a:xfrm>
            <a:custGeom>
              <a:avLst/>
              <a:gdLst/>
              <a:ahLst/>
              <a:cxnLst/>
              <a:rect l="l" t="t" r="r" b="b"/>
              <a:pathLst>
                <a:path w="287020" h="266700">
                  <a:moveTo>
                    <a:pt x="143255" y="0"/>
                  </a:moveTo>
                  <a:lnTo>
                    <a:pt x="97974" y="6797"/>
                  </a:lnTo>
                  <a:lnTo>
                    <a:pt x="58649" y="25725"/>
                  </a:lnTo>
                  <a:lnTo>
                    <a:pt x="27639" y="54589"/>
                  </a:lnTo>
                  <a:lnTo>
                    <a:pt x="7303" y="91196"/>
                  </a:lnTo>
                  <a:lnTo>
                    <a:pt x="0" y="133350"/>
                  </a:lnTo>
                  <a:lnTo>
                    <a:pt x="7303" y="175503"/>
                  </a:lnTo>
                  <a:lnTo>
                    <a:pt x="27639" y="212110"/>
                  </a:lnTo>
                  <a:lnTo>
                    <a:pt x="58649" y="240974"/>
                  </a:lnTo>
                  <a:lnTo>
                    <a:pt x="97974" y="259902"/>
                  </a:lnTo>
                  <a:lnTo>
                    <a:pt x="143255" y="266700"/>
                  </a:lnTo>
                  <a:lnTo>
                    <a:pt x="188537" y="259902"/>
                  </a:lnTo>
                  <a:lnTo>
                    <a:pt x="227862" y="240974"/>
                  </a:lnTo>
                  <a:lnTo>
                    <a:pt x="258872" y="212110"/>
                  </a:lnTo>
                  <a:lnTo>
                    <a:pt x="279208" y="175503"/>
                  </a:lnTo>
                  <a:lnTo>
                    <a:pt x="286511" y="133350"/>
                  </a:lnTo>
                  <a:lnTo>
                    <a:pt x="279208" y="91196"/>
                  </a:lnTo>
                  <a:lnTo>
                    <a:pt x="258872" y="54589"/>
                  </a:lnTo>
                  <a:lnTo>
                    <a:pt x="227862" y="25725"/>
                  </a:lnTo>
                  <a:lnTo>
                    <a:pt x="188537" y="6797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21A4E01-0369-3BBB-8D29-4DFF88DC91DE}"/>
                </a:ext>
              </a:extLst>
            </p:cNvPr>
            <p:cNvSpPr/>
            <p:nvPr/>
          </p:nvSpPr>
          <p:spPr>
            <a:xfrm>
              <a:off x="4733544" y="4495799"/>
              <a:ext cx="287020" cy="266700"/>
            </a:xfrm>
            <a:custGeom>
              <a:avLst/>
              <a:gdLst/>
              <a:ahLst/>
              <a:cxnLst/>
              <a:rect l="l" t="t" r="r" b="b"/>
              <a:pathLst>
                <a:path w="287020" h="266700">
                  <a:moveTo>
                    <a:pt x="0" y="133350"/>
                  </a:moveTo>
                  <a:lnTo>
                    <a:pt x="7303" y="91196"/>
                  </a:lnTo>
                  <a:lnTo>
                    <a:pt x="27639" y="54589"/>
                  </a:lnTo>
                  <a:lnTo>
                    <a:pt x="58649" y="25725"/>
                  </a:lnTo>
                  <a:lnTo>
                    <a:pt x="97974" y="6797"/>
                  </a:lnTo>
                  <a:lnTo>
                    <a:pt x="143255" y="0"/>
                  </a:lnTo>
                  <a:lnTo>
                    <a:pt x="188537" y="6797"/>
                  </a:lnTo>
                  <a:lnTo>
                    <a:pt x="227862" y="25725"/>
                  </a:lnTo>
                  <a:lnTo>
                    <a:pt x="258872" y="54589"/>
                  </a:lnTo>
                  <a:lnTo>
                    <a:pt x="279208" y="91196"/>
                  </a:lnTo>
                  <a:lnTo>
                    <a:pt x="286511" y="133350"/>
                  </a:lnTo>
                  <a:lnTo>
                    <a:pt x="279208" y="175503"/>
                  </a:lnTo>
                  <a:lnTo>
                    <a:pt x="258872" y="212110"/>
                  </a:lnTo>
                  <a:lnTo>
                    <a:pt x="227862" y="240974"/>
                  </a:lnTo>
                  <a:lnTo>
                    <a:pt x="188537" y="259902"/>
                  </a:lnTo>
                  <a:lnTo>
                    <a:pt x="143255" y="266700"/>
                  </a:lnTo>
                  <a:lnTo>
                    <a:pt x="97974" y="259902"/>
                  </a:lnTo>
                  <a:lnTo>
                    <a:pt x="58649" y="240974"/>
                  </a:lnTo>
                  <a:lnTo>
                    <a:pt x="27639" y="212110"/>
                  </a:lnTo>
                  <a:lnTo>
                    <a:pt x="7303" y="175503"/>
                  </a:lnTo>
                  <a:lnTo>
                    <a:pt x="0" y="133350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A89B2D26-482C-EFB4-7684-AB577AD1C26F}"/>
              </a:ext>
            </a:extLst>
          </p:cNvPr>
          <p:cNvGraphicFramePr>
            <a:graphicFrameLocks noGrp="1"/>
          </p:cNvGraphicFramePr>
          <p:nvPr/>
        </p:nvGraphicFramePr>
        <p:xfrm>
          <a:off x="3856990" y="4438650"/>
          <a:ext cx="2766054" cy="1461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70180">
                <a:tc rowSpan="2" gridSpan="2"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65">
                <a:tc rowSpan="2"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6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object 17">
            <a:extLst>
              <a:ext uri="{FF2B5EF4-FFF2-40B4-BE49-F238E27FC236}">
                <a16:creationId xmlns:a16="http://schemas.microsoft.com/office/drawing/2014/main" id="{E4C93E4F-AEA3-0F15-71EF-ADEE83327BFE}"/>
              </a:ext>
            </a:extLst>
          </p:cNvPr>
          <p:cNvSpPr/>
          <p:nvPr/>
        </p:nvSpPr>
        <p:spPr>
          <a:xfrm>
            <a:off x="3416588" y="3334558"/>
            <a:ext cx="835660" cy="0"/>
          </a:xfrm>
          <a:custGeom>
            <a:avLst/>
            <a:gdLst/>
            <a:ahLst/>
            <a:cxnLst/>
            <a:rect l="l" t="t" r="r" b="b"/>
            <a:pathLst>
              <a:path w="835660">
                <a:moveTo>
                  <a:pt x="0" y="0"/>
                </a:moveTo>
                <a:lnTo>
                  <a:pt x="165842" y="0"/>
                </a:lnTo>
              </a:path>
              <a:path w="835660">
                <a:moveTo>
                  <a:pt x="669187" y="0"/>
                </a:moveTo>
                <a:lnTo>
                  <a:pt x="835034" y="0"/>
                </a:lnTo>
              </a:path>
            </a:pathLst>
          </a:custGeom>
          <a:ln w="111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C48ACF1-25A9-2088-9754-3A6E52FE3A4A}"/>
              </a:ext>
            </a:extLst>
          </p:cNvPr>
          <p:cNvSpPr txBox="1"/>
          <p:nvPr/>
        </p:nvSpPr>
        <p:spPr>
          <a:xfrm>
            <a:off x="3653434" y="4011576"/>
            <a:ext cx="145415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050" spc="-50" dirty="0">
                <a:latin typeface="Trebuchet MS"/>
                <a:cs typeface="Trebuchet MS"/>
              </a:rPr>
              <a:t>4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3FD0AF8-B58C-6AE9-1FBC-D29D13FF199C}"/>
              </a:ext>
            </a:extLst>
          </p:cNvPr>
          <p:cNvSpPr txBox="1"/>
          <p:nvPr/>
        </p:nvSpPr>
        <p:spPr>
          <a:xfrm>
            <a:off x="3388009" y="3806532"/>
            <a:ext cx="115824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2050" dirty="0">
                <a:latin typeface="Symbol"/>
                <a:cs typeface="Symbol"/>
              </a:rPr>
              <a:t></a:t>
            </a:r>
            <a:r>
              <a:rPr sz="2050" spc="70" dirty="0">
                <a:latin typeface="Times New Roman"/>
                <a:cs typeface="Times New Roman"/>
              </a:rPr>
              <a:t> </a:t>
            </a:r>
            <a:r>
              <a:rPr sz="3075" u="sng" spc="-712" baseline="352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3075" u="sng" baseline="352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5</a:t>
            </a:r>
            <a:r>
              <a:rPr sz="3075" spc="165" baseline="35230" dirty="0">
                <a:latin typeface="Trebuchet MS"/>
                <a:cs typeface="Trebuchet MS"/>
              </a:rPr>
              <a:t> </a:t>
            </a:r>
            <a:r>
              <a:rPr sz="2050" spc="-10" dirty="0">
                <a:latin typeface="Symbol"/>
                <a:cs typeface="Symbol"/>
              </a:rPr>
              <a:t></a:t>
            </a:r>
            <a:r>
              <a:rPr sz="2050" spc="-10" dirty="0">
                <a:latin typeface="Trebuchet MS"/>
                <a:cs typeface="Trebuchet MS"/>
              </a:rPr>
              <a:t>1.25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F6784DF-24FD-1976-3A15-A552A30CB417}"/>
              </a:ext>
            </a:extLst>
          </p:cNvPr>
          <p:cNvSpPr txBox="1"/>
          <p:nvPr/>
        </p:nvSpPr>
        <p:spPr>
          <a:xfrm>
            <a:off x="3397034" y="3122474"/>
            <a:ext cx="1229995" cy="548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ts val="2035"/>
              </a:lnSpc>
              <a:spcBef>
                <a:spcPts val="135"/>
              </a:spcBef>
            </a:pPr>
            <a:r>
              <a:rPr sz="3075" spc="-75" baseline="35230" dirty="0">
                <a:latin typeface="Trebuchet MS"/>
                <a:cs typeface="Trebuchet MS"/>
              </a:rPr>
              <a:t>3</a:t>
            </a:r>
            <a:r>
              <a:rPr sz="3075" spc="-179" baseline="35230" dirty="0">
                <a:latin typeface="Trebuchet MS"/>
                <a:cs typeface="Trebuchet MS"/>
              </a:rPr>
              <a:t> </a:t>
            </a:r>
            <a:r>
              <a:rPr sz="2050" dirty="0">
                <a:latin typeface="Trebuchet MS"/>
                <a:cs typeface="Trebuchet MS"/>
              </a:rPr>
              <a:t>x1</a:t>
            </a:r>
            <a:r>
              <a:rPr sz="2050" dirty="0">
                <a:latin typeface="Symbol"/>
                <a:cs typeface="Symbol"/>
              </a:rPr>
              <a:t>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3075" baseline="35230" dirty="0">
                <a:latin typeface="Trebuchet MS"/>
                <a:cs typeface="Trebuchet MS"/>
              </a:rPr>
              <a:t>1</a:t>
            </a:r>
            <a:r>
              <a:rPr sz="3075" spc="-232" baseline="35230" dirty="0">
                <a:latin typeface="Trebuchet MS"/>
                <a:cs typeface="Trebuchet MS"/>
              </a:rPr>
              <a:t> </a:t>
            </a:r>
            <a:r>
              <a:rPr sz="2050" spc="-25" dirty="0">
                <a:latin typeface="Trebuchet MS"/>
                <a:cs typeface="Trebuchet MS"/>
              </a:rPr>
              <a:t>x2</a:t>
            </a:r>
            <a:endParaRPr sz="2050">
              <a:latin typeface="Trebuchet MS"/>
              <a:cs typeface="Trebuchet MS"/>
            </a:endParaRPr>
          </a:p>
          <a:p>
            <a:pPr marL="38100">
              <a:lnSpc>
                <a:spcPts val="2035"/>
              </a:lnSpc>
              <a:tabLst>
                <a:tab pos="706755" algn="l"/>
              </a:tabLst>
            </a:pPr>
            <a:r>
              <a:rPr sz="2050" spc="-50" dirty="0">
                <a:latin typeface="Trebuchet MS"/>
                <a:cs typeface="Trebuchet MS"/>
              </a:rPr>
              <a:t>4</a:t>
            </a:r>
            <a:r>
              <a:rPr sz="2050" dirty="0">
                <a:latin typeface="Trebuchet MS"/>
                <a:cs typeface="Trebuchet MS"/>
              </a:rPr>
              <a:t>	</a:t>
            </a:r>
            <a:r>
              <a:rPr sz="2050" spc="-50" dirty="0">
                <a:latin typeface="Trebuchet MS"/>
                <a:cs typeface="Trebuchet MS"/>
              </a:rPr>
              <a:t>4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A193E5D1-4460-6592-B80D-24A6289AA63D}"/>
              </a:ext>
            </a:extLst>
          </p:cNvPr>
          <p:cNvGrpSpPr/>
          <p:nvPr/>
        </p:nvGrpSpPr>
        <p:grpSpPr>
          <a:xfrm>
            <a:off x="3136392" y="2993135"/>
            <a:ext cx="2016760" cy="1386840"/>
            <a:chOff x="3136392" y="2993135"/>
            <a:chExt cx="2016760" cy="1386840"/>
          </a:xfrm>
        </p:grpSpPr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4C713835-BA2D-8C51-7FA7-F32058FF631A}"/>
                </a:ext>
              </a:extLst>
            </p:cNvPr>
            <p:cNvSpPr/>
            <p:nvPr/>
          </p:nvSpPr>
          <p:spPr>
            <a:xfrm>
              <a:off x="3144012" y="3000755"/>
              <a:ext cx="1771014" cy="1371600"/>
            </a:xfrm>
            <a:custGeom>
              <a:avLst/>
              <a:gdLst/>
              <a:ahLst/>
              <a:cxnLst/>
              <a:rect l="l" t="t" r="r" b="b"/>
              <a:pathLst>
                <a:path w="1771014" h="1371600">
                  <a:moveTo>
                    <a:pt x="0" y="1371600"/>
                  </a:moveTo>
                  <a:lnTo>
                    <a:pt x="1770888" y="1371600"/>
                  </a:lnTo>
                  <a:lnTo>
                    <a:pt x="1770888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420B2FCF-9C25-1A48-C43D-1D9703492E39}"/>
                </a:ext>
              </a:extLst>
            </p:cNvPr>
            <p:cNvSpPr/>
            <p:nvPr/>
          </p:nvSpPr>
          <p:spPr>
            <a:xfrm>
              <a:off x="4934712" y="3924299"/>
              <a:ext cx="218440" cy="375920"/>
            </a:xfrm>
            <a:custGeom>
              <a:avLst/>
              <a:gdLst/>
              <a:ahLst/>
              <a:cxnLst/>
              <a:rect l="l" t="t" r="r" b="b"/>
              <a:pathLst>
                <a:path w="218439" h="375920">
                  <a:moveTo>
                    <a:pt x="0" y="0"/>
                  </a:moveTo>
                  <a:lnTo>
                    <a:pt x="0" y="54482"/>
                  </a:lnTo>
                  <a:lnTo>
                    <a:pt x="39182" y="59656"/>
                  </a:lnTo>
                  <a:lnTo>
                    <a:pt x="76057" y="74571"/>
                  </a:lnTo>
                  <a:lnTo>
                    <a:pt x="110010" y="98321"/>
                  </a:lnTo>
                  <a:lnTo>
                    <a:pt x="140425" y="129998"/>
                  </a:lnTo>
                  <a:lnTo>
                    <a:pt x="166688" y="168695"/>
                  </a:lnTo>
                  <a:lnTo>
                    <a:pt x="188185" y="213505"/>
                  </a:lnTo>
                  <a:lnTo>
                    <a:pt x="204301" y="263521"/>
                  </a:lnTo>
                  <a:lnTo>
                    <a:pt x="214421" y="317834"/>
                  </a:lnTo>
                  <a:lnTo>
                    <a:pt x="217932" y="375538"/>
                  </a:lnTo>
                  <a:lnTo>
                    <a:pt x="217932" y="321056"/>
                  </a:lnTo>
                  <a:lnTo>
                    <a:pt x="214421" y="263351"/>
                  </a:lnTo>
                  <a:lnTo>
                    <a:pt x="204301" y="209038"/>
                  </a:lnTo>
                  <a:lnTo>
                    <a:pt x="188185" y="159022"/>
                  </a:lnTo>
                  <a:lnTo>
                    <a:pt x="166688" y="114212"/>
                  </a:lnTo>
                  <a:lnTo>
                    <a:pt x="140425" y="75515"/>
                  </a:lnTo>
                  <a:lnTo>
                    <a:pt x="110010" y="43838"/>
                  </a:lnTo>
                  <a:lnTo>
                    <a:pt x="76057" y="20088"/>
                  </a:lnTo>
                  <a:lnTo>
                    <a:pt x="39182" y="51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69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6728A295-0B93-1708-CEF7-9588777BF766}"/>
              </a:ext>
            </a:extLst>
          </p:cNvPr>
          <p:cNvGrpSpPr/>
          <p:nvPr/>
        </p:nvGrpSpPr>
        <p:grpSpPr>
          <a:xfrm>
            <a:off x="4927091" y="3916679"/>
            <a:ext cx="233679" cy="728980"/>
            <a:chOff x="4927091" y="3916679"/>
            <a:chExt cx="233679" cy="728980"/>
          </a:xfrm>
        </p:grpSpPr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FC16A498-0EA6-4349-2E78-148E119932E2}"/>
                </a:ext>
              </a:extLst>
            </p:cNvPr>
            <p:cNvSpPr/>
            <p:nvPr/>
          </p:nvSpPr>
          <p:spPr>
            <a:xfrm>
              <a:off x="4934711" y="4272660"/>
              <a:ext cx="217170" cy="365760"/>
            </a:xfrm>
            <a:custGeom>
              <a:avLst/>
              <a:gdLst/>
              <a:ahLst/>
              <a:cxnLst/>
              <a:rect l="l" t="t" r="r" b="b"/>
              <a:pathLst>
                <a:path w="217170" h="365760">
                  <a:moveTo>
                    <a:pt x="217170" y="0"/>
                  </a:moveTo>
                  <a:lnTo>
                    <a:pt x="210377" y="56670"/>
                  </a:lnTo>
                  <a:lnTo>
                    <a:pt x="197135" y="109639"/>
                  </a:lnTo>
                  <a:lnTo>
                    <a:pt x="178024" y="157897"/>
                  </a:lnTo>
                  <a:lnTo>
                    <a:pt x="153624" y="200431"/>
                  </a:lnTo>
                  <a:lnTo>
                    <a:pt x="124513" y="236232"/>
                  </a:lnTo>
                  <a:lnTo>
                    <a:pt x="91273" y="264289"/>
                  </a:lnTo>
                  <a:lnTo>
                    <a:pt x="54483" y="283590"/>
                  </a:lnTo>
                  <a:lnTo>
                    <a:pt x="54483" y="256412"/>
                  </a:lnTo>
                  <a:lnTo>
                    <a:pt x="0" y="321056"/>
                  </a:lnTo>
                  <a:lnTo>
                    <a:pt x="54483" y="365378"/>
                  </a:lnTo>
                  <a:lnTo>
                    <a:pt x="54483" y="338074"/>
                  </a:lnTo>
                  <a:lnTo>
                    <a:pt x="91414" y="318718"/>
                  </a:lnTo>
                  <a:lnTo>
                    <a:pt x="124622" y="290697"/>
                  </a:lnTo>
                  <a:lnTo>
                    <a:pt x="153598" y="255070"/>
                  </a:lnTo>
                  <a:lnTo>
                    <a:pt x="177831" y="212899"/>
                  </a:lnTo>
                  <a:lnTo>
                    <a:pt x="196814" y="165246"/>
                  </a:lnTo>
                  <a:lnTo>
                    <a:pt x="210038" y="113170"/>
                  </a:lnTo>
                  <a:lnTo>
                    <a:pt x="216992" y="57735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5A9AA6C4-5BBD-88EA-56CD-CEC9EE23FE50}"/>
                </a:ext>
              </a:extLst>
            </p:cNvPr>
            <p:cNvSpPr/>
            <p:nvPr/>
          </p:nvSpPr>
          <p:spPr>
            <a:xfrm>
              <a:off x="4934711" y="3924299"/>
              <a:ext cx="218440" cy="713740"/>
            </a:xfrm>
            <a:custGeom>
              <a:avLst/>
              <a:gdLst/>
              <a:ahLst/>
              <a:cxnLst/>
              <a:rect l="l" t="t" r="r" b="b"/>
              <a:pathLst>
                <a:path w="218439" h="713739">
                  <a:moveTo>
                    <a:pt x="217932" y="375538"/>
                  </a:moveTo>
                  <a:lnTo>
                    <a:pt x="214421" y="317834"/>
                  </a:lnTo>
                  <a:lnTo>
                    <a:pt x="204301" y="263521"/>
                  </a:lnTo>
                  <a:lnTo>
                    <a:pt x="188185" y="213505"/>
                  </a:lnTo>
                  <a:lnTo>
                    <a:pt x="166688" y="168695"/>
                  </a:lnTo>
                  <a:lnTo>
                    <a:pt x="140425" y="129998"/>
                  </a:lnTo>
                  <a:lnTo>
                    <a:pt x="110010" y="98321"/>
                  </a:lnTo>
                  <a:lnTo>
                    <a:pt x="76057" y="74571"/>
                  </a:lnTo>
                  <a:lnTo>
                    <a:pt x="39182" y="59656"/>
                  </a:lnTo>
                  <a:lnTo>
                    <a:pt x="0" y="54482"/>
                  </a:lnTo>
                  <a:lnTo>
                    <a:pt x="0" y="0"/>
                  </a:lnTo>
                  <a:lnTo>
                    <a:pt x="39182" y="5173"/>
                  </a:lnTo>
                  <a:lnTo>
                    <a:pt x="76057" y="20088"/>
                  </a:lnTo>
                  <a:lnTo>
                    <a:pt x="110010" y="43838"/>
                  </a:lnTo>
                  <a:lnTo>
                    <a:pt x="140425" y="75515"/>
                  </a:lnTo>
                  <a:lnTo>
                    <a:pt x="166688" y="114212"/>
                  </a:lnTo>
                  <a:lnTo>
                    <a:pt x="188185" y="159022"/>
                  </a:lnTo>
                  <a:lnTo>
                    <a:pt x="204301" y="209038"/>
                  </a:lnTo>
                  <a:lnTo>
                    <a:pt x="214421" y="263351"/>
                  </a:lnTo>
                  <a:lnTo>
                    <a:pt x="217932" y="321056"/>
                  </a:lnTo>
                  <a:lnTo>
                    <a:pt x="217932" y="375538"/>
                  </a:lnTo>
                  <a:lnTo>
                    <a:pt x="214857" y="429439"/>
                  </a:lnTo>
                  <a:lnTo>
                    <a:pt x="205930" y="480748"/>
                  </a:lnTo>
                  <a:lnTo>
                    <a:pt x="191598" y="528613"/>
                  </a:lnTo>
                  <a:lnTo>
                    <a:pt x="172307" y="572182"/>
                  </a:lnTo>
                  <a:lnTo>
                    <a:pt x="148503" y="610601"/>
                  </a:lnTo>
                  <a:lnTo>
                    <a:pt x="120634" y="643018"/>
                  </a:lnTo>
                  <a:lnTo>
                    <a:pt x="89145" y="668580"/>
                  </a:lnTo>
                  <a:lnTo>
                    <a:pt x="54483" y="686435"/>
                  </a:lnTo>
                  <a:lnTo>
                    <a:pt x="54483" y="713739"/>
                  </a:lnTo>
                  <a:lnTo>
                    <a:pt x="0" y="669417"/>
                  </a:lnTo>
                  <a:lnTo>
                    <a:pt x="54483" y="604774"/>
                  </a:lnTo>
                  <a:lnTo>
                    <a:pt x="54483" y="631951"/>
                  </a:lnTo>
                  <a:lnTo>
                    <a:pt x="91273" y="612650"/>
                  </a:lnTo>
                  <a:lnTo>
                    <a:pt x="124513" y="584593"/>
                  </a:lnTo>
                  <a:lnTo>
                    <a:pt x="153624" y="548792"/>
                  </a:lnTo>
                  <a:lnTo>
                    <a:pt x="178024" y="506258"/>
                  </a:lnTo>
                  <a:lnTo>
                    <a:pt x="197135" y="458000"/>
                  </a:lnTo>
                  <a:lnTo>
                    <a:pt x="210377" y="405031"/>
                  </a:lnTo>
                  <a:lnTo>
                    <a:pt x="217170" y="348361"/>
                  </a:lnTo>
                </a:path>
              </a:pathLst>
            </a:custGeom>
            <a:ln w="15239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47A0222D-0BDB-6CB0-118A-ABC1B709D89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B1F8F1B-A0DA-C899-55CB-99826196365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A4C9959-B819-BFF2-3B51-0ABA405B004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572905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Bilinear</a:t>
            </a:r>
            <a:r>
              <a:rPr spc="-235" dirty="0"/>
              <a:t> </a:t>
            </a:r>
            <a:r>
              <a:rPr spc="-45" dirty="0"/>
              <a:t>Interpolation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59100" y="1905000"/>
          <a:ext cx="11303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98166" y="212026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9155" y="1895855"/>
            <a:ext cx="3505200" cy="368935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Times New Roman"/>
                <a:cs typeface="Times New Roman"/>
              </a:rPr>
              <a:t>&gt;&gt;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imresize(I,2,'bilinear')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142990" y="2400300"/>
          <a:ext cx="276605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782817" y="298170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6436" y="5020436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56176" y="4570476"/>
            <a:ext cx="1668780" cy="1248410"/>
            <a:chOff x="4456176" y="4570476"/>
            <a:chExt cx="1668780" cy="12484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4276" y="4576523"/>
              <a:ext cx="1630679" cy="1099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6176" y="5672328"/>
              <a:ext cx="1621536" cy="1022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2416" y="4590288"/>
              <a:ext cx="102235" cy="11734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4228" y="4570476"/>
              <a:ext cx="119034" cy="12115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33544" y="5544312"/>
              <a:ext cx="287020" cy="266700"/>
            </a:xfrm>
            <a:custGeom>
              <a:avLst/>
              <a:gdLst/>
              <a:ahLst/>
              <a:cxnLst/>
              <a:rect l="l" t="t" r="r" b="b"/>
              <a:pathLst>
                <a:path w="287020" h="266700">
                  <a:moveTo>
                    <a:pt x="143255" y="0"/>
                  </a:moveTo>
                  <a:lnTo>
                    <a:pt x="97974" y="6798"/>
                  </a:lnTo>
                  <a:lnTo>
                    <a:pt x="58649" y="25728"/>
                  </a:lnTo>
                  <a:lnTo>
                    <a:pt x="27639" y="54595"/>
                  </a:lnTo>
                  <a:lnTo>
                    <a:pt x="7303" y="91201"/>
                  </a:lnTo>
                  <a:lnTo>
                    <a:pt x="0" y="133350"/>
                  </a:lnTo>
                  <a:lnTo>
                    <a:pt x="7303" y="175498"/>
                  </a:lnTo>
                  <a:lnTo>
                    <a:pt x="27639" y="212104"/>
                  </a:lnTo>
                  <a:lnTo>
                    <a:pt x="58649" y="240971"/>
                  </a:lnTo>
                  <a:lnTo>
                    <a:pt x="97974" y="259901"/>
                  </a:lnTo>
                  <a:lnTo>
                    <a:pt x="143255" y="266700"/>
                  </a:lnTo>
                  <a:lnTo>
                    <a:pt x="188537" y="259901"/>
                  </a:lnTo>
                  <a:lnTo>
                    <a:pt x="227862" y="240971"/>
                  </a:lnTo>
                  <a:lnTo>
                    <a:pt x="258872" y="212104"/>
                  </a:lnTo>
                  <a:lnTo>
                    <a:pt x="279208" y="175498"/>
                  </a:lnTo>
                  <a:lnTo>
                    <a:pt x="286511" y="133350"/>
                  </a:lnTo>
                  <a:lnTo>
                    <a:pt x="279208" y="91201"/>
                  </a:lnTo>
                  <a:lnTo>
                    <a:pt x="258872" y="54595"/>
                  </a:lnTo>
                  <a:lnTo>
                    <a:pt x="227862" y="25728"/>
                  </a:lnTo>
                  <a:lnTo>
                    <a:pt x="188537" y="6798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33544" y="5544312"/>
              <a:ext cx="287020" cy="266700"/>
            </a:xfrm>
            <a:custGeom>
              <a:avLst/>
              <a:gdLst/>
              <a:ahLst/>
              <a:cxnLst/>
              <a:rect l="l" t="t" r="r" b="b"/>
              <a:pathLst>
                <a:path w="287020" h="266700">
                  <a:moveTo>
                    <a:pt x="0" y="133350"/>
                  </a:moveTo>
                  <a:lnTo>
                    <a:pt x="7303" y="91201"/>
                  </a:lnTo>
                  <a:lnTo>
                    <a:pt x="27639" y="54595"/>
                  </a:lnTo>
                  <a:lnTo>
                    <a:pt x="58649" y="25728"/>
                  </a:lnTo>
                  <a:lnTo>
                    <a:pt x="97974" y="6798"/>
                  </a:lnTo>
                  <a:lnTo>
                    <a:pt x="143255" y="0"/>
                  </a:lnTo>
                  <a:lnTo>
                    <a:pt x="188537" y="6798"/>
                  </a:lnTo>
                  <a:lnTo>
                    <a:pt x="227862" y="25728"/>
                  </a:lnTo>
                  <a:lnTo>
                    <a:pt x="258872" y="54595"/>
                  </a:lnTo>
                  <a:lnTo>
                    <a:pt x="279208" y="91201"/>
                  </a:lnTo>
                  <a:lnTo>
                    <a:pt x="286511" y="133350"/>
                  </a:lnTo>
                  <a:lnTo>
                    <a:pt x="279208" y="175498"/>
                  </a:lnTo>
                  <a:lnTo>
                    <a:pt x="258872" y="212104"/>
                  </a:lnTo>
                  <a:lnTo>
                    <a:pt x="227862" y="240971"/>
                  </a:lnTo>
                  <a:lnTo>
                    <a:pt x="188537" y="259901"/>
                  </a:lnTo>
                  <a:lnTo>
                    <a:pt x="143255" y="266700"/>
                  </a:lnTo>
                  <a:lnTo>
                    <a:pt x="97974" y="259901"/>
                  </a:lnTo>
                  <a:lnTo>
                    <a:pt x="58649" y="240971"/>
                  </a:lnTo>
                  <a:lnTo>
                    <a:pt x="27639" y="212104"/>
                  </a:lnTo>
                  <a:lnTo>
                    <a:pt x="7303" y="175498"/>
                  </a:lnTo>
                  <a:lnTo>
                    <a:pt x="0" y="133350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856990" y="4438650"/>
          <a:ext cx="2867020" cy="1461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70180">
                <a:tc rowSpan="2" gridSpan="2"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120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1.2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120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65">
                <a:tc rowSpan="2"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6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7650219" y="4817965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166214" y="0"/>
                </a:lnTo>
              </a:path>
            </a:pathLst>
          </a:custGeom>
          <a:ln w="11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89190" y="4817965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4">
                <a:moveTo>
                  <a:pt x="0" y="0"/>
                </a:moveTo>
                <a:lnTo>
                  <a:pt x="165691" y="0"/>
                </a:lnTo>
              </a:path>
            </a:pathLst>
          </a:custGeom>
          <a:ln w="11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909600" y="5497385"/>
            <a:ext cx="15748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50" dirty="0">
                <a:latin typeface="Trebuchet MS"/>
                <a:cs typeface="Trebuchet MS"/>
              </a:rPr>
              <a:t>4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75418" y="4646958"/>
            <a:ext cx="486409" cy="988694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425"/>
              </a:spcBef>
            </a:pPr>
            <a:r>
              <a:rPr sz="2050" spc="-50" dirty="0">
                <a:latin typeface="Trebuchet MS"/>
                <a:cs typeface="Trebuchet MS"/>
              </a:rPr>
              <a:t>4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050" spc="-80" dirty="0">
                <a:latin typeface="Trebuchet MS"/>
                <a:cs typeface="Trebuchet MS"/>
              </a:rPr>
              <a:t>3.25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56047" y="4811474"/>
            <a:ext cx="15748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50" dirty="0">
                <a:latin typeface="Trebuchet MS"/>
                <a:cs typeface="Trebuchet MS"/>
              </a:rPr>
              <a:t>4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08943" y="5127970"/>
            <a:ext cx="75755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75" baseline="-35230" dirty="0">
                <a:latin typeface="Symbol"/>
                <a:cs typeface="Symbol"/>
              </a:rPr>
              <a:t></a:t>
            </a:r>
            <a:r>
              <a:rPr sz="3075" spc="-232" baseline="-35230" dirty="0">
                <a:latin typeface="Times New Roman"/>
                <a:cs typeface="Times New Roman"/>
              </a:rPr>
              <a:t> </a:t>
            </a:r>
            <a:r>
              <a:rPr sz="205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13</a:t>
            </a:r>
            <a:r>
              <a:rPr sz="2050" spc="-70" dirty="0">
                <a:latin typeface="Trebuchet MS"/>
                <a:cs typeface="Trebuchet MS"/>
              </a:rPr>
              <a:t> </a:t>
            </a:r>
            <a:r>
              <a:rPr sz="3075" spc="-75" baseline="-35230" dirty="0">
                <a:latin typeface="Symbol"/>
                <a:cs typeface="Symbol"/>
              </a:rPr>
              <a:t></a:t>
            </a:r>
            <a:endParaRPr sz="3075" baseline="-3523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30646" y="4606657"/>
            <a:ext cx="129159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75" spc="-75" baseline="35230" dirty="0">
                <a:latin typeface="Trebuchet MS"/>
                <a:cs typeface="Trebuchet MS"/>
              </a:rPr>
              <a:t>3</a:t>
            </a:r>
            <a:r>
              <a:rPr sz="3075" spc="-172" baseline="35230" dirty="0">
                <a:latin typeface="Trebuchet MS"/>
                <a:cs typeface="Trebuchet MS"/>
              </a:rPr>
              <a:t> </a:t>
            </a:r>
            <a:r>
              <a:rPr sz="2050" spc="-10" dirty="0">
                <a:latin typeface="Trebuchet MS"/>
                <a:cs typeface="Trebuchet MS"/>
              </a:rPr>
              <a:t>x3</a:t>
            </a:r>
            <a:r>
              <a:rPr sz="2050" spc="-254" dirty="0">
                <a:latin typeface="Trebuchet MS"/>
                <a:cs typeface="Trebuchet MS"/>
              </a:rPr>
              <a:t> </a:t>
            </a:r>
            <a:r>
              <a:rPr sz="2050" dirty="0">
                <a:latin typeface="Symbol"/>
                <a:cs typeface="Symbol"/>
              </a:rPr>
              <a:t></a:t>
            </a:r>
            <a:r>
              <a:rPr sz="2050" spc="130" dirty="0">
                <a:latin typeface="Times New Roman"/>
                <a:cs typeface="Times New Roman"/>
              </a:rPr>
              <a:t> </a:t>
            </a:r>
            <a:r>
              <a:rPr sz="3075" baseline="35230" dirty="0">
                <a:latin typeface="Trebuchet MS"/>
                <a:cs typeface="Trebuchet MS"/>
              </a:rPr>
              <a:t>1</a:t>
            </a:r>
            <a:r>
              <a:rPr sz="3075" spc="-165" baseline="35230" dirty="0">
                <a:latin typeface="Trebuchet MS"/>
                <a:cs typeface="Trebuchet MS"/>
              </a:rPr>
              <a:t> </a:t>
            </a:r>
            <a:r>
              <a:rPr sz="2050" spc="25" dirty="0">
                <a:latin typeface="Trebuchet MS"/>
                <a:cs typeface="Trebuchet MS"/>
              </a:rPr>
              <a:t>x4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43855" y="4479035"/>
            <a:ext cx="4208145" cy="1386840"/>
            <a:chOff x="4943855" y="4479035"/>
            <a:chExt cx="4208145" cy="1386840"/>
          </a:xfrm>
        </p:grpSpPr>
        <p:sp>
          <p:nvSpPr>
            <p:cNvPr id="25" name="object 25"/>
            <p:cNvSpPr/>
            <p:nvPr/>
          </p:nvSpPr>
          <p:spPr>
            <a:xfrm>
              <a:off x="7373111" y="4486655"/>
              <a:ext cx="1771014" cy="1371600"/>
            </a:xfrm>
            <a:custGeom>
              <a:avLst/>
              <a:gdLst/>
              <a:ahLst/>
              <a:cxnLst/>
              <a:rect l="l" t="t" r="r" b="b"/>
              <a:pathLst>
                <a:path w="1771015" h="1371600">
                  <a:moveTo>
                    <a:pt x="0" y="1371600"/>
                  </a:moveTo>
                  <a:lnTo>
                    <a:pt x="1770888" y="1371600"/>
                  </a:lnTo>
                  <a:lnTo>
                    <a:pt x="1770888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43855" y="4646675"/>
              <a:ext cx="2587752" cy="99061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965191" y="4724018"/>
              <a:ext cx="2398395" cy="861060"/>
            </a:xfrm>
            <a:custGeom>
              <a:avLst/>
              <a:gdLst/>
              <a:ahLst/>
              <a:cxnLst/>
              <a:rect l="l" t="t" r="r" b="b"/>
              <a:pathLst>
                <a:path w="2398395" h="861060">
                  <a:moveTo>
                    <a:pt x="2324313" y="46848"/>
                  </a:moveTo>
                  <a:lnTo>
                    <a:pt x="2285873" y="47243"/>
                  </a:lnTo>
                  <a:lnTo>
                    <a:pt x="2174113" y="50672"/>
                  </a:lnTo>
                  <a:lnTo>
                    <a:pt x="2062734" y="56387"/>
                  </a:lnTo>
                  <a:lnTo>
                    <a:pt x="1951989" y="64134"/>
                  </a:lnTo>
                  <a:lnTo>
                    <a:pt x="1842135" y="74040"/>
                  </a:lnTo>
                  <a:lnTo>
                    <a:pt x="1733423" y="85851"/>
                  </a:lnTo>
                  <a:lnTo>
                    <a:pt x="1624986" y="99694"/>
                  </a:lnTo>
                  <a:lnTo>
                    <a:pt x="1625120" y="99694"/>
                  </a:lnTo>
                  <a:lnTo>
                    <a:pt x="1520190" y="115188"/>
                  </a:lnTo>
                  <a:lnTo>
                    <a:pt x="1415923" y="132460"/>
                  </a:lnTo>
                  <a:lnTo>
                    <a:pt x="1313815" y="151510"/>
                  </a:lnTo>
                  <a:lnTo>
                    <a:pt x="1213739" y="172211"/>
                  </a:lnTo>
                  <a:lnTo>
                    <a:pt x="1116203" y="194309"/>
                  </a:lnTo>
                  <a:lnTo>
                    <a:pt x="1021207" y="218058"/>
                  </a:lnTo>
                  <a:lnTo>
                    <a:pt x="929005" y="243077"/>
                  </a:lnTo>
                  <a:lnTo>
                    <a:pt x="839851" y="269493"/>
                  </a:lnTo>
                  <a:lnTo>
                    <a:pt x="753999" y="297179"/>
                  </a:lnTo>
                  <a:lnTo>
                    <a:pt x="671576" y="326008"/>
                  </a:lnTo>
                  <a:lnTo>
                    <a:pt x="592963" y="355980"/>
                  </a:lnTo>
                  <a:lnTo>
                    <a:pt x="518033" y="386968"/>
                  </a:lnTo>
                  <a:lnTo>
                    <a:pt x="447421" y="418972"/>
                  </a:lnTo>
                  <a:lnTo>
                    <a:pt x="381127" y="451992"/>
                  </a:lnTo>
                  <a:lnTo>
                    <a:pt x="319278" y="485774"/>
                  </a:lnTo>
                  <a:lnTo>
                    <a:pt x="262255" y="520445"/>
                  </a:lnTo>
                  <a:lnTo>
                    <a:pt x="210058" y="555751"/>
                  </a:lnTo>
                  <a:lnTo>
                    <a:pt x="163068" y="591819"/>
                  </a:lnTo>
                  <a:lnTo>
                    <a:pt x="121538" y="628522"/>
                  </a:lnTo>
                  <a:lnTo>
                    <a:pt x="85852" y="665606"/>
                  </a:lnTo>
                  <a:lnTo>
                    <a:pt x="55753" y="703579"/>
                  </a:lnTo>
                  <a:lnTo>
                    <a:pt x="31877" y="742187"/>
                  </a:lnTo>
                  <a:lnTo>
                    <a:pt x="14350" y="781176"/>
                  </a:lnTo>
                  <a:lnTo>
                    <a:pt x="3556" y="820927"/>
                  </a:lnTo>
                  <a:lnTo>
                    <a:pt x="0" y="859662"/>
                  </a:lnTo>
                  <a:lnTo>
                    <a:pt x="25908" y="860805"/>
                  </a:lnTo>
                  <a:lnTo>
                    <a:pt x="26797" y="842009"/>
                  </a:lnTo>
                  <a:lnTo>
                    <a:pt x="29210" y="824483"/>
                  </a:lnTo>
                  <a:lnTo>
                    <a:pt x="46228" y="771270"/>
                  </a:lnTo>
                  <a:lnTo>
                    <a:pt x="65405" y="735710"/>
                  </a:lnTo>
                  <a:lnTo>
                    <a:pt x="90678" y="700023"/>
                  </a:lnTo>
                  <a:lnTo>
                    <a:pt x="140208" y="646556"/>
                  </a:lnTo>
                  <a:lnTo>
                    <a:pt x="180212" y="611250"/>
                  </a:lnTo>
                  <a:lnTo>
                    <a:pt x="225806" y="576198"/>
                  </a:lnTo>
                  <a:lnTo>
                    <a:pt x="276733" y="541781"/>
                  </a:lnTo>
                  <a:lnTo>
                    <a:pt x="332613" y="507872"/>
                  </a:lnTo>
                  <a:lnTo>
                    <a:pt x="393446" y="474725"/>
                  </a:lnTo>
                  <a:lnTo>
                    <a:pt x="458978" y="442213"/>
                  </a:lnTo>
                  <a:lnTo>
                    <a:pt x="528701" y="410590"/>
                  </a:lnTo>
                  <a:lnTo>
                    <a:pt x="602869" y="379856"/>
                  </a:lnTo>
                  <a:lnTo>
                    <a:pt x="680847" y="350265"/>
                  </a:lnTo>
                  <a:lnTo>
                    <a:pt x="762508" y="321563"/>
                  </a:lnTo>
                  <a:lnTo>
                    <a:pt x="847725" y="294131"/>
                  </a:lnTo>
                  <a:lnTo>
                    <a:pt x="936371" y="267969"/>
                  </a:lnTo>
                  <a:lnTo>
                    <a:pt x="1028065" y="242950"/>
                  </a:lnTo>
                  <a:lnTo>
                    <a:pt x="1122426" y="219455"/>
                  </a:lnTo>
                  <a:lnTo>
                    <a:pt x="1219454" y="197357"/>
                  </a:lnTo>
                  <a:lnTo>
                    <a:pt x="1319022" y="176910"/>
                  </a:lnTo>
                  <a:lnTo>
                    <a:pt x="1420749" y="157860"/>
                  </a:lnTo>
                  <a:lnTo>
                    <a:pt x="1524381" y="140715"/>
                  </a:lnTo>
                  <a:lnTo>
                    <a:pt x="1629790" y="125221"/>
                  </a:lnTo>
                  <a:lnTo>
                    <a:pt x="1736725" y="111505"/>
                  </a:lnTo>
                  <a:lnTo>
                    <a:pt x="1844929" y="99694"/>
                  </a:lnTo>
                  <a:lnTo>
                    <a:pt x="1954276" y="89915"/>
                  </a:lnTo>
                  <a:lnTo>
                    <a:pt x="2064512" y="82168"/>
                  </a:lnTo>
                  <a:lnTo>
                    <a:pt x="2175383" y="76580"/>
                  </a:lnTo>
                  <a:lnTo>
                    <a:pt x="2286635" y="73151"/>
                  </a:lnTo>
                  <a:lnTo>
                    <a:pt x="2324655" y="72758"/>
                  </a:lnTo>
                  <a:lnTo>
                    <a:pt x="2346710" y="59612"/>
                  </a:lnTo>
                  <a:lnTo>
                    <a:pt x="2324313" y="46848"/>
                  </a:lnTo>
                  <a:close/>
                </a:path>
                <a:path w="2398395" h="861060">
                  <a:moveTo>
                    <a:pt x="2375723" y="46354"/>
                  </a:moveTo>
                  <a:lnTo>
                    <a:pt x="2372233" y="46354"/>
                  </a:lnTo>
                  <a:lnTo>
                    <a:pt x="2372237" y="46848"/>
                  </a:lnTo>
                  <a:lnTo>
                    <a:pt x="2372362" y="59612"/>
                  </a:lnTo>
                  <a:lnTo>
                    <a:pt x="2372487" y="72262"/>
                  </a:lnTo>
                  <a:lnTo>
                    <a:pt x="2324655" y="72758"/>
                  </a:lnTo>
                  <a:lnTo>
                    <a:pt x="2282316" y="98043"/>
                  </a:lnTo>
                  <a:lnTo>
                    <a:pt x="2280285" y="105917"/>
                  </a:lnTo>
                  <a:lnTo>
                    <a:pt x="2283967" y="112140"/>
                  </a:lnTo>
                  <a:lnTo>
                    <a:pt x="2287651" y="118236"/>
                  </a:lnTo>
                  <a:lnTo>
                    <a:pt x="2295652" y="120268"/>
                  </a:lnTo>
                  <a:lnTo>
                    <a:pt x="2398014" y="59054"/>
                  </a:lnTo>
                  <a:lnTo>
                    <a:pt x="2375723" y="46354"/>
                  </a:lnTo>
                  <a:close/>
                </a:path>
                <a:path w="2398395" h="861060">
                  <a:moveTo>
                    <a:pt x="2346710" y="59612"/>
                  </a:moveTo>
                  <a:lnTo>
                    <a:pt x="2324655" y="72758"/>
                  </a:lnTo>
                  <a:lnTo>
                    <a:pt x="2372487" y="72262"/>
                  </a:lnTo>
                  <a:lnTo>
                    <a:pt x="2372470" y="70611"/>
                  </a:lnTo>
                  <a:lnTo>
                    <a:pt x="2366010" y="70611"/>
                  </a:lnTo>
                  <a:lnTo>
                    <a:pt x="2346710" y="59612"/>
                  </a:lnTo>
                  <a:close/>
                </a:path>
                <a:path w="2398395" h="861060">
                  <a:moveTo>
                    <a:pt x="2365756" y="48259"/>
                  </a:moveTo>
                  <a:lnTo>
                    <a:pt x="2346710" y="59612"/>
                  </a:lnTo>
                  <a:lnTo>
                    <a:pt x="2366010" y="70611"/>
                  </a:lnTo>
                  <a:lnTo>
                    <a:pt x="2365885" y="59612"/>
                  </a:lnTo>
                  <a:lnTo>
                    <a:pt x="2365783" y="50672"/>
                  </a:lnTo>
                  <a:lnTo>
                    <a:pt x="2365756" y="48259"/>
                  </a:lnTo>
                  <a:close/>
                </a:path>
                <a:path w="2398395" h="861060">
                  <a:moveTo>
                    <a:pt x="2372251" y="48259"/>
                  </a:moveTo>
                  <a:lnTo>
                    <a:pt x="2365756" y="48259"/>
                  </a:lnTo>
                  <a:lnTo>
                    <a:pt x="2365783" y="50672"/>
                  </a:lnTo>
                  <a:lnTo>
                    <a:pt x="2365885" y="59612"/>
                  </a:lnTo>
                  <a:lnTo>
                    <a:pt x="2366010" y="70611"/>
                  </a:lnTo>
                  <a:lnTo>
                    <a:pt x="2372470" y="70611"/>
                  </a:lnTo>
                  <a:lnTo>
                    <a:pt x="2372357" y="59054"/>
                  </a:lnTo>
                  <a:lnTo>
                    <a:pt x="2372251" y="48259"/>
                  </a:lnTo>
                  <a:close/>
                </a:path>
                <a:path w="2398395" h="861060">
                  <a:moveTo>
                    <a:pt x="2372233" y="46354"/>
                  </a:moveTo>
                  <a:lnTo>
                    <a:pt x="2324313" y="46848"/>
                  </a:lnTo>
                  <a:lnTo>
                    <a:pt x="2346710" y="59612"/>
                  </a:lnTo>
                  <a:lnTo>
                    <a:pt x="2365756" y="48259"/>
                  </a:lnTo>
                  <a:lnTo>
                    <a:pt x="2372251" y="48259"/>
                  </a:lnTo>
                  <a:lnTo>
                    <a:pt x="2372233" y="46354"/>
                  </a:lnTo>
                  <a:close/>
                </a:path>
                <a:path w="2398395" h="861060">
                  <a:moveTo>
                    <a:pt x="2294382" y="0"/>
                  </a:moveTo>
                  <a:lnTo>
                    <a:pt x="2286508" y="2158"/>
                  </a:lnTo>
                  <a:lnTo>
                    <a:pt x="2279396" y="14604"/>
                  </a:lnTo>
                  <a:lnTo>
                    <a:pt x="2281555" y="22478"/>
                  </a:lnTo>
                  <a:lnTo>
                    <a:pt x="2324313" y="46848"/>
                  </a:lnTo>
                  <a:lnTo>
                    <a:pt x="2372233" y="46354"/>
                  </a:lnTo>
                  <a:lnTo>
                    <a:pt x="2375723" y="46354"/>
                  </a:lnTo>
                  <a:lnTo>
                    <a:pt x="2294382" y="0"/>
                  </a:lnTo>
                  <a:close/>
                </a:path>
              </a:pathLst>
            </a:custGeom>
            <a:solidFill>
              <a:srgbClr val="939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Bilinear</a:t>
            </a:r>
            <a:r>
              <a:rPr spc="-240" dirty="0"/>
              <a:t> </a:t>
            </a:r>
            <a:r>
              <a:rPr spc="-40" dirty="0"/>
              <a:t>Interpolation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59100" y="1905000"/>
          <a:ext cx="11303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98166" y="212026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9155" y="1895855"/>
            <a:ext cx="3505200" cy="368935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Times New Roman"/>
                <a:cs typeface="Times New Roman"/>
              </a:rPr>
              <a:t>&gt;&gt;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imresize(I,2,'bilinear')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142990" y="2400300"/>
          <a:ext cx="276605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782817" y="298170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6436" y="5020436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56176" y="4570476"/>
            <a:ext cx="1668780" cy="1211580"/>
            <a:chOff x="4456176" y="4570476"/>
            <a:chExt cx="1668780" cy="12115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4276" y="4576523"/>
              <a:ext cx="1630679" cy="1099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6176" y="5672328"/>
              <a:ext cx="1621536" cy="1022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2416" y="4590288"/>
              <a:ext cx="102235" cy="11734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4228" y="4570476"/>
              <a:ext cx="119034" cy="12115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44212" y="4858512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3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3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44212" y="4858512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3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3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856990" y="4438650"/>
          <a:ext cx="2867020" cy="1461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70180">
                <a:tc rowSpan="2" gridSpan="2"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4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120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1.2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120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65">
                <a:tc rowSpan="2"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6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45415">
                        <a:lnSpc>
                          <a:spcPts val="1175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7582081" y="5485634"/>
            <a:ext cx="15748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50" dirty="0">
                <a:latin typeface="Trebuchet MS"/>
                <a:cs typeface="Trebuchet MS"/>
              </a:rPr>
              <a:t>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17343" y="5274186"/>
            <a:ext cx="116840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latin typeface="Symbol"/>
                <a:cs typeface="Symbol"/>
              </a:rPr>
              <a:t></a:t>
            </a:r>
            <a:r>
              <a:rPr sz="2150" spc="80" dirty="0">
                <a:latin typeface="Times New Roman"/>
                <a:cs typeface="Times New Roman"/>
              </a:rPr>
              <a:t> </a:t>
            </a:r>
            <a:r>
              <a:rPr sz="3225" u="sng" baseline="34883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7</a:t>
            </a:r>
            <a:r>
              <a:rPr sz="3225" spc="104" baseline="34883" dirty="0">
                <a:latin typeface="Trebuchet MS"/>
                <a:cs typeface="Trebuchet MS"/>
              </a:rPr>
              <a:t> </a:t>
            </a:r>
            <a:r>
              <a:rPr sz="2150" spc="-35" dirty="0">
                <a:latin typeface="Symbol"/>
                <a:cs typeface="Symbol"/>
              </a:rPr>
              <a:t></a:t>
            </a:r>
            <a:r>
              <a:rPr sz="2150" spc="-35" dirty="0">
                <a:latin typeface="Trebuchet MS"/>
                <a:cs typeface="Trebuchet MS"/>
              </a:rPr>
              <a:t>1.75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08350" y="4569396"/>
            <a:ext cx="1934845" cy="564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2120"/>
              </a:lnSpc>
              <a:spcBef>
                <a:spcPts val="95"/>
              </a:spcBef>
            </a:pPr>
            <a:r>
              <a:rPr sz="3225" u="sng" spc="-135" baseline="34883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3</a:t>
            </a:r>
            <a:r>
              <a:rPr sz="3225" spc="-232" baseline="34883" dirty="0">
                <a:latin typeface="Trebuchet MS"/>
                <a:cs typeface="Trebuchet MS"/>
              </a:rPr>
              <a:t> </a:t>
            </a:r>
            <a:r>
              <a:rPr sz="2150" spc="-185" dirty="0">
                <a:latin typeface="Trebuchet MS"/>
                <a:cs typeface="Trebuchet MS"/>
              </a:rPr>
              <a:t>x1.25</a:t>
            </a:r>
            <a:r>
              <a:rPr sz="2150" spc="-290" dirty="0">
                <a:latin typeface="Trebuchet MS"/>
                <a:cs typeface="Trebuchet MS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90" dirty="0">
                <a:latin typeface="Times New Roman"/>
                <a:cs typeface="Times New Roman"/>
              </a:rPr>
              <a:t> </a:t>
            </a:r>
            <a:r>
              <a:rPr sz="3225" u="sng" spc="-135" baseline="34883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1</a:t>
            </a:r>
            <a:r>
              <a:rPr sz="3225" spc="-202" baseline="34883" dirty="0">
                <a:latin typeface="Trebuchet MS"/>
                <a:cs typeface="Trebuchet MS"/>
              </a:rPr>
              <a:t> </a:t>
            </a:r>
            <a:r>
              <a:rPr sz="2150" spc="-20" dirty="0">
                <a:latin typeface="Trebuchet MS"/>
                <a:cs typeface="Trebuchet MS"/>
              </a:rPr>
              <a:t>x3.25</a:t>
            </a:r>
            <a:endParaRPr sz="2150">
              <a:latin typeface="Trebuchet MS"/>
              <a:cs typeface="Trebuchet MS"/>
            </a:endParaRPr>
          </a:p>
          <a:p>
            <a:pPr marL="69215">
              <a:lnSpc>
                <a:spcPts val="2120"/>
              </a:lnSpc>
              <a:tabLst>
                <a:tab pos="1094105" algn="l"/>
              </a:tabLst>
            </a:pPr>
            <a:r>
              <a:rPr sz="2150" spc="-50" dirty="0">
                <a:latin typeface="Trebuchet MS"/>
                <a:cs typeface="Trebuchet MS"/>
              </a:rPr>
              <a:t>4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50" dirty="0">
                <a:latin typeface="Trebuchet MS"/>
                <a:cs typeface="Trebuchet MS"/>
              </a:rPr>
              <a:t>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58811" y="4325111"/>
            <a:ext cx="2057400" cy="1551940"/>
          </a:xfrm>
          <a:custGeom>
            <a:avLst/>
            <a:gdLst/>
            <a:ahLst/>
            <a:cxnLst/>
            <a:rect l="l" t="t" r="r" b="b"/>
            <a:pathLst>
              <a:path w="2057400" h="1551939">
                <a:moveTo>
                  <a:pt x="0" y="1551432"/>
                </a:moveTo>
                <a:lnTo>
                  <a:pt x="2057400" y="1551432"/>
                </a:lnTo>
                <a:lnTo>
                  <a:pt x="2057400" y="0"/>
                </a:lnTo>
                <a:lnTo>
                  <a:pt x="0" y="0"/>
                </a:lnTo>
                <a:lnTo>
                  <a:pt x="0" y="1551432"/>
                </a:lnTo>
                <a:close/>
              </a:path>
            </a:pathLst>
          </a:custGeom>
          <a:ln w="15240">
            <a:solidFill>
              <a:srgbClr val="A7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4980178" y="4846294"/>
            <a:ext cx="2419350" cy="305435"/>
            <a:chOff x="4980178" y="4846294"/>
            <a:chExt cx="2419350" cy="305435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7864" y="4846294"/>
              <a:ext cx="2391156" cy="30482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80178" y="4922519"/>
              <a:ext cx="2250440" cy="120650"/>
            </a:xfrm>
            <a:custGeom>
              <a:avLst/>
              <a:gdLst/>
              <a:ahLst/>
              <a:cxnLst/>
              <a:rect l="l" t="t" r="r" b="b"/>
              <a:pathLst>
                <a:path w="2250440" h="120650">
                  <a:moveTo>
                    <a:pt x="2198642" y="60070"/>
                  </a:moveTo>
                  <a:lnTo>
                    <a:pt x="2133853" y="97916"/>
                  </a:lnTo>
                  <a:lnTo>
                    <a:pt x="2131821" y="105790"/>
                  </a:lnTo>
                  <a:lnTo>
                    <a:pt x="2135504" y="112013"/>
                  </a:lnTo>
                  <a:lnTo>
                    <a:pt x="2139061" y="118109"/>
                  </a:lnTo>
                  <a:lnTo>
                    <a:pt x="2146935" y="120268"/>
                  </a:lnTo>
                  <a:lnTo>
                    <a:pt x="2227847" y="73024"/>
                  </a:lnTo>
                  <a:lnTo>
                    <a:pt x="2224277" y="73024"/>
                  </a:lnTo>
                  <a:lnTo>
                    <a:pt x="2224277" y="71246"/>
                  </a:lnTo>
                  <a:lnTo>
                    <a:pt x="2217800" y="71246"/>
                  </a:lnTo>
                  <a:lnTo>
                    <a:pt x="2198642" y="60070"/>
                  </a:lnTo>
                  <a:close/>
                </a:path>
                <a:path w="2250440" h="120650">
                  <a:moveTo>
                    <a:pt x="2193852" y="57276"/>
                  </a:moveTo>
                  <a:lnTo>
                    <a:pt x="1147063" y="57276"/>
                  </a:lnTo>
                  <a:lnTo>
                    <a:pt x="1144587" y="57657"/>
                  </a:lnTo>
                  <a:lnTo>
                    <a:pt x="1145587" y="57657"/>
                  </a:lnTo>
                  <a:lnTo>
                    <a:pt x="1143761" y="58292"/>
                  </a:lnTo>
                  <a:lnTo>
                    <a:pt x="1130172" y="58292"/>
                  </a:lnTo>
                  <a:lnTo>
                    <a:pt x="1118361" y="58800"/>
                  </a:lnTo>
                  <a:lnTo>
                    <a:pt x="1111249" y="58927"/>
                  </a:lnTo>
                  <a:lnTo>
                    <a:pt x="1101090" y="59435"/>
                  </a:lnTo>
                  <a:lnTo>
                    <a:pt x="1095247" y="59435"/>
                  </a:lnTo>
                  <a:lnTo>
                    <a:pt x="1081532" y="59816"/>
                  </a:lnTo>
                  <a:lnTo>
                    <a:pt x="1076324" y="59816"/>
                  </a:lnTo>
                  <a:lnTo>
                    <a:pt x="1025270" y="60832"/>
                  </a:lnTo>
                  <a:lnTo>
                    <a:pt x="1018666" y="60832"/>
                  </a:lnTo>
                  <a:lnTo>
                    <a:pt x="625242" y="64769"/>
                  </a:lnTo>
                  <a:lnTo>
                    <a:pt x="478409" y="65404"/>
                  </a:lnTo>
                  <a:lnTo>
                    <a:pt x="380492" y="65785"/>
                  </a:lnTo>
                  <a:lnTo>
                    <a:pt x="0" y="66293"/>
                  </a:lnTo>
                  <a:lnTo>
                    <a:pt x="49783" y="66293"/>
                  </a:lnTo>
                  <a:lnTo>
                    <a:pt x="49783" y="92201"/>
                  </a:lnTo>
                  <a:lnTo>
                    <a:pt x="280543" y="92074"/>
                  </a:lnTo>
                  <a:lnTo>
                    <a:pt x="478377" y="91312"/>
                  </a:lnTo>
                  <a:lnTo>
                    <a:pt x="1005712" y="86994"/>
                  </a:lnTo>
                  <a:lnTo>
                    <a:pt x="1095755" y="85343"/>
                  </a:lnTo>
                  <a:lnTo>
                    <a:pt x="1112138" y="84835"/>
                  </a:lnTo>
                  <a:lnTo>
                    <a:pt x="1116012" y="84835"/>
                  </a:lnTo>
                  <a:lnTo>
                    <a:pt x="1131569" y="84200"/>
                  </a:lnTo>
                  <a:lnTo>
                    <a:pt x="1136268" y="83946"/>
                  </a:lnTo>
                  <a:lnTo>
                    <a:pt x="1140713" y="83819"/>
                  </a:lnTo>
                  <a:lnTo>
                    <a:pt x="1144650" y="83438"/>
                  </a:lnTo>
                  <a:lnTo>
                    <a:pt x="1146048" y="83438"/>
                  </a:lnTo>
                  <a:lnTo>
                    <a:pt x="1149476" y="83057"/>
                  </a:lnTo>
                  <a:lnTo>
                    <a:pt x="1152397" y="82549"/>
                  </a:lnTo>
                  <a:lnTo>
                    <a:pt x="1153413" y="82295"/>
                  </a:lnTo>
                  <a:lnTo>
                    <a:pt x="1153752" y="82168"/>
                  </a:lnTo>
                  <a:lnTo>
                    <a:pt x="1153159" y="82168"/>
                  </a:lnTo>
                  <a:lnTo>
                    <a:pt x="1155715" y="81279"/>
                  </a:lnTo>
                  <a:lnTo>
                    <a:pt x="1166399" y="81279"/>
                  </a:lnTo>
                  <a:lnTo>
                    <a:pt x="1181480" y="80644"/>
                  </a:lnTo>
                  <a:lnTo>
                    <a:pt x="1185841" y="80644"/>
                  </a:lnTo>
                  <a:lnTo>
                    <a:pt x="1196339" y="80136"/>
                  </a:lnTo>
                  <a:lnTo>
                    <a:pt x="1200086" y="80136"/>
                  </a:lnTo>
                  <a:lnTo>
                    <a:pt x="1213611" y="79755"/>
                  </a:lnTo>
                  <a:lnTo>
                    <a:pt x="1218057" y="79755"/>
                  </a:lnTo>
                  <a:lnTo>
                    <a:pt x="1244726" y="79120"/>
                  </a:lnTo>
                  <a:lnTo>
                    <a:pt x="1774190" y="74294"/>
                  </a:lnTo>
                  <a:lnTo>
                    <a:pt x="1870138" y="73913"/>
                  </a:lnTo>
                  <a:lnTo>
                    <a:pt x="2176435" y="73024"/>
                  </a:lnTo>
                  <a:lnTo>
                    <a:pt x="2198642" y="60070"/>
                  </a:lnTo>
                  <a:lnTo>
                    <a:pt x="2193852" y="57276"/>
                  </a:lnTo>
                  <a:close/>
                </a:path>
                <a:path w="2250440" h="120650">
                  <a:moveTo>
                    <a:pt x="1155699" y="81279"/>
                  </a:moveTo>
                  <a:lnTo>
                    <a:pt x="1153159" y="82168"/>
                  </a:lnTo>
                  <a:lnTo>
                    <a:pt x="1154429" y="81914"/>
                  </a:lnTo>
                  <a:lnTo>
                    <a:pt x="1155318" y="81533"/>
                  </a:lnTo>
                  <a:lnTo>
                    <a:pt x="1155699" y="81279"/>
                  </a:lnTo>
                  <a:close/>
                </a:path>
                <a:path w="2250440" h="120650">
                  <a:moveTo>
                    <a:pt x="1154429" y="81914"/>
                  </a:moveTo>
                  <a:lnTo>
                    <a:pt x="1153159" y="82168"/>
                  </a:lnTo>
                  <a:lnTo>
                    <a:pt x="1153752" y="82168"/>
                  </a:lnTo>
                  <a:lnTo>
                    <a:pt x="1154429" y="81914"/>
                  </a:lnTo>
                  <a:close/>
                </a:path>
                <a:path w="2250440" h="120650">
                  <a:moveTo>
                    <a:pt x="1164589" y="81279"/>
                  </a:moveTo>
                  <a:lnTo>
                    <a:pt x="1155699" y="81279"/>
                  </a:lnTo>
                  <a:lnTo>
                    <a:pt x="1155318" y="81533"/>
                  </a:lnTo>
                  <a:lnTo>
                    <a:pt x="1154429" y="81914"/>
                  </a:lnTo>
                  <a:lnTo>
                    <a:pt x="1157096" y="81787"/>
                  </a:lnTo>
                  <a:lnTo>
                    <a:pt x="1164589" y="81279"/>
                  </a:lnTo>
                  <a:close/>
                </a:path>
                <a:path w="2250440" h="120650">
                  <a:moveTo>
                    <a:pt x="2227820" y="47116"/>
                  </a:moveTo>
                  <a:lnTo>
                    <a:pt x="2224277" y="47116"/>
                  </a:lnTo>
                  <a:lnTo>
                    <a:pt x="2224277" y="73024"/>
                  </a:lnTo>
                  <a:lnTo>
                    <a:pt x="2227847" y="73024"/>
                  </a:lnTo>
                  <a:lnTo>
                    <a:pt x="2250058" y="60070"/>
                  </a:lnTo>
                  <a:lnTo>
                    <a:pt x="2227820" y="47116"/>
                  </a:lnTo>
                  <a:close/>
                </a:path>
                <a:path w="2250440" h="120650">
                  <a:moveTo>
                    <a:pt x="2217800" y="48894"/>
                  </a:moveTo>
                  <a:lnTo>
                    <a:pt x="2198642" y="60070"/>
                  </a:lnTo>
                  <a:lnTo>
                    <a:pt x="2217800" y="71246"/>
                  </a:lnTo>
                  <a:lnTo>
                    <a:pt x="2217800" y="48894"/>
                  </a:lnTo>
                  <a:close/>
                </a:path>
                <a:path w="2250440" h="120650">
                  <a:moveTo>
                    <a:pt x="2224277" y="48894"/>
                  </a:moveTo>
                  <a:lnTo>
                    <a:pt x="2217800" y="48894"/>
                  </a:lnTo>
                  <a:lnTo>
                    <a:pt x="2217800" y="71246"/>
                  </a:lnTo>
                  <a:lnTo>
                    <a:pt x="2224277" y="71246"/>
                  </a:lnTo>
                  <a:lnTo>
                    <a:pt x="2224277" y="48894"/>
                  </a:lnTo>
                  <a:close/>
                </a:path>
                <a:path w="2250440" h="120650">
                  <a:moveTo>
                    <a:pt x="611124" y="65785"/>
                  </a:moveTo>
                  <a:lnTo>
                    <a:pt x="355472" y="65785"/>
                  </a:lnTo>
                  <a:lnTo>
                    <a:pt x="255651" y="66293"/>
                  </a:lnTo>
                  <a:lnTo>
                    <a:pt x="0" y="66293"/>
                  </a:lnTo>
                  <a:lnTo>
                    <a:pt x="611124" y="65785"/>
                  </a:lnTo>
                  <a:close/>
                </a:path>
                <a:path w="2250440" h="120650">
                  <a:moveTo>
                    <a:pt x="2146935" y="0"/>
                  </a:moveTo>
                  <a:lnTo>
                    <a:pt x="2138933" y="2031"/>
                  </a:lnTo>
                  <a:lnTo>
                    <a:pt x="2135377" y="8254"/>
                  </a:lnTo>
                  <a:lnTo>
                    <a:pt x="2131694" y="14477"/>
                  </a:lnTo>
                  <a:lnTo>
                    <a:pt x="2133853" y="22351"/>
                  </a:lnTo>
                  <a:lnTo>
                    <a:pt x="2140076" y="25907"/>
                  </a:lnTo>
                  <a:lnTo>
                    <a:pt x="2198642" y="60070"/>
                  </a:lnTo>
                  <a:lnTo>
                    <a:pt x="2217800" y="48894"/>
                  </a:lnTo>
                  <a:lnTo>
                    <a:pt x="2224277" y="48894"/>
                  </a:lnTo>
                  <a:lnTo>
                    <a:pt x="2224277" y="47116"/>
                  </a:lnTo>
                  <a:lnTo>
                    <a:pt x="2227820" y="47116"/>
                  </a:lnTo>
                  <a:lnTo>
                    <a:pt x="2146935" y="0"/>
                  </a:lnTo>
                  <a:close/>
                </a:path>
                <a:path w="2250440" h="120650">
                  <a:moveTo>
                    <a:pt x="1145116" y="57657"/>
                  </a:moveTo>
                  <a:lnTo>
                    <a:pt x="1142618" y="57657"/>
                  </a:lnTo>
                  <a:lnTo>
                    <a:pt x="1139570" y="57911"/>
                  </a:lnTo>
                  <a:lnTo>
                    <a:pt x="1133284" y="58292"/>
                  </a:lnTo>
                  <a:lnTo>
                    <a:pt x="1143952" y="58292"/>
                  </a:lnTo>
                  <a:lnTo>
                    <a:pt x="1144523" y="57911"/>
                  </a:lnTo>
                  <a:lnTo>
                    <a:pt x="1145116" y="57657"/>
                  </a:lnTo>
                  <a:close/>
                </a:path>
                <a:path w="2250440" h="120650">
                  <a:moveTo>
                    <a:pt x="2176435" y="47116"/>
                  </a:moveTo>
                  <a:lnTo>
                    <a:pt x="2146935" y="47116"/>
                  </a:lnTo>
                  <a:lnTo>
                    <a:pt x="1942719" y="47624"/>
                  </a:lnTo>
                  <a:lnTo>
                    <a:pt x="1870011" y="48005"/>
                  </a:lnTo>
                  <a:lnTo>
                    <a:pt x="1774063" y="48386"/>
                  </a:lnTo>
                  <a:lnTo>
                    <a:pt x="1274127" y="52831"/>
                  </a:lnTo>
                  <a:lnTo>
                    <a:pt x="1267967" y="52831"/>
                  </a:lnTo>
                  <a:lnTo>
                    <a:pt x="1249680" y="53212"/>
                  </a:lnTo>
                  <a:lnTo>
                    <a:pt x="1244218" y="53212"/>
                  </a:lnTo>
                  <a:lnTo>
                    <a:pt x="1213103" y="53974"/>
                  </a:lnTo>
                  <a:lnTo>
                    <a:pt x="1203959" y="54101"/>
                  </a:lnTo>
                  <a:lnTo>
                    <a:pt x="1183894" y="54736"/>
                  </a:lnTo>
                  <a:lnTo>
                    <a:pt x="1180718" y="54736"/>
                  </a:lnTo>
                  <a:lnTo>
                    <a:pt x="1173987" y="54990"/>
                  </a:lnTo>
                  <a:lnTo>
                    <a:pt x="1160811" y="55625"/>
                  </a:lnTo>
                  <a:lnTo>
                    <a:pt x="1158620" y="55625"/>
                  </a:lnTo>
                  <a:lnTo>
                    <a:pt x="1152143" y="56133"/>
                  </a:lnTo>
                  <a:lnTo>
                    <a:pt x="1143952" y="58292"/>
                  </a:lnTo>
                  <a:lnTo>
                    <a:pt x="1143761" y="58292"/>
                  </a:lnTo>
                  <a:lnTo>
                    <a:pt x="1146682" y="57276"/>
                  </a:lnTo>
                  <a:lnTo>
                    <a:pt x="2193852" y="57276"/>
                  </a:lnTo>
                  <a:lnTo>
                    <a:pt x="2176435" y="47116"/>
                  </a:lnTo>
                  <a:close/>
                </a:path>
              </a:pathLst>
            </a:custGeom>
            <a:solidFill>
              <a:srgbClr val="939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Bilinear</a:t>
            </a:r>
            <a:r>
              <a:rPr spc="-235" dirty="0"/>
              <a:t> </a:t>
            </a:r>
            <a:r>
              <a:rPr spc="-45" dirty="0"/>
              <a:t>Interpolation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59100" y="1905000"/>
          <a:ext cx="11303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98166" y="212026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9155" y="1895855"/>
            <a:ext cx="3505200" cy="368935"/>
          </a:xfrm>
          <a:prstGeom prst="rect">
            <a:avLst/>
          </a:prstGeom>
          <a:ln w="15240">
            <a:solidFill>
              <a:srgbClr val="939F87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Times New Roman"/>
                <a:cs typeface="Times New Roman"/>
              </a:rPr>
              <a:t>&gt;&gt;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imresize(I,2,'bilinear')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142990" y="2400300"/>
          <a:ext cx="276605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3.50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782817" y="2981705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856990" y="4438650"/>
          <a:ext cx="276605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1.75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3.25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4.00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496436" y="5020436"/>
            <a:ext cx="28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Zooming</a:t>
            </a:r>
            <a:r>
              <a:rPr spc="-225" dirty="0"/>
              <a:t> </a:t>
            </a:r>
            <a:r>
              <a:rPr dirty="0"/>
              <a:t>in</a:t>
            </a:r>
            <a:r>
              <a:rPr spc="-220" dirty="0"/>
              <a:t> </a:t>
            </a:r>
            <a:r>
              <a:rPr spc="-40" dirty="0"/>
              <a:t>Interpolation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4076" y="2839211"/>
            <a:ext cx="685800" cy="7040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7823" y="2185416"/>
            <a:ext cx="4267200" cy="20101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06420" y="3644010"/>
            <a:ext cx="1211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5" dirty="0">
                <a:latin typeface="Trebuchet MS"/>
                <a:cs typeface="Trebuchet MS"/>
              </a:rPr>
              <a:t>Original </a:t>
            </a:r>
            <a:r>
              <a:rPr sz="1600" spc="-110" dirty="0">
                <a:latin typeface="Trebuchet MS"/>
                <a:cs typeface="Trebuchet MS"/>
              </a:rPr>
              <a:t>image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025897" y="4309364"/>
            <a:ext cx="15265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5" dirty="0">
                <a:latin typeface="Trebuchet MS"/>
                <a:cs typeface="Trebuchet MS"/>
              </a:rPr>
              <a:t>Nearest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Neighbor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26806" y="4309364"/>
            <a:ext cx="759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5" dirty="0">
                <a:latin typeface="Trebuchet MS"/>
                <a:cs typeface="Trebuchet MS"/>
              </a:rPr>
              <a:t>Bi-Linear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5193B-B368-400F-8078-A984F4C1D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9034780" cy="738664"/>
          </a:xfrm>
        </p:spPr>
        <p:txBody>
          <a:bodyPr/>
          <a:lstStyle/>
          <a:p>
            <a:r>
              <a:rPr lang="en-US" dirty="0"/>
              <a:t>Bilinear 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A0F885A-2F87-2DFC-CD53-BA0BD65BE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23793"/>
              </p:ext>
            </p:extLst>
          </p:nvPr>
        </p:nvGraphicFramePr>
        <p:xfrm>
          <a:off x="1323975" y="1543170"/>
          <a:ext cx="1952625" cy="1421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7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spc="-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9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4ADC24-331F-8685-2BD9-35F80DC14183}"/>
              </a:ext>
            </a:extLst>
          </p:cNvPr>
          <p:cNvCxnSpPr>
            <a:cxnSpLocks/>
          </p:cNvCxnSpPr>
          <p:nvPr/>
        </p:nvCxnSpPr>
        <p:spPr>
          <a:xfrm>
            <a:off x="3708486" y="2273398"/>
            <a:ext cx="281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BDEB65-47B4-D322-4F08-64AC9C604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486631"/>
              </p:ext>
            </p:extLst>
          </p:nvPr>
        </p:nvGraphicFramePr>
        <p:xfrm>
          <a:off x="6705600" y="967264"/>
          <a:ext cx="5054602" cy="2951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val="3549809410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26064949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742590603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571790979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80138323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4280292415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546836376"/>
                    </a:ext>
                  </a:extLst>
                </a:gridCol>
              </a:tblGrid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258210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02043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481757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788881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5844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4566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0081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03B30AC-2F67-6D0D-93ED-46F64A4CF251}"/>
              </a:ext>
            </a:extLst>
          </p:cNvPr>
          <p:cNvSpPr txBox="1"/>
          <p:nvPr/>
        </p:nvSpPr>
        <p:spPr>
          <a:xfrm>
            <a:off x="4845951" y="182395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E35D3-11BD-C9D7-FB29-6276203A7B07}"/>
                  </a:ext>
                </a:extLst>
              </p:cNvPr>
              <p:cNvSpPr txBox="1"/>
              <p:nvPr/>
            </p:nvSpPr>
            <p:spPr>
              <a:xfrm>
                <a:off x="228600" y="2899257"/>
                <a:ext cx="6477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𝑆𝑖𝑧𝑒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𝑠𝑐𝑎𝑙𝑒𝑑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𝑖𝑚𝑎𝑔𝑒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ar-A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  =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ar-AE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1" dirty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ar-AE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                            =7x7</a:t>
                </a:r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E35D3-11BD-C9D7-FB29-6276203A7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899257"/>
                <a:ext cx="6477000" cy="923330"/>
              </a:xfrm>
              <a:prstGeom prst="rect">
                <a:avLst/>
              </a:prstGeom>
              <a:blipFill>
                <a:blip r:embed="rId2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585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78C6E-AAD2-2E3A-315A-56A64455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5F2A-0410-6400-58D1-EE739A6AC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9034780" cy="738664"/>
          </a:xfrm>
        </p:spPr>
        <p:txBody>
          <a:bodyPr/>
          <a:lstStyle/>
          <a:p>
            <a:r>
              <a:rPr lang="en-US" dirty="0"/>
              <a:t>Bilinear 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2B31424-2C16-40D4-EF73-3EEDC597054E}"/>
              </a:ext>
            </a:extLst>
          </p:cNvPr>
          <p:cNvGraphicFramePr>
            <a:graphicFrameLocks noGrp="1"/>
          </p:cNvGraphicFramePr>
          <p:nvPr/>
        </p:nvGraphicFramePr>
        <p:xfrm>
          <a:off x="1323975" y="1543170"/>
          <a:ext cx="1952625" cy="1421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7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spc="-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9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A04B72-EF4B-274D-4B32-92A46FB84F82}"/>
              </a:ext>
            </a:extLst>
          </p:cNvPr>
          <p:cNvCxnSpPr>
            <a:cxnSpLocks/>
          </p:cNvCxnSpPr>
          <p:nvPr/>
        </p:nvCxnSpPr>
        <p:spPr>
          <a:xfrm>
            <a:off x="3708486" y="2273398"/>
            <a:ext cx="281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339238-4AFA-C95C-565E-9509504B5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63034"/>
              </p:ext>
            </p:extLst>
          </p:nvPr>
        </p:nvGraphicFramePr>
        <p:xfrm>
          <a:off x="6705600" y="797413"/>
          <a:ext cx="5054602" cy="2951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val="3549809410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26064949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742590603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571790979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80138323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4280292415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546836376"/>
                    </a:ext>
                  </a:extLst>
                </a:gridCol>
              </a:tblGrid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258210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02043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481757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788881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5844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4566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0081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D446AF-CCFE-78DE-495B-88C368B21B83}"/>
              </a:ext>
            </a:extLst>
          </p:cNvPr>
          <p:cNvSpPr txBox="1"/>
          <p:nvPr/>
        </p:nvSpPr>
        <p:spPr>
          <a:xfrm>
            <a:off x="4845951" y="182395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7D40FE-D7AF-DE18-6CBC-7742213E1ADC}"/>
              </a:ext>
            </a:extLst>
          </p:cNvPr>
          <p:cNvSpPr txBox="1"/>
          <p:nvPr/>
        </p:nvSpPr>
        <p:spPr>
          <a:xfrm>
            <a:off x="457200" y="3919234"/>
            <a:ext cx="28194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/>
              <a:t>Horizontal interpolation </a:t>
            </a:r>
          </a:p>
          <a:p>
            <a:r>
              <a:rPr lang="en-US" sz="1800" b="1" dirty="0"/>
              <a:t>(3 intervals)</a:t>
            </a:r>
          </a:p>
          <a:p>
            <a:pPr lvl="3"/>
            <a:r>
              <a:rPr lang="en-US" b="1" dirty="0"/>
              <a:t>Between 1 and 4:</a:t>
            </a:r>
            <a:br>
              <a:rPr lang="en-US" dirty="0"/>
            </a:br>
            <a:r>
              <a:rPr lang="en-US" dirty="0"/>
              <a:t>1 × 2/3 + 4 × 1/3 = 2</a:t>
            </a:r>
            <a:br>
              <a:rPr lang="en-US" dirty="0"/>
            </a:br>
            <a:r>
              <a:rPr lang="en-US" dirty="0"/>
              <a:t>1 × 1/3 + 4 × 2/3 = 3</a:t>
            </a:r>
          </a:p>
          <a:p>
            <a:pPr lvl="3"/>
            <a:r>
              <a:rPr lang="en-US" b="1" dirty="0"/>
              <a:t>Between 4 and 7:</a:t>
            </a:r>
            <a:br>
              <a:rPr lang="en-US" dirty="0"/>
            </a:br>
            <a:r>
              <a:rPr lang="en-US" dirty="0"/>
              <a:t>4 × 2/3 + 7 × 1/3 = 5</a:t>
            </a:r>
            <a:br>
              <a:rPr lang="en-US" dirty="0"/>
            </a:br>
            <a:r>
              <a:rPr lang="en-US" dirty="0"/>
              <a:t>4 × 1/3 + 7 × 2/3 = 6</a:t>
            </a:r>
          </a:p>
        </p:txBody>
      </p:sp>
    </p:spTree>
    <p:extLst>
      <p:ext uri="{BB962C8B-B14F-4D97-AF65-F5344CB8AC3E}">
        <p14:creationId xmlns:p14="http://schemas.microsoft.com/office/powerpoint/2010/main" val="104195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6C308-4F56-5BCE-6200-5F56DB30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3683-3482-6C3E-34DA-443CB5CA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9034780" cy="738664"/>
          </a:xfrm>
        </p:spPr>
        <p:txBody>
          <a:bodyPr/>
          <a:lstStyle/>
          <a:p>
            <a:r>
              <a:rPr lang="en-US" dirty="0"/>
              <a:t>Bilinear 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0C9E0E6-948C-6DE6-4875-805224AD87C9}"/>
              </a:ext>
            </a:extLst>
          </p:cNvPr>
          <p:cNvGraphicFramePr>
            <a:graphicFrameLocks noGrp="1"/>
          </p:cNvGraphicFramePr>
          <p:nvPr/>
        </p:nvGraphicFramePr>
        <p:xfrm>
          <a:off x="1323975" y="1543170"/>
          <a:ext cx="1952625" cy="1421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7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spc="-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9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656AFB-F47A-B734-8E5A-8FD4E38BA9B0}"/>
              </a:ext>
            </a:extLst>
          </p:cNvPr>
          <p:cNvCxnSpPr>
            <a:cxnSpLocks/>
          </p:cNvCxnSpPr>
          <p:nvPr/>
        </p:nvCxnSpPr>
        <p:spPr>
          <a:xfrm>
            <a:off x="3708486" y="2273398"/>
            <a:ext cx="281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E082A4-3490-1DB2-3BF8-9D1AA01A3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785870"/>
              </p:ext>
            </p:extLst>
          </p:nvPr>
        </p:nvGraphicFramePr>
        <p:xfrm>
          <a:off x="6705600" y="797413"/>
          <a:ext cx="5054602" cy="2951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val="3549809410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26064949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742590603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571790979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80138323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4280292415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546836376"/>
                    </a:ext>
                  </a:extLst>
                </a:gridCol>
              </a:tblGrid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258210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02043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481757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788881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5844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4566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0081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D08C967-3715-A845-F462-2A8944C4AFD3}"/>
              </a:ext>
            </a:extLst>
          </p:cNvPr>
          <p:cNvSpPr txBox="1"/>
          <p:nvPr/>
        </p:nvSpPr>
        <p:spPr>
          <a:xfrm>
            <a:off x="4845951" y="182395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EC673-FA84-9116-479E-325DDED0210B}"/>
              </a:ext>
            </a:extLst>
          </p:cNvPr>
          <p:cNvSpPr txBox="1"/>
          <p:nvPr/>
        </p:nvSpPr>
        <p:spPr>
          <a:xfrm>
            <a:off x="457200" y="3919234"/>
            <a:ext cx="28194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/>
              <a:t>Horizontal interpolation </a:t>
            </a:r>
          </a:p>
          <a:p>
            <a:r>
              <a:rPr lang="en-US" sz="1800" b="1" dirty="0"/>
              <a:t>(3 intervals)</a:t>
            </a:r>
          </a:p>
          <a:p>
            <a:pPr lvl="3"/>
            <a:r>
              <a:rPr lang="en-US" b="1" dirty="0"/>
              <a:t>Between 1 and 4:</a:t>
            </a:r>
            <a:br>
              <a:rPr lang="en-US" dirty="0"/>
            </a:br>
            <a:r>
              <a:rPr lang="en-US" dirty="0"/>
              <a:t>1 × 2/3 + 4 × 1/3 = 2</a:t>
            </a:r>
            <a:br>
              <a:rPr lang="en-US" dirty="0"/>
            </a:br>
            <a:r>
              <a:rPr lang="en-US" dirty="0"/>
              <a:t>1 × 1/3 + 4 × 2/3 = 3</a:t>
            </a:r>
          </a:p>
          <a:p>
            <a:pPr lvl="3"/>
            <a:r>
              <a:rPr lang="en-US" b="1" dirty="0"/>
              <a:t>Between 4 and 7:</a:t>
            </a:r>
            <a:br>
              <a:rPr lang="en-US" dirty="0"/>
            </a:br>
            <a:r>
              <a:rPr lang="en-US" dirty="0"/>
              <a:t>4 × 2/3 + 7 × 1/3 = 5</a:t>
            </a:r>
            <a:br>
              <a:rPr lang="en-US" dirty="0"/>
            </a:br>
            <a:r>
              <a:rPr lang="en-US" dirty="0"/>
              <a:t>4 × 1/3 + 7 × 2/3 =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552EE-0363-A322-0519-872D49B651ED}"/>
              </a:ext>
            </a:extLst>
          </p:cNvPr>
          <p:cNvSpPr txBox="1"/>
          <p:nvPr/>
        </p:nvSpPr>
        <p:spPr>
          <a:xfrm>
            <a:off x="3671615" y="3919234"/>
            <a:ext cx="28194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/>
              <a:t>Horizontal interpolation </a:t>
            </a:r>
          </a:p>
          <a:p>
            <a:r>
              <a:rPr lang="en-US" sz="1800" b="1" dirty="0"/>
              <a:t>(3 intervals)</a:t>
            </a:r>
          </a:p>
          <a:p>
            <a:pPr lvl="3"/>
            <a:r>
              <a:rPr lang="en-US" b="1" dirty="0"/>
              <a:t>Between 2 and 5:</a:t>
            </a:r>
            <a:br>
              <a:rPr lang="en-US" dirty="0"/>
            </a:br>
            <a:r>
              <a:rPr lang="en-US" dirty="0"/>
              <a:t>2 × 2/3 + 5 × 1/3 = 3</a:t>
            </a:r>
            <a:br>
              <a:rPr lang="en-US" dirty="0"/>
            </a:br>
            <a:r>
              <a:rPr lang="en-US" dirty="0"/>
              <a:t>2 × 1/3 + 5 × 2/3 = 4</a:t>
            </a:r>
          </a:p>
          <a:p>
            <a:pPr lvl="3"/>
            <a:r>
              <a:rPr lang="en-US" b="1" dirty="0"/>
              <a:t>Between 5 and 8:</a:t>
            </a:r>
            <a:br>
              <a:rPr lang="en-US" dirty="0"/>
            </a:br>
            <a:r>
              <a:rPr lang="en-US" dirty="0"/>
              <a:t>5 × 2/3 + 8 × 1/3 = 6</a:t>
            </a:r>
            <a:br>
              <a:rPr lang="en-US" dirty="0"/>
            </a:br>
            <a:r>
              <a:rPr lang="en-US" dirty="0"/>
              <a:t>5 × 1/3 + 8 × 2/3 = 7</a:t>
            </a:r>
          </a:p>
        </p:txBody>
      </p:sp>
    </p:spTree>
    <p:extLst>
      <p:ext uri="{BB962C8B-B14F-4D97-AF65-F5344CB8AC3E}">
        <p14:creationId xmlns:p14="http://schemas.microsoft.com/office/powerpoint/2010/main" val="1519502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0386-43AC-BB07-8EA0-1080958A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865ED-92EC-5FAC-06FE-2B59F1D4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9034780" cy="738664"/>
          </a:xfrm>
        </p:spPr>
        <p:txBody>
          <a:bodyPr/>
          <a:lstStyle/>
          <a:p>
            <a:r>
              <a:rPr lang="en-US" dirty="0"/>
              <a:t>Bilinear 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8BE5BE8-CE82-E40D-4C81-B7374072B046}"/>
              </a:ext>
            </a:extLst>
          </p:cNvPr>
          <p:cNvGraphicFramePr>
            <a:graphicFrameLocks noGrp="1"/>
          </p:cNvGraphicFramePr>
          <p:nvPr/>
        </p:nvGraphicFramePr>
        <p:xfrm>
          <a:off x="1323975" y="1543170"/>
          <a:ext cx="1952625" cy="1421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7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spc="-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9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72C168-989D-1D80-CEB9-27C9136744BA}"/>
              </a:ext>
            </a:extLst>
          </p:cNvPr>
          <p:cNvCxnSpPr>
            <a:cxnSpLocks/>
          </p:cNvCxnSpPr>
          <p:nvPr/>
        </p:nvCxnSpPr>
        <p:spPr>
          <a:xfrm>
            <a:off x="3708486" y="2273398"/>
            <a:ext cx="281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953B2E-0C82-1187-ADC6-90416A676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928771"/>
              </p:ext>
            </p:extLst>
          </p:nvPr>
        </p:nvGraphicFramePr>
        <p:xfrm>
          <a:off x="6705600" y="797413"/>
          <a:ext cx="5054602" cy="2951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val="3549809410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26064949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742590603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571790979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80138323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4280292415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546836376"/>
                    </a:ext>
                  </a:extLst>
                </a:gridCol>
              </a:tblGrid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258210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02043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481757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788881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5844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4566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0081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63D7117-D140-E489-2A19-41BC38664E7C}"/>
              </a:ext>
            </a:extLst>
          </p:cNvPr>
          <p:cNvSpPr txBox="1"/>
          <p:nvPr/>
        </p:nvSpPr>
        <p:spPr>
          <a:xfrm>
            <a:off x="4845951" y="182395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A96D0A-00E2-F238-8E5E-D9C569649F97}"/>
              </a:ext>
            </a:extLst>
          </p:cNvPr>
          <p:cNvSpPr txBox="1"/>
          <p:nvPr/>
        </p:nvSpPr>
        <p:spPr>
          <a:xfrm>
            <a:off x="457200" y="3919234"/>
            <a:ext cx="28194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/>
              <a:t>Horizontal interpolation </a:t>
            </a:r>
          </a:p>
          <a:p>
            <a:r>
              <a:rPr lang="en-US" sz="1800" b="1" dirty="0"/>
              <a:t>(3 intervals)</a:t>
            </a:r>
          </a:p>
          <a:p>
            <a:pPr lvl="3"/>
            <a:r>
              <a:rPr lang="en-US" b="1" dirty="0"/>
              <a:t>Between 1 and 4:</a:t>
            </a:r>
            <a:br>
              <a:rPr lang="en-US" dirty="0"/>
            </a:br>
            <a:r>
              <a:rPr lang="en-US" dirty="0"/>
              <a:t>1 × 2/3 + 4 × 1/3 = 2</a:t>
            </a:r>
            <a:br>
              <a:rPr lang="en-US" dirty="0"/>
            </a:br>
            <a:r>
              <a:rPr lang="en-US" dirty="0"/>
              <a:t>1 × 1/3 + 4 × 2/3 = 3</a:t>
            </a:r>
          </a:p>
          <a:p>
            <a:pPr lvl="3"/>
            <a:r>
              <a:rPr lang="en-US" b="1" dirty="0"/>
              <a:t>Between 4 and 7:</a:t>
            </a:r>
            <a:br>
              <a:rPr lang="en-US" dirty="0"/>
            </a:br>
            <a:r>
              <a:rPr lang="en-US" dirty="0"/>
              <a:t>4 × 2/3 + 7 × 1/3 = 5</a:t>
            </a:r>
            <a:br>
              <a:rPr lang="en-US" dirty="0"/>
            </a:br>
            <a:r>
              <a:rPr lang="en-US" dirty="0"/>
              <a:t>4 × 1/3 + 7 × 2/3 =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9AA9D-B22E-62AA-96D1-6670BE739810}"/>
              </a:ext>
            </a:extLst>
          </p:cNvPr>
          <p:cNvSpPr txBox="1"/>
          <p:nvPr/>
        </p:nvSpPr>
        <p:spPr>
          <a:xfrm>
            <a:off x="3671615" y="3919234"/>
            <a:ext cx="28194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/>
              <a:t>Horizontal interpolation </a:t>
            </a:r>
          </a:p>
          <a:p>
            <a:r>
              <a:rPr lang="en-US" sz="1800" b="1" dirty="0"/>
              <a:t>(3 intervals)</a:t>
            </a:r>
          </a:p>
          <a:p>
            <a:pPr lvl="3"/>
            <a:r>
              <a:rPr lang="en-US" b="1" dirty="0"/>
              <a:t>Between 2 and 5:</a:t>
            </a:r>
            <a:br>
              <a:rPr lang="en-US" dirty="0"/>
            </a:br>
            <a:r>
              <a:rPr lang="en-US" dirty="0"/>
              <a:t>2 × 2/3 + 5 × 1/3 = 3</a:t>
            </a:r>
            <a:br>
              <a:rPr lang="en-US" dirty="0"/>
            </a:br>
            <a:r>
              <a:rPr lang="en-US" dirty="0"/>
              <a:t>2 × 1/3 + 5 × 2/3 = 4</a:t>
            </a:r>
          </a:p>
          <a:p>
            <a:pPr lvl="3"/>
            <a:r>
              <a:rPr lang="en-US" b="1" dirty="0"/>
              <a:t>Between 5 and 8:</a:t>
            </a:r>
            <a:br>
              <a:rPr lang="en-US" dirty="0"/>
            </a:br>
            <a:r>
              <a:rPr lang="en-US" dirty="0"/>
              <a:t>5 × 2/3 + 8 × 1/3 = 6</a:t>
            </a:r>
            <a:br>
              <a:rPr lang="en-US" dirty="0"/>
            </a:br>
            <a:r>
              <a:rPr lang="en-US" dirty="0"/>
              <a:t>5 × 1/3 + 8 × 2/3 =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6A3786-A73D-8E20-1247-8FFD90DE6B0A}"/>
              </a:ext>
            </a:extLst>
          </p:cNvPr>
          <p:cNvSpPr txBox="1"/>
          <p:nvPr/>
        </p:nvSpPr>
        <p:spPr>
          <a:xfrm>
            <a:off x="6705728" y="3907036"/>
            <a:ext cx="28194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/>
              <a:t>Horizontal interpolation </a:t>
            </a:r>
          </a:p>
          <a:p>
            <a:r>
              <a:rPr lang="en-US" sz="1800" b="1" dirty="0"/>
              <a:t>(3 intervals)</a:t>
            </a:r>
          </a:p>
          <a:p>
            <a:pPr lvl="3"/>
            <a:r>
              <a:rPr lang="en-US" b="1" dirty="0"/>
              <a:t>Between 3 and 6:</a:t>
            </a:r>
            <a:br>
              <a:rPr lang="en-US" dirty="0"/>
            </a:br>
            <a:r>
              <a:rPr lang="en-US" dirty="0"/>
              <a:t>3 × 2/3 + 6 × 1/3 = 4</a:t>
            </a:r>
            <a:br>
              <a:rPr lang="en-US" dirty="0"/>
            </a:br>
            <a:r>
              <a:rPr lang="en-US" dirty="0"/>
              <a:t>3 × 1/3 + 6 × 2/3 = 5</a:t>
            </a:r>
          </a:p>
          <a:p>
            <a:pPr lvl="3"/>
            <a:r>
              <a:rPr lang="en-US" b="1" dirty="0"/>
              <a:t>Between 6 and 9:</a:t>
            </a:r>
            <a:br>
              <a:rPr lang="en-US" dirty="0"/>
            </a:br>
            <a:r>
              <a:rPr lang="en-US" dirty="0"/>
              <a:t>6 × 2/3 + 9 × 1/3 = 7</a:t>
            </a:r>
            <a:br>
              <a:rPr lang="en-US" dirty="0"/>
            </a:br>
            <a:r>
              <a:rPr lang="en-US" dirty="0"/>
              <a:t>6 × 1/3 + 9 × 2/3 = 8</a:t>
            </a:r>
          </a:p>
        </p:txBody>
      </p:sp>
    </p:spTree>
    <p:extLst>
      <p:ext uri="{BB962C8B-B14F-4D97-AF65-F5344CB8AC3E}">
        <p14:creationId xmlns:p14="http://schemas.microsoft.com/office/powerpoint/2010/main" val="4160659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F425-EEE3-31FF-9FA8-401D0639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FB43-CCDD-D612-98F3-B24F695BE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9034780" cy="738664"/>
          </a:xfrm>
        </p:spPr>
        <p:txBody>
          <a:bodyPr/>
          <a:lstStyle/>
          <a:p>
            <a:r>
              <a:rPr lang="en-US" dirty="0"/>
              <a:t>Bilinear 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2C9A322-DAC8-A194-C1CE-7F6131142CB5}"/>
              </a:ext>
            </a:extLst>
          </p:cNvPr>
          <p:cNvGraphicFramePr>
            <a:graphicFrameLocks noGrp="1"/>
          </p:cNvGraphicFramePr>
          <p:nvPr/>
        </p:nvGraphicFramePr>
        <p:xfrm>
          <a:off x="1323975" y="1543170"/>
          <a:ext cx="1952625" cy="1421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7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spc="-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9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C26792-0F48-7F80-B7A9-95AA5BC2FEEE}"/>
              </a:ext>
            </a:extLst>
          </p:cNvPr>
          <p:cNvCxnSpPr>
            <a:cxnSpLocks/>
          </p:cNvCxnSpPr>
          <p:nvPr/>
        </p:nvCxnSpPr>
        <p:spPr>
          <a:xfrm>
            <a:off x="3708486" y="2273398"/>
            <a:ext cx="281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155C1C-57C9-20D0-A96B-02E2A4465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199833"/>
              </p:ext>
            </p:extLst>
          </p:nvPr>
        </p:nvGraphicFramePr>
        <p:xfrm>
          <a:off x="6705600" y="797413"/>
          <a:ext cx="5054602" cy="2951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val="3549809410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26064949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742590603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571790979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80138323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4280292415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546836376"/>
                    </a:ext>
                  </a:extLst>
                </a:gridCol>
              </a:tblGrid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258210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02043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481757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788881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5844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4566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0081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FBB71AA-ECB6-6C3E-93B7-0E2C83CBE149}"/>
              </a:ext>
            </a:extLst>
          </p:cNvPr>
          <p:cNvSpPr txBox="1"/>
          <p:nvPr/>
        </p:nvSpPr>
        <p:spPr>
          <a:xfrm>
            <a:off x="4845951" y="182395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FD716B-E7D4-4B07-6277-1E15AD340E36}"/>
              </a:ext>
            </a:extLst>
          </p:cNvPr>
          <p:cNvSpPr txBox="1"/>
          <p:nvPr/>
        </p:nvSpPr>
        <p:spPr>
          <a:xfrm>
            <a:off x="457200" y="3919234"/>
            <a:ext cx="28194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Vertical</a:t>
            </a:r>
            <a:r>
              <a:rPr lang="en-US" sz="1800" b="1" dirty="0"/>
              <a:t> interpolation </a:t>
            </a:r>
          </a:p>
          <a:p>
            <a:r>
              <a:rPr lang="en-US" sz="1800" b="1" dirty="0"/>
              <a:t>(3 intervals)</a:t>
            </a:r>
          </a:p>
          <a:p>
            <a:pPr lvl="3"/>
            <a:r>
              <a:rPr lang="en-US" b="1" dirty="0"/>
              <a:t>Between 1 and 2:</a:t>
            </a:r>
            <a:br>
              <a:rPr lang="en-US" dirty="0"/>
            </a:br>
            <a:r>
              <a:rPr lang="en-US" dirty="0"/>
              <a:t>1 × 2/3 + 2 × 1/3 = 2</a:t>
            </a:r>
            <a:br>
              <a:rPr lang="en-US" dirty="0"/>
            </a:br>
            <a:r>
              <a:rPr lang="en-US" dirty="0"/>
              <a:t>1 × 1/3 + 2 × 2/3 = 3</a:t>
            </a:r>
          </a:p>
          <a:p>
            <a:pPr lvl="3"/>
            <a:r>
              <a:rPr lang="en-US" b="1" dirty="0"/>
              <a:t>Between 2 and 3:</a:t>
            </a:r>
            <a:br>
              <a:rPr lang="en-US" dirty="0"/>
            </a:br>
            <a:r>
              <a:rPr lang="en-US" dirty="0"/>
              <a:t>2 × 2/3 + 3 × 1/3 = 5</a:t>
            </a:r>
            <a:br>
              <a:rPr lang="en-US" dirty="0"/>
            </a:br>
            <a:r>
              <a:rPr lang="en-US" dirty="0"/>
              <a:t>2 × 1/3 + 3 × 2/3 = 6</a:t>
            </a:r>
          </a:p>
        </p:txBody>
      </p:sp>
    </p:spTree>
    <p:extLst>
      <p:ext uri="{BB962C8B-B14F-4D97-AF65-F5344CB8AC3E}">
        <p14:creationId xmlns:p14="http://schemas.microsoft.com/office/powerpoint/2010/main" val="4162341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BC3BA-3FCA-DB5A-388C-02FC2E63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B77C-25F3-63FC-C114-D200548F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9034780" cy="738664"/>
          </a:xfrm>
        </p:spPr>
        <p:txBody>
          <a:bodyPr/>
          <a:lstStyle/>
          <a:p>
            <a:r>
              <a:rPr lang="en-US" dirty="0"/>
              <a:t>Bilinear Interpolation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00EEB653-732E-0DBA-275D-823DFEB4CCA7}"/>
              </a:ext>
            </a:extLst>
          </p:cNvPr>
          <p:cNvGraphicFramePr>
            <a:graphicFrameLocks noGrp="1"/>
          </p:cNvGraphicFramePr>
          <p:nvPr/>
        </p:nvGraphicFramePr>
        <p:xfrm>
          <a:off x="1323975" y="1543170"/>
          <a:ext cx="1952625" cy="1421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1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/>
                        <a:t>7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spc="-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8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/>
                        <a:t>9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EA197A-10F3-A4EC-5EE0-6BB59CC1816C}"/>
              </a:ext>
            </a:extLst>
          </p:cNvPr>
          <p:cNvCxnSpPr>
            <a:cxnSpLocks/>
          </p:cNvCxnSpPr>
          <p:nvPr/>
        </p:nvCxnSpPr>
        <p:spPr>
          <a:xfrm>
            <a:off x="3708486" y="2273398"/>
            <a:ext cx="2819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608ED7-4074-5F67-0F5B-E4E569ED8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513102"/>
              </p:ext>
            </p:extLst>
          </p:nvPr>
        </p:nvGraphicFramePr>
        <p:xfrm>
          <a:off x="6705600" y="797413"/>
          <a:ext cx="5054602" cy="2951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2086">
                  <a:extLst>
                    <a:ext uri="{9D8B030D-6E8A-4147-A177-3AD203B41FA5}">
                      <a16:colId xmlns:a16="http://schemas.microsoft.com/office/drawing/2014/main" val="3549809410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26064949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742590603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2571790979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3801383234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4280292415"/>
                    </a:ext>
                  </a:extLst>
                </a:gridCol>
                <a:gridCol w="722086">
                  <a:extLst>
                    <a:ext uri="{9D8B030D-6E8A-4147-A177-3AD203B41FA5}">
                      <a16:colId xmlns:a16="http://schemas.microsoft.com/office/drawing/2014/main" val="1546836376"/>
                    </a:ext>
                  </a:extLst>
                </a:gridCol>
              </a:tblGrid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258210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02043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481757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788881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5844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2.667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45662"/>
                  </a:ext>
                </a:extLst>
              </a:tr>
              <a:tr h="42171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0081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C0C4068-E398-8B4E-5762-24BCA025CDE9}"/>
              </a:ext>
            </a:extLst>
          </p:cNvPr>
          <p:cNvSpPr txBox="1"/>
          <p:nvPr/>
        </p:nvSpPr>
        <p:spPr>
          <a:xfrm>
            <a:off x="4845951" y="182395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C3A71A-5BC1-4F0B-A345-5DF4309B9619}"/>
              </a:ext>
            </a:extLst>
          </p:cNvPr>
          <p:cNvSpPr txBox="1"/>
          <p:nvPr/>
        </p:nvSpPr>
        <p:spPr>
          <a:xfrm>
            <a:off x="2895600" y="3962400"/>
            <a:ext cx="2819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Vertical</a:t>
            </a:r>
            <a:r>
              <a:rPr lang="en-US" sz="1800" b="1" dirty="0"/>
              <a:t> interpolation </a:t>
            </a:r>
          </a:p>
          <a:p>
            <a:r>
              <a:rPr lang="en-US" b="1" dirty="0"/>
              <a:t>Similarly for other points.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768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9196" y="2684779"/>
            <a:ext cx="2809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Thank</a:t>
            </a:r>
            <a:r>
              <a:rPr sz="4000" b="0" spc="-2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spc="-110" dirty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r>
              <a:rPr sz="40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0" spc="-50" dirty="0">
                <a:solidFill>
                  <a:srgbClr val="000000"/>
                </a:solidFill>
                <a:latin typeface="Wingdings"/>
                <a:cs typeface="Wingdings"/>
              </a:rPr>
              <a:t></a:t>
            </a:r>
            <a:endParaRPr sz="4000">
              <a:latin typeface="Wingdings"/>
              <a:cs typeface="Wingding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17-</a:t>
            </a:r>
            <a:r>
              <a:rPr spc="-10" dirty="0"/>
              <a:t>Mar-</a:t>
            </a:r>
            <a:r>
              <a:rPr spc="-25" dirty="0"/>
              <a:t>23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dirty="0"/>
              <a:t>IMAGE</a:t>
            </a:r>
            <a:r>
              <a:rPr spc="-40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5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2837</Words>
  <Application>Microsoft Office PowerPoint</Application>
  <PresentationFormat>Widescreen</PresentationFormat>
  <Paragraphs>839</Paragraphs>
  <Slides>34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Calibri</vt:lpstr>
      <vt:lpstr>Cambria Math</vt:lpstr>
      <vt:lpstr>Symbol</vt:lpstr>
      <vt:lpstr>Times New Roman</vt:lpstr>
      <vt:lpstr>Trebuchet MS</vt:lpstr>
      <vt:lpstr>Wingdings</vt:lpstr>
      <vt:lpstr>Office Theme</vt:lpstr>
      <vt:lpstr>PowerPoint Presentation</vt:lpstr>
      <vt:lpstr>Image Sampling and Quantization</vt:lpstr>
      <vt:lpstr>Image Sampling and Quantization</vt:lpstr>
      <vt:lpstr>Spatial Resolution</vt:lpstr>
      <vt:lpstr>Intensity Resolution</vt:lpstr>
      <vt:lpstr>Illustration of the effects of reducing image spatial resolution</vt:lpstr>
      <vt:lpstr>Typical effects of varying the number of intensity levels in a digital image</vt:lpstr>
      <vt:lpstr>Typical effects of varying the number of intensity levels in a digital image</vt:lpstr>
      <vt:lpstr>Typical effects of varying the number of intensity levels in a digital image</vt:lpstr>
      <vt:lpstr>Spatial and Intensity Resolution</vt:lpstr>
      <vt:lpstr>Spatial and Intensity Resolution</vt:lpstr>
      <vt:lpstr>Image Interpolation</vt:lpstr>
      <vt:lpstr>Nearest Neighbor Interpolation</vt:lpstr>
      <vt:lpstr>Nearest Neighbor Interpolation</vt:lpstr>
      <vt:lpstr>Nearest Neighbor Interpolation</vt:lpstr>
      <vt:lpstr>Image Sampling and Quantization</vt:lpstr>
      <vt:lpstr>Nearest Neighbor Interpolation</vt:lpstr>
      <vt:lpstr>PowerPoint Presentation</vt:lpstr>
      <vt:lpstr>Bilinear Interpolation</vt:lpstr>
      <vt:lpstr>Bilinear Interpolation</vt:lpstr>
      <vt:lpstr>Bilinear Interpolation</vt:lpstr>
      <vt:lpstr>Bilinear Interpolation</vt:lpstr>
      <vt:lpstr>Bilinear Interpolation</vt:lpstr>
      <vt:lpstr>Bilinear Interpolation</vt:lpstr>
      <vt:lpstr>Bilinear Interpolation</vt:lpstr>
      <vt:lpstr>Bilinear Interpolation</vt:lpstr>
      <vt:lpstr>Zooming in Interpolation</vt:lpstr>
      <vt:lpstr>Bilinear Interpolation</vt:lpstr>
      <vt:lpstr>Bilinear Interpolation</vt:lpstr>
      <vt:lpstr>Bilinear Interpolation</vt:lpstr>
      <vt:lpstr>Bilinear Interpolation</vt:lpstr>
      <vt:lpstr>Bilinear Interpolation</vt:lpstr>
      <vt:lpstr>Bilinear Interpolation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Mahedy Hasan</dc:creator>
  <cp:lastModifiedBy>Md Manirujjaman</cp:lastModifiedBy>
  <cp:revision>6</cp:revision>
  <dcterms:created xsi:type="dcterms:W3CDTF">2025-09-28T14:09:56Z</dcterms:created>
  <dcterms:modified xsi:type="dcterms:W3CDTF">2026-01-30T00:44:28Z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2025-09-28T00:00:00Z</vt:filetime>
  </property>
  <property fmtid="{D5CDD505-2E9C-101B-9397-08002B2CF9AE}" pid="5" name="Producer">
    <vt:lpwstr>Microsoft® PowerPoint® 2016</vt:lpwstr>
  </property>
</Properties>
</file>