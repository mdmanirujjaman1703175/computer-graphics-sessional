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6D497-70C3-4F31-94B5-33CD207A1B8F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3F16A-6FA3-4532-BC0A-31B12195C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698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6F897-33EB-4E82-9C93-E36F070BA813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E898-9AB8-4854-BD75-CD69645DB5D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01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5F236-E28C-4383-ADAE-14D8DD28F4C2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E898-9AB8-4854-BD75-CD69645DB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51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6F929-E3B0-4E49-8862-C134A8D1EB4E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E898-9AB8-4854-BD75-CD69645DB5D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6157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2E46D-F8FD-4BC2-B986-CD6BCFC198D5}" type="datetime1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E898-9AB8-4854-BD75-CD69645DB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748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B6113-689E-4115-9808-8A61DFE1E92F}" type="datetime1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E898-9AB8-4854-BD75-CD69645DB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84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40ABD-AA26-4E87-8E3A-F8D30920F62A}" type="datetime1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E898-9AB8-4854-BD75-CD69645DB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170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CDAA0-2D6E-4E8E-85A5-C7849208191B}" type="datetime1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Md. Manirujjaman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E898-9AB8-4854-BD75-CD69645DB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824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164B720-3005-40FD-A1F0-D4C5CA0B9111}" type="datetime1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Md. Manirujjaman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41E898-9AB8-4854-BD75-CD69645DB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75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C209C-524C-4374-830E-B12DF3CFAB34}" type="datetime1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E898-9AB8-4854-BD75-CD69645DB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131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10481-A2F3-4204-A72E-0A55348D8D67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E898-9AB8-4854-BD75-CD69645DB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531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CD188-8D61-4D40-812C-4A6A89E19954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E898-9AB8-4854-BD75-CD69645DB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193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684D277-0C10-4734-80E2-61AE03238F9C}" type="datetime1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Md. Manirujjaman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541E898-9AB8-4854-BD75-CD69645DB5D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0275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968F73-A107-E699-FE65-6CD151A939DD}"/>
              </a:ext>
            </a:extLst>
          </p:cNvPr>
          <p:cNvSpPr txBox="1"/>
          <p:nvPr/>
        </p:nvSpPr>
        <p:spPr>
          <a:xfrm>
            <a:off x="3352801" y="3519948"/>
            <a:ext cx="50323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Region Filling Algorithm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CBEF8A-F574-115A-AE6C-A308E9054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696D-271E-4FD1-B4D3-5F7A34CBF1E7}" type="datetime1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9E4BC0-BFB5-80FF-6DA1-8E215725E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137022-D32F-6C93-B6BC-B9A556651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E898-9AB8-4854-BD75-CD69645DB5D0}" type="slidenum">
              <a:rPr lang="en-US" smtClean="0"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FF75E4-F26A-B8B2-C1FB-D4F27649CDA8}"/>
              </a:ext>
            </a:extLst>
          </p:cNvPr>
          <p:cNvSpPr txBox="1"/>
          <p:nvPr/>
        </p:nvSpPr>
        <p:spPr>
          <a:xfrm>
            <a:off x="4585820" y="4343535"/>
            <a:ext cx="21533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Md. Manirujjaman</a:t>
            </a:r>
          </a:p>
          <a:p>
            <a:pPr algn="ctr"/>
            <a:r>
              <a:rPr lang="en-US" dirty="0"/>
              <a:t>Lecturer, Dept of CSE</a:t>
            </a:r>
          </a:p>
        </p:txBody>
      </p:sp>
    </p:spTree>
    <p:extLst>
      <p:ext uri="{BB962C8B-B14F-4D97-AF65-F5344CB8AC3E}">
        <p14:creationId xmlns:p14="http://schemas.microsoft.com/office/powerpoint/2010/main" val="2194808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7F1070-6B12-413B-3B4F-926A38BFCBCA}"/>
              </a:ext>
            </a:extLst>
          </p:cNvPr>
          <p:cNvSpPr txBox="1"/>
          <p:nvPr/>
        </p:nvSpPr>
        <p:spPr>
          <a:xfrm>
            <a:off x="285653" y="212973"/>
            <a:ext cx="11790947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Region filling is the process of “coloring in” a definite image area or region, or we can say it  is the process of coloring or filling the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inerior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of a closed boundary in computer graphics.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9B8CCF-4D4A-93F7-ACD4-246FEC13F90E}"/>
              </a:ext>
            </a:extLst>
          </p:cNvPr>
          <p:cNvSpPr txBox="1"/>
          <p:nvPr/>
        </p:nvSpPr>
        <p:spPr>
          <a:xfrm>
            <a:off x="796413" y="2097985"/>
            <a:ext cx="11198941" cy="11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region is an area surrounded by a boundary.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Filling means assigning a specific color to all pixels inside that boundary.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9E7EA3-9265-323C-047D-69AA02A13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185" y="3628168"/>
            <a:ext cx="4505141" cy="219783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192941-2228-C89E-4D2A-0248B1888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774B9-B394-42E8-B07E-15A7253CD7D4}" type="datetime1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40AAEC-1E19-95CD-ABC4-C8E5FE45C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87400-CB5D-A37B-BCBE-72F27692F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E898-9AB8-4854-BD75-CD69645DB5D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60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45B065-F1B6-6111-6729-59B5C18FDBC1}"/>
              </a:ext>
            </a:extLst>
          </p:cNvPr>
          <p:cNvSpPr txBox="1"/>
          <p:nvPr/>
        </p:nvSpPr>
        <p:spPr>
          <a:xfrm>
            <a:off x="1097280" y="546675"/>
            <a:ext cx="10426126" cy="5009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Why Region Filling is Needed ?</a:t>
            </a:r>
          </a:p>
          <a:p>
            <a:pPr lvl="2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computer graphics, many objects are defined only by their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boundaries or edges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display solid objects, we must fill the area inside the boundary.</a:t>
            </a:r>
          </a:p>
          <a:p>
            <a:pPr lvl="2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Region filling is used to: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Color shapes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Render solid objects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Display filled polygons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Perform image editing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94AA63-686A-FB10-3350-2B77E4620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BF1E-F17F-4FF6-A4F7-2E9F75C10FD7}" type="datetime1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CC25F5-CC40-F98D-F21D-B2EDC80F9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355EDC-E9A7-A79C-7AD5-43F388E13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E898-9AB8-4854-BD75-CD69645DB5D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532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38BF22-3CE9-B8C1-1BF1-67EFD36339F3}"/>
              </a:ext>
            </a:extLst>
          </p:cNvPr>
          <p:cNvSpPr txBox="1"/>
          <p:nvPr/>
        </p:nvSpPr>
        <p:spPr>
          <a:xfrm>
            <a:off x="1406013" y="33090"/>
            <a:ext cx="10048568" cy="6117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Real-World Applications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Region filling algorithms are widely used in many software systems: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Painting Software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MS Paint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Photoshop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GIMP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Computer Aided Design (CAD)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Filling mechanical parts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Coloring design surfaces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Image Processing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Segmenting objects in images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3BE4FA-B644-6921-2AEE-6E01A590E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3C7DE-2270-4BE6-BD0E-D4665754C165}" type="datetime1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E3A3C9-1F34-8FF7-A687-5438FB8C6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43C5B7-7E6F-8DE9-42F1-B338240E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E898-9AB8-4854-BD75-CD69645DB5D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832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99FC86-D564-B871-C585-162652ED4FA0}"/>
              </a:ext>
            </a:extLst>
          </p:cNvPr>
          <p:cNvSpPr txBox="1"/>
          <p:nvPr/>
        </p:nvSpPr>
        <p:spPr>
          <a:xfrm>
            <a:off x="511276" y="1404626"/>
            <a:ext cx="10943303" cy="2597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Boundary Fill is a region filling algorithm that fills an area until it reaches a specified boundary color. It starts from a seed point located inside the region. The algorithm fills neighboring pixels until the boundary is reached.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D9F95D-D79C-263E-58BD-E9BF46FC0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F8EEF-8825-4391-9CCF-9F99414D97BA}" type="datetime1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6FFE6E-CB46-B5A2-3D4E-00E28EBC0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FD2FB-5D66-3A7C-9480-982674CD5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E898-9AB8-4854-BD75-CD69645DB5D0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E276B-5E93-5254-3443-3091364E48A7}"/>
              </a:ext>
            </a:extLst>
          </p:cNvPr>
          <p:cNvSpPr txBox="1"/>
          <p:nvPr/>
        </p:nvSpPr>
        <p:spPr>
          <a:xfrm>
            <a:off x="3686185" y="80906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Boundary Fill Algorithm</a:t>
            </a:r>
          </a:p>
        </p:txBody>
      </p:sp>
    </p:spTree>
    <p:extLst>
      <p:ext uri="{BB962C8B-B14F-4D97-AF65-F5344CB8AC3E}">
        <p14:creationId xmlns:p14="http://schemas.microsoft.com/office/powerpoint/2010/main" val="1434680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D25370-C41D-23C1-7CCD-EE2BDC352498}"/>
              </a:ext>
            </a:extLst>
          </p:cNvPr>
          <p:cNvSpPr txBox="1"/>
          <p:nvPr/>
        </p:nvSpPr>
        <p:spPr>
          <a:xfrm>
            <a:off x="1097280" y="462594"/>
            <a:ext cx="1055394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Concept</a:t>
            </a:r>
          </a:p>
          <a:p>
            <a:pPr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Boundary fill requires two colors: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Boundary Color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Fill Color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algorithm continues filling pixels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while they are not boundary color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A809A4-FAB5-2A3C-A42D-6E3518719B40}"/>
              </a:ext>
            </a:extLst>
          </p:cNvPr>
          <p:cNvSpPr txBox="1"/>
          <p:nvPr/>
        </p:nvSpPr>
        <p:spPr>
          <a:xfrm>
            <a:off x="4753065" y="2438012"/>
            <a:ext cx="181488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BBBBBBBB</a:t>
            </a:r>
          </a:p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B</a:t>
            </a:r>
            <a:r>
              <a:rPr lang="en-US" sz="2800" dirty="0">
                <a:solidFill>
                  <a:srgbClr val="00B050"/>
                </a:solidFill>
              </a:rPr>
              <a:t>CCCCCC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B</a:t>
            </a:r>
          </a:p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B</a:t>
            </a:r>
            <a:r>
              <a:rPr lang="en-US" sz="2800" dirty="0">
                <a:solidFill>
                  <a:srgbClr val="00B050"/>
                </a:solidFill>
              </a:rPr>
              <a:t>CC</a:t>
            </a:r>
            <a:r>
              <a:rPr lang="en-US" sz="2800" dirty="0">
                <a:solidFill>
                  <a:srgbClr val="FF0000"/>
                </a:solidFill>
              </a:rPr>
              <a:t>S</a:t>
            </a:r>
            <a:r>
              <a:rPr lang="en-US" sz="2800" dirty="0">
                <a:solidFill>
                  <a:srgbClr val="00B050"/>
                </a:solidFill>
              </a:rPr>
              <a:t>CCC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B</a:t>
            </a:r>
          </a:p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B</a:t>
            </a:r>
            <a:r>
              <a:rPr lang="en-US" sz="2800" dirty="0">
                <a:solidFill>
                  <a:srgbClr val="00B050"/>
                </a:solidFill>
              </a:rPr>
              <a:t>CCCCCC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B</a:t>
            </a:r>
          </a:p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BBBBBBBB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434267-3347-8238-64EA-3D52CB4C2B82}"/>
              </a:ext>
            </a:extLst>
          </p:cNvPr>
          <p:cNvSpPr txBox="1"/>
          <p:nvPr/>
        </p:nvSpPr>
        <p:spPr>
          <a:xfrm>
            <a:off x="1514631" y="4586458"/>
            <a:ext cx="68567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 = Boundary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= Seed point</a:t>
            </a:r>
          </a:p>
          <a:p>
            <a:pPr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algorithm fills all pixels inside the boundary.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9F044A-A452-E3F7-8DD6-B50B0982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AF553-86EB-44EA-AF14-C6194CF9EBBD}" type="datetime1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799B4F-AD79-9835-DFE2-C7E4D2D3C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96F35-CB8E-5B28-FCF9-6296C2E9A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E898-9AB8-4854-BD75-CD69645DB5D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327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E8B850-5C4E-6991-925F-EF9EAAF2317B}"/>
              </a:ext>
            </a:extLst>
          </p:cNvPr>
          <p:cNvSpPr txBox="1"/>
          <p:nvPr/>
        </p:nvSpPr>
        <p:spPr>
          <a:xfrm>
            <a:off x="418130" y="584703"/>
            <a:ext cx="7054386" cy="390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How Boundary Fill Works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Steps: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Choose 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seed point inside the region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Check if the pixel is boundary color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not boundary → fill it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Repeat the process for neighboring pixels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Continue until the boundary is reached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6FDD94-6B41-A0C2-47BA-9B4A1EC25C30}"/>
              </a:ext>
            </a:extLst>
          </p:cNvPr>
          <p:cNvSpPr txBox="1"/>
          <p:nvPr/>
        </p:nvSpPr>
        <p:spPr>
          <a:xfrm>
            <a:off x="7244303" y="1070881"/>
            <a:ext cx="4947697" cy="150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Advantages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Easy to implement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Works well for simple shapes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381DDE-1386-CB3A-3FDC-857F7F60FBA8}"/>
              </a:ext>
            </a:extLst>
          </p:cNvPr>
          <p:cNvSpPr txBox="1"/>
          <p:nvPr/>
        </p:nvSpPr>
        <p:spPr>
          <a:xfrm>
            <a:off x="7244303" y="2981352"/>
            <a:ext cx="4822804" cy="2609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Limitations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Requires 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closed boundary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cause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stack overflow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when using recursion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Slow for very large regions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66E206-4454-0BF2-D807-907DE7AA2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8FD86-479B-4E99-9E12-C1E8C0191CAD}" type="datetime1">
              <a:rPr lang="en-US" sz="2400" smtClean="0"/>
              <a:t>4/5/2026</a:t>
            </a:fld>
            <a:endParaRPr lang="en-US" sz="24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2306F1-6F0C-4617-8964-A66FD8F46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2400"/>
              <a:t>Md. Manirujjaman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D81E7-442B-4C91-810D-E1EFE55D8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E898-9AB8-4854-BD75-CD69645DB5D0}" type="slidenum">
              <a:rPr lang="en-US" sz="2400" smtClean="0"/>
              <a:t>7</a:t>
            </a:fld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908980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3664FF-882E-6D7A-3909-1019DB874797}"/>
              </a:ext>
            </a:extLst>
          </p:cNvPr>
          <p:cNvSpPr txBox="1"/>
          <p:nvPr/>
        </p:nvSpPr>
        <p:spPr>
          <a:xfrm>
            <a:off x="3221877" y="1326808"/>
            <a:ext cx="6096000" cy="2239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Types of Boundary Fill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There are two main implementations: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Recursive Boundary Fill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Stack-Based Boundary Fill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8BACFF-ADA5-A0A7-7173-BC3801740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E2B44-68E0-4ACB-9126-5A2A1DDBC6C3}" type="datetime1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A3C06B-47F4-3464-E88F-D03DA9FFC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8A8BAE-85C7-9578-5E45-93D384F69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E898-9AB8-4854-BD75-CD69645DB5D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323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04C7D3-9D28-7043-5E6B-2C800DF8B3A8}"/>
              </a:ext>
            </a:extLst>
          </p:cNvPr>
          <p:cNvSpPr txBox="1"/>
          <p:nvPr/>
        </p:nvSpPr>
        <p:spPr>
          <a:xfrm>
            <a:off x="931995" y="46537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Recursive Algorithm Steps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1BA622-DEF4-8205-86D9-9F23139591AD}"/>
              </a:ext>
            </a:extLst>
          </p:cNvPr>
          <p:cNvSpPr txBox="1"/>
          <p:nvPr/>
        </p:nvSpPr>
        <p:spPr>
          <a:xfrm>
            <a:off x="2939845" y="1320031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BoundaryFill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pixel(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is boundary color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return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pixel(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is already filled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return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Set pixel(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= fill color</a:t>
            </a:r>
          </a:p>
          <a:p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BoundaryFill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(x+1, y)</a:t>
            </a:r>
          </a:p>
          <a:p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BoundaryFill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(x-1, y)</a:t>
            </a:r>
          </a:p>
          <a:p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BoundaryFill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(x, y+1)</a:t>
            </a:r>
          </a:p>
          <a:p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BoundaryFill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(x, y-1)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28AB88-2A4F-49B7-F4BF-4189ACA39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3463F-49C3-423A-9DC9-D1D2E7F0B11F}" type="datetime1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12E7FB-E8CE-969A-7CF6-F8275C053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174D9-93E2-42E5-1A5E-5A6C53774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E898-9AB8-4854-BD75-CD69645DB5D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15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4D60F3-8D1E-70AA-C52C-40777BF74E54}"/>
              </a:ext>
            </a:extLst>
          </p:cNvPr>
          <p:cNvSpPr txBox="1"/>
          <p:nvPr/>
        </p:nvSpPr>
        <p:spPr>
          <a:xfrm>
            <a:off x="776748" y="1867589"/>
            <a:ext cx="10982633" cy="1685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with Recursive Method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Recursion Depth Error : 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ecause thousands of recursive calls may occur.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Therefore recursion is mainly used for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conceptual understanding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85A986-8218-FC3B-EE72-EF481E673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5B36C-DFFF-4E5F-9EC7-D3ABBAF7CE82}" type="datetime1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F7B5A4-5A4C-9C80-EE97-AAFDAD5E8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2EFB6-2860-2631-482C-29C907724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E898-9AB8-4854-BD75-CD69645DB5D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23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77F0DC-2AA7-1822-9047-6A98D13C34F7}"/>
              </a:ext>
            </a:extLst>
          </p:cNvPr>
          <p:cNvSpPr txBox="1"/>
          <p:nvPr/>
        </p:nvSpPr>
        <p:spPr>
          <a:xfrm>
            <a:off x="400533" y="688499"/>
            <a:ext cx="7878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Stack-Based (Non-Recursive) Boundary Fill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361721-F501-5912-38AB-278E28C6DA8F}"/>
              </a:ext>
            </a:extLst>
          </p:cNvPr>
          <p:cNvSpPr txBox="1"/>
          <p:nvPr/>
        </p:nvSpPr>
        <p:spPr>
          <a:xfrm>
            <a:off x="581198" y="1337329"/>
            <a:ext cx="107543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Instead of recursion, we use a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stack data structure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 The stack stores pixels that still need to be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processed.This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avoids recursion depth problems.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C27C78-F1D5-4A7E-BFC3-9157F7500851}"/>
              </a:ext>
            </a:extLst>
          </p:cNvPr>
          <p:cNvSpPr txBox="1"/>
          <p:nvPr/>
        </p:nvSpPr>
        <p:spPr>
          <a:xfrm>
            <a:off x="923196" y="3551872"/>
            <a:ext cx="4464881" cy="1685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Recursive method problems: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Stack overflow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Limited recursion depth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29F481-7AED-BB60-3777-729C58B7E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F295A-4B89-48DA-9040-3268E035A70D}" type="datetime1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602067-A5B7-A357-34A8-B7FE266CF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A473A-0031-3DBD-5057-440683589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E898-9AB8-4854-BD75-CD69645DB5D0}" type="slidenum">
              <a:rPr lang="en-US" smtClean="0"/>
              <a:t>11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876164-2270-9505-B6CD-5E12BAD349F5}"/>
              </a:ext>
            </a:extLst>
          </p:cNvPr>
          <p:cNvSpPr txBox="1"/>
          <p:nvPr/>
        </p:nvSpPr>
        <p:spPr>
          <a:xfrm>
            <a:off x="5850194" y="3551872"/>
            <a:ext cx="6096000" cy="2239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Stack-based method advantages: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More stable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Works for large regions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Used in real applications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20E354-1415-06AE-ADCC-0962054BD7D3}"/>
              </a:ext>
            </a:extLst>
          </p:cNvPr>
          <p:cNvSpPr txBox="1"/>
          <p:nvPr/>
        </p:nvSpPr>
        <p:spPr>
          <a:xfrm>
            <a:off x="3873910" y="2883803"/>
            <a:ext cx="6096000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Why Stack Method is Used ?</a:t>
            </a:r>
          </a:p>
        </p:txBody>
      </p:sp>
    </p:spTree>
    <p:extLst>
      <p:ext uri="{BB962C8B-B14F-4D97-AF65-F5344CB8AC3E}">
        <p14:creationId xmlns:p14="http://schemas.microsoft.com/office/powerpoint/2010/main" val="3111713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0A99F4-7158-32D9-073A-0B1C8BB533BB}"/>
              </a:ext>
            </a:extLst>
          </p:cNvPr>
          <p:cNvSpPr txBox="1"/>
          <p:nvPr/>
        </p:nvSpPr>
        <p:spPr>
          <a:xfrm>
            <a:off x="3048000" y="1225689"/>
            <a:ext cx="6096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BoundaryFill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(seed)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1. Create empty stack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2. Push seed point into stack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3. While stack is not empty: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Pop point 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If pixel is boundary → continue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If pixel already filled → continue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Fill pixel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Push neighbors: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(x+1,y)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(x-1,y)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(x,y+1)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(x,y-1)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5EF913-60ED-7FCC-8DB7-8B9876AB91FA}"/>
              </a:ext>
            </a:extLst>
          </p:cNvPr>
          <p:cNvSpPr txBox="1"/>
          <p:nvPr/>
        </p:nvSpPr>
        <p:spPr>
          <a:xfrm>
            <a:off x="304800" y="42416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Stack-Based Algorithm Steps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92E019-5BE5-FAC4-E51E-997FBBD61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4BA83-E5A1-49A7-97B9-E2C514161023}" type="datetime1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0972A7-D779-6A3E-6947-3B0BFEA99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E868D-0314-DD41-F97F-49B38BF4A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E898-9AB8-4854-BD75-CD69645DB5D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113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F43497-B063-BECF-A55D-4E6D9E56230D}"/>
              </a:ext>
            </a:extLst>
          </p:cNvPr>
          <p:cNvSpPr txBox="1"/>
          <p:nvPr/>
        </p:nvSpPr>
        <p:spPr>
          <a:xfrm>
            <a:off x="1138988" y="998166"/>
            <a:ext cx="105417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Using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4-neighbor filling instead of 8-neighbor filling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because it is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safer and prevents diagonal leakage through corner gaps in the boundary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61EFA5-B1E3-5600-2E86-388F86B4F0B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556381" y="2025446"/>
            <a:ext cx="7442400" cy="266868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CBE763-FFE1-3E11-F0AF-6F6107ABD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DA8E2-CA5F-428A-8FCA-082640479AA2}" type="datetime1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EE3F8C-0048-FEEF-D219-1859B70BB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BCDD4-8B2B-4A45-5BE9-D86BBE54F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E898-9AB8-4854-BD75-CD69645DB5D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766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FA996-1215-DF81-728C-A3965065C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CDAA0-2D6E-4E8E-85A5-C7849208191B}" type="datetime1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58ECBC-1EE6-5072-0F52-862F458D4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48F47-8C09-8FDD-3BD4-2A2417AE8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E898-9AB8-4854-BD75-CD69645DB5D0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83E8E5-EEA5-9D3B-7D46-2486E5F3B369}"/>
              </a:ext>
            </a:extLst>
          </p:cNvPr>
          <p:cNvSpPr txBox="1"/>
          <p:nvPr/>
        </p:nvSpPr>
        <p:spPr>
          <a:xfrm>
            <a:off x="4100052" y="2733368"/>
            <a:ext cx="380501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6228125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115</TotalTime>
  <Words>669</Words>
  <Application>Microsoft Office PowerPoint</Application>
  <PresentationFormat>Widescreen</PresentationFormat>
  <Paragraphs>142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Manirujjaman</dc:creator>
  <cp:lastModifiedBy>Md Manirujjaman</cp:lastModifiedBy>
  <cp:revision>4</cp:revision>
  <dcterms:created xsi:type="dcterms:W3CDTF">2026-03-12T08:26:15Z</dcterms:created>
  <dcterms:modified xsi:type="dcterms:W3CDTF">2026-04-05T07:31:36Z</dcterms:modified>
</cp:coreProperties>
</file>