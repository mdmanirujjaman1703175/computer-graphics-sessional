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80065-AA1C-4FD0-8F89-23C8B1F28D8C}" type="datetimeFigureOut">
              <a:rPr lang="en-US" smtClean="0"/>
              <a:t>1/18/2026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D7217E-0817-44CF-B7A3-CAF3EDEFC5BE}" type="slidenum">
              <a:rPr lang="en-US" smtClean="0"/>
              <a:t>‹#›</a:t>
            </a:fld>
            <a:endParaRPr lang="en-US"/>
          </a:p>
        </p:txBody>
      </p:sp>
    </p:spTree>
    <p:extLst>
      <p:ext uri="{BB962C8B-B14F-4D97-AF65-F5344CB8AC3E}">
        <p14:creationId xmlns:p14="http://schemas.microsoft.com/office/powerpoint/2010/main" val="3146794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err="1"/>
                  <a:t>Bresenham’s</a:t>
                </a:r>
                <a:r>
                  <a:rPr lang="en-US" dirty="0"/>
                  <a:t> algorithm uses an </a:t>
                </a:r>
                <a:r>
                  <a:rPr lang="en-US" b="1" dirty="0"/>
                  <a:t>error term (decision parameter)</a:t>
                </a:r>
                <a:r>
                  <a:rPr lang="en-US" dirty="0"/>
                  <a:t> to check which pixel center is closer to the actual line path.</a:t>
                </a:r>
              </a:p>
              <a:p>
                <a:r>
                  <a:rPr lang="en-US" dirty="0"/>
                  <a:t>If the line is closer to </a:t>
                </a:r>
                <a14:m>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𝑘</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Sub>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𝑘</m:t>
                            </m:r>
                          </m:sub>
                        </m:sSub>
                      </m:e>
                    </m:d>
                  </m:oMath>
                </a14:m>
                <a:r>
                  <a:rPr lang="ar-AE" dirty="0"/>
                  <a:t>, </a:t>
                </a:r>
                <a:r>
                  <a:rPr lang="en-US" dirty="0"/>
                  <a:t>we choose that pixel.</a:t>
                </a:r>
              </a:p>
              <a:p>
                <a:r>
                  <a:rPr lang="en-US" dirty="0"/>
                  <a:t>Otherwise, we choose </a:t>
                </a:r>
                <a14:m>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𝑘</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Sub>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𝑘</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e>
                    </m:d>
                  </m:oMath>
                </a14:m>
                <a:r>
                  <a:rPr lang="ar-AE" dirty="0"/>
                  <a:t>.</a:t>
                </a:r>
              </a:p>
              <a:p>
                <a:endParaRPr lang="en-US" dirty="0"/>
              </a:p>
            </p:txBody>
          </p:sp>
        </mc:Choice>
        <mc:Fallback xmlns="">
          <p:sp>
            <p:nvSpPr>
              <p:cNvPr id="3" name="Notes Placeholder 2"/>
              <p:cNvSpPr>
                <a:spLocks noGrp="1"/>
              </p:cNvSpPr>
              <p:nvPr>
                <p:ph type="body" idx="1"/>
              </p:nvPr>
            </p:nvSpPr>
            <p:spPr/>
            <p:txBody>
              <a:bodyPr/>
              <a:lstStyle/>
              <a:p>
                <a:r>
                  <a:rPr lang="en-US" dirty="0" err="1"/>
                  <a:t>Bresenham’s</a:t>
                </a:r>
                <a:r>
                  <a:rPr lang="en-US" dirty="0"/>
                  <a:t> algorithm uses an </a:t>
                </a:r>
                <a:r>
                  <a:rPr lang="en-US" b="1" dirty="0"/>
                  <a:t>error term (decision parameter)</a:t>
                </a:r>
                <a:r>
                  <a:rPr lang="en-US" dirty="0"/>
                  <a:t> to check which pixel center is closer to the actual line path.</a:t>
                </a:r>
              </a:p>
              <a:p>
                <a:r>
                  <a:rPr lang="en-US" dirty="0"/>
                  <a:t>If the line is closer to </a:t>
                </a:r>
                <a:r>
                  <a:rPr lang="ar-AE" sz="1200" i="0" kern="1200">
                    <a:solidFill>
                      <a:schemeClr val="tx1"/>
                    </a:solidFill>
                    <a:latin typeface="+mn-lt"/>
                    <a:ea typeface="+mn-ea"/>
                    <a:cs typeface="+mn-cs"/>
                  </a:rPr>
                  <a:t>(𝑥_(𝑘+1)ⓜ,𝑦_𝑘 )</a:t>
                </a:r>
                <a:r>
                  <a:rPr lang="ar-AE" dirty="0"/>
                  <a:t>, </a:t>
                </a:r>
                <a:r>
                  <a:rPr lang="en-US" dirty="0"/>
                  <a:t>we choose that pixel.</a:t>
                </a:r>
              </a:p>
              <a:p>
                <a:r>
                  <a:rPr lang="en-US" dirty="0"/>
                  <a:t>Otherwise, we choose </a:t>
                </a:r>
                <a:r>
                  <a:rPr lang="ar-AE" sz="1200" i="0" kern="1200">
                    <a:solidFill>
                      <a:schemeClr val="tx1"/>
                    </a:solidFill>
                    <a:latin typeface="+mn-lt"/>
                    <a:ea typeface="+mn-ea"/>
                    <a:cs typeface="+mn-cs"/>
                  </a:rPr>
                  <a:t>(𝑥_(𝑘+1)ⓜ,𝑦_𝑘+1)</a:t>
                </a:r>
                <a:r>
                  <a:rPr lang="ar-AE" dirty="0"/>
                  <a:t>.</a:t>
                </a:r>
              </a:p>
              <a:p>
                <a:endParaRPr lang="en-US" dirty="0"/>
              </a:p>
            </p:txBody>
          </p:sp>
        </mc:Fallback>
      </mc:AlternateContent>
      <p:sp>
        <p:nvSpPr>
          <p:cNvPr id="4" name="Slide Number Placeholder 3"/>
          <p:cNvSpPr>
            <a:spLocks noGrp="1"/>
          </p:cNvSpPr>
          <p:nvPr>
            <p:ph type="sldNum" sz="quarter" idx="5"/>
          </p:nvPr>
        </p:nvSpPr>
        <p:spPr/>
        <p:txBody>
          <a:bodyPr/>
          <a:lstStyle/>
          <a:p>
            <a:fld id="{F1D7217E-0817-44CF-B7A3-CAF3EDEFC5BE}" type="slidenum">
              <a:rPr lang="en-US" smtClean="0"/>
              <a:t>4</a:t>
            </a:fld>
            <a:endParaRPr lang="en-US"/>
          </a:p>
        </p:txBody>
      </p:sp>
    </p:spTree>
    <p:extLst>
      <p:ext uri="{BB962C8B-B14F-4D97-AF65-F5344CB8AC3E}">
        <p14:creationId xmlns:p14="http://schemas.microsoft.com/office/powerpoint/2010/main" val="1998485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a:t>
            </a:r>
            <a:br>
              <a:rPr lang="en-US"/>
            </a:br>
            <a:endParaRPr lang="en-US" dirty="0"/>
          </a:p>
        </p:txBody>
      </p:sp>
      <p:sp>
        <p:nvSpPr>
          <p:cNvPr id="3" name="Subtitle 2"/>
          <p:cNvSpPr>
            <a:spLocks noGrp="1"/>
          </p:cNvSpPr>
          <p:nvPr>
            <p:ph type="subTitle" idx="1"/>
          </p:nvPr>
        </p:nvSpPr>
        <p:spPr/>
        <p:txBody>
          <a:bodyPr>
            <a:normAutofit/>
          </a:bodyPr>
          <a:lstStyle/>
          <a:p>
            <a:r>
              <a:rPr lang="en-US" dirty="0"/>
              <a:t>Line Drawing Algorithms</a:t>
            </a:r>
          </a:p>
          <a:p>
            <a:r>
              <a:rPr lang="en-US" dirty="0"/>
              <a:t>(</a:t>
            </a:r>
            <a:r>
              <a:rPr lang="en-US" dirty="0" err="1"/>
              <a:t>Bresenham’s</a:t>
            </a:r>
            <a:r>
              <a:rPr lang="en-US" dirty="0"/>
              <a:t> Line Algorithm)</a:t>
            </a:r>
          </a:p>
        </p:txBody>
      </p:sp>
    </p:spTree>
    <p:extLst>
      <p:ext uri="{BB962C8B-B14F-4D97-AF65-F5344CB8AC3E}">
        <p14:creationId xmlns:p14="http://schemas.microsoft.com/office/powerpoint/2010/main" val="323859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err="1"/>
              <a:t>Bresenham’s</a:t>
            </a:r>
            <a:r>
              <a:rPr lang="en-US" dirty="0"/>
              <a:t> Line Algorithm</a:t>
            </a:r>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pPr algn="just"/>
            <a:r>
              <a:rPr lang="en-US" dirty="0"/>
              <a:t>DDA algorithm has a disadvantage, that is, the round off error. This error happens because the algorithm rounds off the actual floating point line values to integer values (for example, if actual value of a point of line is  12.34, the DDA algorithm rounds it to 12 and if the value is 12.62, it will round it to 13). This causes the calculated pixel positions to move away from the actual line path for long lines.</a:t>
            </a:r>
          </a:p>
          <a:p>
            <a:pPr algn="just"/>
            <a:r>
              <a:rPr lang="en-US" dirty="0"/>
              <a:t>For this reason we use another accurate and efficient line drawing algorithm called </a:t>
            </a:r>
            <a:r>
              <a:rPr lang="en-US" dirty="0" err="1"/>
              <a:t>Bresenham’s</a:t>
            </a:r>
            <a:r>
              <a:rPr lang="en-US" dirty="0"/>
              <a:t> algorithm because it was developed by </a:t>
            </a:r>
            <a:r>
              <a:rPr lang="en-US" dirty="0" err="1"/>
              <a:t>Bresenham</a:t>
            </a:r>
            <a:r>
              <a:rPr lang="en-US" dirty="0"/>
              <a:t>.</a:t>
            </a:r>
          </a:p>
          <a:p>
            <a:pPr algn="just"/>
            <a:r>
              <a:rPr lang="en-US" dirty="0"/>
              <a:t>This algorithm draws line by using only integer calculations.</a:t>
            </a:r>
          </a:p>
        </p:txBody>
      </p:sp>
    </p:spTree>
    <p:extLst>
      <p:ext uri="{BB962C8B-B14F-4D97-AF65-F5344CB8AC3E}">
        <p14:creationId xmlns:p14="http://schemas.microsoft.com/office/powerpoint/2010/main" val="1571607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1447800"/>
            <a:ext cx="3657600" cy="3671614"/>
          </a:xfrm>
        </p:spPr>
      </p:pic>
      <p:sp>
        <p:nvSpPr>
          <p:cNvPr id="5" name="TextBox 4"/>
          <p:cNvSpPr txBox="1"/>
          <p:nvPr/>
        </p:nvSpPr>
        <p:spPr>
          <a:xfrm>
            <a:off x="3793656" y="1295400"/>
            <a:ext cx="5021595" cy="5262979"/>
          </a:xfrm>
          <a:prstGeom prst="rect">
            <a:avLst/>
          </a:prstGeom>
          <a:noFill/>
        </p:spPr>
        <p:txBody>
          <a:bodyPr wrap="square" rtlCol="0">
            <a:spAutoFit/>
          </a:bodyPr>
          <a:lstStyle/>
          <a:p>
            <a:pPr marL="285750" indent="-285750" algn="just">
              <a:buFont typeface="Arial" pitchFamily="34" charset="0"/>
              <a:buChar char="•"/>
            </a:pPr>
            <a:r>
              <a:rPr lang="en-US" sz="2400" dirty="0"/>
              <a:t>Horizontal axis shows the pixel columns</a:t>
            </a:r>
          </a:p>
          <a:p>
            <a:pPr marL="285750" indent="-285750" algn="just">
              <a:buFont typeface="Arial" pitchFamily="34" charset="0"/>
              <a:buChar char="•"/>
            </a:pPr>
            <a:r>
              <a:rPr lang="en-US" sz="2400" dirty="0"/>
              <a:t>Vertical axis shows the line position.</a:t>
            </a:r>
          </a:p>
          <a:p>
            <a:pPr marL="285750" indent="-285750" algn="just">
              <a:buFont typeface="Arial" pitchFamily="34" charset="0"/>
              <a:buChar char="•"/>
            </a:pPr>
            <a:r>
              <a:rPr lang="en-US" sz="2400" dirty="0"/>
              <a:t>If we take unit x-intervals and we plot a point at (</a:t>
            </a:r>
            <a:r>
              <a:rPr lang="en-US" sz="2400" dirty="0" err="1"/>
              <a:t>x</a:t>
            </a:r>
            <a:r>
              <a:rPr lang="en-US" sz="2400" baseline="-25000" dirty="0" err="1"/>
              <a:t>k</a:t>
            </a:r>
            <a:r>
              <a:rPr lang="en-US" sz="2400" dirty="0" err="1"/>
              <a:t>,y</a:t>
            </a:r>
            <a:r>
              <a:rPr lang="en-US" sz="2400" baseline="-25000" dirty="0" err="1"/>
              <a:t>k</a:t>
            </a:r>
            <a:r>
              <a:rPr lang="en-US" sz="2400" dirty="0"/>
              <a:t>), then in order to calculate the y values we need to check which of the two points is closer to the line path at each sample step. That is, we need to decide at the next sample position x</a:t>
            </a:r>
            <a:r>
              <a:rPr lang="en-US" sz="2400" baseline="-25000" dirty="0"/>
              <a:t>k+1</a:t>
            </a:r>
            <a:r>
              <a:rPr lang="en-US" sz="2400" dirty="0"/>
              <a:t> whether to choose the pixel (x</a:t>
            </a:r>
            <a:r>
              <a:rPr lang="en-US" sz="2400" baseline="-25000" dirty="0"/>
              <a:t>k+1</a:t>
            </a:r>
            <a:r>
              <a:rPr lang="en-US" sz="2400" dirty="0"/>
              <a:t>,y</a:t>
            </a:r>
            <a:r>
              <a:rPr lang="en-US" sz="2400" baseline="-25000" dirty="0"/>
              <a:t>k</a:t>
            </a:r>
            <a:r>
              <a:rPr lang="en-US" sz="2400" dirty="0"/>
              <a:t>) or (x</a:t>
            </a:r>
            <a:r>
              <a:rPr lang="en-US" sz="2400" baseline="-25000" dirty="0"/>
              <a:t>k+1</a:t>
            </a:r>
            <a:r>
              <a:rPr lang="en-US" sz="2400" dirty="0"/>
              <a:t>,y</a:t>
            </a:r>
            <a:r>
              <a:rPr lang="en-US" sz="2400" baseline="-25000" dirty="0"/>
              <a:t>k+1</a:t>
            </a:r>
            <a:r>
              <a:rPr lang="en-US" sz="2400" dirty="0"/>
              <a:t>), that is, whether to choose point (11,11) or (11,12) for the next step.</a:t>
            </a:r>
          </a:p>
        </p:txBody>
      </p:sp>
      <p:sp>
        <p:nvSpPr>
          <p:cNvPr id="2" name="Title 1">
            <a:extLst>
              <a:ext uri="{FF2B5EF4-FFF2-40B4-BE49-F238E27FC236}">
                <a16:creationId xmlns:a16="http://schemas.microsoft.com/office/drawing/2014/main" id="{F2FDE2CE-0946-457C-2A5B-04C06D5371A2}"/>
              </a:ext>
            </a:extLst>
          </p:cNvPr>
          <p:cNvSpPr>
            <a:spLocks noGrp="1"/>
          </p:cNvSpPr>
          <p:nvPr>
            <p:ph type="title"/>
          </p:nvPr>
        </p:nvSpPr>
        <p:spPr>
          <a:xfrm>
            <a:off x="457200" y="274638"/>
            <a:ext cx="8229600" cy="868362"/>
          </a:xfrm>
        </p:spPr>
        <p:txBody>
          <a:bodyPr/>
          <a:lstStyle/>
          <a:p>
            <a:r>
              <a:rPr lang="en-US" dirty="0" err="1"/>
              <a:t>Bresenham’s</a:t>
            </a:r>
            <a:r>
              <a:rPr lang="en-US" dirty="0"/>
              <a:t> Line Algorithm</a:t>
            </a:r>
          </a:p>
        </p:txBody>
      </p:sp>
    </p:spTree>
    <p:extLst>
      <p:ext uri="{BB962C8B-B14F-4D97-AF65-F5344CB8AC3E}">
        <p14:creationId xmlns:p14="http://schemas.microsoft.com/office/powerpoint/2010/main" val="3047206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dirty="0"/>
              <a:t>These issues are solved by </a:t>
            </a:r>
            <a:r>
              <a:rPr lang="en-US" dirty="0" err="1"/>
              <a:t>Bresenham’s</a:t>
            </a:r>
            <a:r>
              <a:rPr lang="en-US" dirty="0"/>
              <a:t> algorithm.</a:t>
            </a:r>
          </a:p>
          <a:p>
            <a:pPr algn="just"/>
            <a:r>
              <a:rPr lang="en-US" dirty="0"/>
              <a:t>It decides which value to take at next position whether (x</a:t>
            </a:r>
            <a:r>
              <a:rPr lang="en-US" baseline="-25000" dirty="0"/>
              <a:t>k+1</a:t>
            </a:r>
            <a:r>
              <a:rPr lang="en-US" dirty="0"/>
              <a:t>, </a:t>
            </a:r>
            <a:r>
              <a:rPr lang="en-US" dirty="0" err="1"/>
              <a:t>y</a:t>
            </a:r>
            <a:r>
              <a:rPr lang="en-US" baseline="-25000" dirty="0" err="1"/>
              <a:t>k</a:t>
            </a:r>
            <a:r>
              <a:rPr lang="en-US" dirty="0"/>
              <a:t>) or (x</a:t>
            </a:r>
            <a:r>
              <a:rPr lang="en-US" baseline="-25000" dirty="0"/>
              <a:t>k+1</a:t>
            </a:r>
            <a:r>
              <a:rPr lang="en-US" dirty="0"/>
              <a:t>, y</a:t>
            </a:r>
            <a:r>
              <a:rPr lang="en-US" baseline="-25000" dirty="0"/>
              <a:t>k+1</a:t>
            </a:r>
            <a:r>
              <a:rPr lang="en-US" dirty="0"/>
              <a:t>). It does this by checking the sign of a decision parameter (</a:t>
            </a:r>
            <a:r>
              <a:rPr lang="en-US" dirty="0" err="1"/>
              <a:t>p</a:t>
            </a:r>
            <a:r>
              <a:rPr lang="en-US" baseline="-25000" dirty="0" err="1"/>
              <a:t>k</a:t>
            </a:r>
            <a:r>
              <a:rPr lang="en-US" dirty="0"/>
              <a:t>) which is equal to the difference between the separations of the two pixel positions (</a:t>
            </a:r>
            <a:r>
              <a:rPr lang="en-US" dirty="0" err="1"/>
              <a:t>y</a:t>
            </a:r>
            <a:r>
              <a:rPr lang="en-US" baseline="-25000" dirty="0" err="1"/>
              <a:t>k</a:t>
            </a:r>
            <a:r>
              <a:rPr lang="en-US" dirty="0"/>
              <a:t> and y</a:t>
            </a:r>
            <a:r>
              <a:rPr lang="en-US" baseline="-25000" dirty="0"/>
              <a:t>k+1</a:t>
            </a:r>
            <a:r>
              <a:rPr lang="en-US" dirty="0"/>
              <a:t>) from the actual line path.</a:t>
            </a:r>
          </a:p>
          <a:p>
            <a:pPr algn="just"/>
            <a:r>
              <a:rPr lang="en-US" dirty="0"/>
              <a:t>If </a:t>
            </a:r>
            <a:r>
              <a:rPr lang="en-US" dirty="0" err="1"/>
              <a:t>p</a:t>
            </a:r>
            <a:r>
              <a:rPr lang="en-US" baseline="-25000" dirty="0" err="1"/>
              <a:t>k</a:t>
            </a:r>
            <a:r>
              <a:rPr lang="en-US" dirty="0"/>
              <a:t> is negative it takes the point as (x</a:t>
            </a:r>
            <a:r>
              <a:rPr lang="en-US" baseline="-25000" dirty="0"/>
              <a:t>k+1</a:t>
            </a:r>
            <a:r>
              <a:rPr lang="en-US" dirty="0"/>
              <a:t>, </a:t>
            </a:r>
            <a:r>
              <a:rPr lang="en-US" dirty="0" err="1"/>
              <a:t>y</a:t>
            </a:r>
            <a:r>
              <a:rPr lang="en-US" baseline="-25000" dirty="0" err="1"/>
              <a:t>k</a:t>
            </a:r>
            <a:r>
              <a:rPr lang="en-US" dirty="0"/>
              <a:t>).</a:t>
            </a:r>
          </a:p>
          <a:p>
            <a:pPr algn="just"/>
            <a:r>
              <a:rPr lang="en-US" dirty="0"/>
              <a:t>If </a:t>
            </a:r>
            <a:r>
              <a:rPr lang="en-US" dirty="0" err="1"/>
              <a:t>p</a:t>
            </a:r>
            <a:r>
              <a:rPr lang="en-US" baseline="-25000" dirty="0" err="1"/>
              <a:t>k</a:t>
            </a:r>
            <a:r>
              <a:rPr lang="en-US" dirty="0"/>
              <a:t> is positive it takes point as (x</a:t>
            </a:r>
            <a:r>
              <a:rPr lang="en-US" baseline="-25000" dirty="0"/>
              <a:t>k+1</a:t>
            </a:r>
            <a:r>
              <a:rPr lang="en-US" dirty="0"/>
              <a:t>, y</a:t>
            </a:r>
            <a:r>
              <a:rPr lang="en-US" baseline="-25000" dirty="0"/>
              <a:t>k+1</a:t>
            </a:r>
            <a:r>
              <a:rPr lang="en-US" dirty="0"/>
              <a:t>)</a:t>
            </a:r>
          </a:p>
        </p:txBody>
      </p:sp>
      <p:sp>
        <p:nvSpPr>
          <p:cNvPr id="4" name="Title 1">
            <a:extLst>
              <a:ext uri="{FF2B5EF4-FFF2-40B4-BE49-F238E27FC236}">
                <a16:creationId xmlns:a16="http://schemas.microsoft.com/office/drawing/2014/main" id="{F584B5C9-156A-EBB6-80D7-89325D7E9B42}"/>
              </a:ext>
            </a:extLst>
          </p:cNvPr>
          <p:cNvSpPr txBox="1">
            <a:spLocks/>
          </p:cNvSpPr>
          <p:nvPr/>
        </p:nvSpPr>
        <p:spPr>
          <a:xfrm>
            <a:off x="457200" y="533400"/>
            <a:ext cx="8229600" cy="8683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err="1"/>
              <a:t>Bresenham’s</a:t>
            </a:r>
            <a:r>
              <a:rPr lang="en-US" dirty="0"/>
              <a:t> Line Algorithm</a:t>
            </a:r>
          </a:p>
        </p:txBody>
      </p:sp>
    </p:spTree>
    <p:extLst>
      <p:ext uri="{BB962C8B-B14F-4D97-AF65-F5344CB8AC3E}">
        <p14:creationId xmlns:p14="http://schemas.microsoft.com/office/powerpoint/2010/main" val="345102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3657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43400" y="1905000"/>
            <a:ext cx="3810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1">
            <a:extLst>
              <a:ext uri="{FF2B5EF4-FFF2-40B4-BE49-F238E27FC236}">
                <a16:creationId xmlns:a16="http://schemas.microsoft.com/office/drawing/2014/main" id="{65130938-361D-4885-FB1E-AF762DD36044}"/>
              </a:ext>
            </a:extLst>
          </p:cNvPr>
          <p:cNvSpPr txBox="1">
            <a:spLocks/>
          </p:cNvSpPr>
          <p:nvPr/>
        </p:nvSpPr>
        <p:spPr>
          <a:xfrm>
            <a:off x="457200" y="457200"/>
            <a:ext cx="8229600" cy="8683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err="1"/>
              <a:t>Bresenham’s</a:t>
            </a:r>
            <a:r>
              <a:rPr lang="en-US" dirty="0"/>
              <a:t> Line Algorithm</a:t>
            </a:r>
          </a:p>
        </p:txBody>
      </p:sp>
    </p:spTree>
    <p:extLst>
      <p:ext uri="{BB962C8B-B14F-4D97-AF65-F5344CB8AC3E}">
        <p14:creationId xmlns:p14="http://schemas.microsoft.com/office/powerpoint/2010/main" val="3364621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dirty="0"/>
              <a:t>Suppose we have determined the first pixel position as (</a:t>
            </a:r>
            <a:r>
              <a:rPr lang="en-US" dirty="0" err="1"/>
              <a:t>x</a:t>
            </a:r>
            <a:r>
              <a:rPr lang="en-US" baseline="-25000" dirty="0" err="1"/>
              <a:t>k</a:t>
            </a:r>
            <a:r>
              <a:rPr lang="en-US" dirty="0" err="1"/>
              <a:t>,y</a:t>
            </a:r>
            <a:r>
              <a:rPr lang="en-US" baseline="-25000" dirty="0" err="1"/>
              <a:t>k</a:t>
            </a:r>
            <a:r>
              <a:rPr lang="en-US" dirty="0"/>
              <a:t>).</a:t>
            </a:r>
          </a:p>
          <a:p>
            <a:pPr algn="just"/>
            <a:r>
              <a:rPr lang="en-US" dirty="0"/>
              <a:t>Now, we have to decide which pixel to plot at x</a:t>
            </a:r>
            <a:r>
              <a:rPr lang="en-US" baseline="-25000" dirty="0"/>
              <a:t>k</a:t>
            </a:r>
            <a:r>
              <a:rPr lang="en-US" dirty="0"/>
              <a:t>+1, that is, whether (x</a:t>
            </a:r>
            <a:r>
              <a:rPr lang="en-US" baseline="-25000" dirty="0"/>
              <a:t>k</a:t>
            </a:r>
            <a:r>
              <a:rPr lang="en-US" dirty="0"/>
              <a:t>+1,y</a:t>
            </a:r>
            <a:r>
              <a:rPr lang="en-US" baseline="-25000" dirty="0"/>
              <a:t>k</a:t>
            </a:r>
            <a:r>
              <a:rPr lang="en-US" dirty="0"/>
              <a:t>) or (x</a:t>
            </a:r>
            <a:r>
              <a:rPr lang="en-US" baseline="-25000" dirty="0"/>
              <a:t>k</a:t>
            </a:r>
            <a:r>
              <a:rPr lang="en-US" dirty="0"/>
              <a:t>+1, y</a:t>
            </a:r>
            <a:r>
              <a:rPr lang="en-US" baseline="-25000" dirty="0"/>
              <a:t>k</a:t>
            </a:r>
            <a:r>
              <a:rPr lang="en-US" dirty="0"/>
              <a:t>+1).</a:t>
            </a:r>
          </a:p>
          <a:p>
            <a:pPr algn="just"/>
            <a:r>
              <a:rPr lang="en-US" dirty="0"/>
              <a:t>At position (x</a:t>
            </a:r>
            <a:r>
              <a:rPr lang="en-US" baseline="-25000" dirty="0"/>
              <a:t>k</a:t>
            </a:r>
            <a:r>
              <a:rPr lang="en-US" dirty="0"/>
              <a:t>+1), we label separation between pixels </a:t>
            </a:r>
            <a:r>
              <a:rPr lang="en-US" dirty="0" err="1"/>
              <a:t>y</a:t>
            </a:r>
            <a:r>
              <a:rPr lang="en-US" baseline="-25000" dirty="0" err="1"/>
              <a:t>k</a:t>
            </a:r>
            <a:r>
              <a:rPr lang="en-US" dirty="0"/>
              <a:t> and y</a:t>
            </a:r>
            <a:r>
              <a:rPr lang="en-US" baseline="-25000" dirty="0"/>
              <a:t>k</a:t>
            </a:r>
            <a:r>
              <a:rPr lang="en-US" dirty="0"/>
              <a:t>+1 from the line path (y) as d</a:t>
            </a:r>
            <a:r>
              <a:rPr lang="en-US" baseline="-25000" dirty="0"/>
              <a:t>1</a:t>
            </a:r>
            <a:r>
              <a:rPr lang="en-US" dirty="0"/>
              <a:t> and d</a:t>
            </a:r>
            <a:r>
              <a:rPr lang="en-US" baseline="-25000" dirty="0"/>
              <a:t>2</a:t>
            </a:r>
            <a:r>
              <a:rPr lang="en-US" dirty="0"/>
              <a:t>. that is, d</a:t>
            </a:r>
            <a:r>
              <a:rPr lang="en-US" baseline="-25000" dirty="0"/>
              <a:t>1</a:t>
            </a:r>
            <a:r>
              <a:rPr lang="en-US" dirty="0"/>
              <a:t> = y – </a:t>
            </a:r>
            <a:r>
              <a:rPr lang="en-US" dirty="0" err="1"/>
              <a:t>y</a:t>
            </a:r>
            <a:r>
              <a:rPr lang="en-US" baseline="-25000" dirty="0" err="1"/>
              <a:t>k</a:t>
            </a:r>
            <a:r>
              <a:rPr lang="en-US" dirty="0"/>
              <a:t>; and d</a:t>
            </a:r>
            <a:r>
              <a:rPr lang="en-US" baseline="-25000" dirty="0"/>
              <a:t>2</a:t>
            </a:r>
            <a:r>
              <a:rPr lang="en-US" dirty="0"/>
              <a:t> = y</a:t>
            </a:r>
            <a:r>
              <a:rPr lang="en-US" baseline="-25000" dirty="0"/>
              <a:t>k</a:t>
            </a:r>
            <a:r>
              <a:rPr lang="en-US" dirty="0"/>
              <a:t>+1 - y</a:t>
            </a:r>
          </a:p>
          <a:p>
            <a:pPr algn="just"/>
            <a:r>
              <a:rPr lang="en-US" dirty="0"/>
              <a:t>Then we calculate the decision parameter </a:t>
            </a:r>
            <a:r>
              <a:rPr lang="en-US" dirty="0" err="1"/>
              <a:t>p</a:t>
            </a:r>
            <a:r>
              <a:rPr lang="en-US" baseline="-25000" dirty="0" err="1"/>
              <a:t>k</a:t>
            </a:r>
            <a:r>
              <a:rPr lang="en-US" dirty="0"/>
              <a:t> as </a:t>
            </a:r>
          </a:p>
          <a:p>
            <a:pPr marL="0" indent="0" algn="just">
              <a:buNone/>
            </a:pPr>
            <a:r>
              <a:rPr lang="en-US" dirty="0"/>
              <a:t>                 </a:t>
            </a:r>
            <a:r>
              <a:rPr lang="en-US" dirty="0" err="1"/>
              <a:t>p</a:t>
            </a:r>
            <a:r>
              <a:rPr lang="en-US" baseline="-25000" dirty="0" err="1"/>
              <a:t>k</a:t>
            </a:r>
            <a:r>
              <a:rPr lang="en-US" dirty="0"/>
              <a:t> = (d</a:t>
            </a:r>
            <a:r>
              <a:rPr lang="en-US" baseline="-25000" dirty="0"/>
              <a:t>1</a:t>
            </a:r>
            <a:r>
              <a:rPr lang="en-US" dirty="0"/>
              <a:t>-d</a:t>
            </a:r>
            <a:r>
              <a:rPr lang="en-US" baseline="-25000" dirty="0"/>
              <a:t>2</a:t>
            </a:r>
            <a:r>
              <a:rPr lang="en-US" dirty="0"/>
              <a:t>). [or something similar!]</a:t>
            </a:r>
          </a:p>
        </p:txBody>
      </p:sp>
      <p:sp>
        <p:nvSpPr>
          <p:cNvPr id="4" name="Title 1">
            <a:extLst>
              <a:ext uri="{FF2B5EF4-FFF2-40B4-BE49-F238E27FC236}">
                <a16:creationId xmlns:a16="http://schemas.microsoft.com/office/drawing/2014/main" id="{C4C80CC3-6D2B-577B-6139-5F98C082194B}"/>
              </a:ext>
            </a:extLst>
          </p:cNvPr>
          <p:cNvSpPr txBox="1">
            <a:spLocks/>
          </p:cNvSpPr>
          <p:nvPr/>
        </p:nvSpPr>
        <p:spPr>
          <a:xfrm>
            <a:off x="457200" y="457200"/>
            <a:ext cx="8229600" cy="8683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err="1"/>
              <a:t>Bresenham’s</a:t>
            </a:r>
            <a:r>
              <a:rPr lang="en-US" dirty="0"/>
              <a:t> Line Algorithm</a:t>
            </a:r>
          </a:p>
        </p:txBody>
      </p:sp>
    </p:spTree>
    <p:extLst>
      <p:ext uri="{BB962C8B-B14F-4D97-AF65-F5344CB8AC3E}">
        <p14:creationId xmlns:p14="http://schemas.microsoft.com/office/powerpoint/2010/main" val="328212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a:t>At pixel </a:t>
            </a:r>
            <a:r>
              <a:rPr lang="en-US" dirty="0" err="1"/>
              <a:t>x</a:t>
            </a:r>
            <a:r>
              <a:rPr lang="en-US" baseline="-25000" dirty="0" err="1"/>
              <a:t>k</a:t>
            </a:r>
            <a:r>
              <a:rPr lang="en-US" dirty="0"/>
              <a:t>+ 1, we can calculate y as:</a:t>
            </a:r>
          </a:p>
          <a:p>
            <a:pPr marL="0" indent="0">
              <a:buNone/>
            </a:pPr>
            <a:r>
              <a:rPr lang="en-US" dirty="0"/>
              <a:t>	y = </a:t>
            </a:r>
            <a:r>
              <a:rPr lang="en-US" dirty="0" err="1"/>
              <a:t>m.x</a:t>
            </a:r>
            <a:r>
              <a:rPr lang="en-US" dirty="0"/>
              <a:t> + b</a:t>
            </a:r>
          </a:p>
          <a:p>
            <a:pPr lvl="1">
              <a:buFont typeface="Symbol"/>
              <a:buChar char="Þ"/>
            </a:pPr>
            <a:r>
              <a:rPr lang="en-US" dirty="0"/>
              <a:t> y = m (</a:t>
            </a:r>
            <a:r>
              <a:rPr lang="en-US" dirty="0" err="1"/>
              <a:t>x</a:t>
            </a:r>
            <a:r>
              <a:rPr lang="en-US" baseline="-25000" dirty="0" err="1"/>
              <a:t>k</a:t>
            </a:r>
            <a:r>
              <a:rPr lang="en-US" dirty="0"/>
              <a:t>+ 1) + b</a:t>
            </a:r>
          </a:p>
          <a:p>
            <a:pPr marL="457200" lvl="1" indent="0">
              <a:buNone/>
            </a:pPr>
            <a:r>
              <a:rPr lang="en-US" dirty="0"/>
              <a:t>Then d</a:t>
            </a:r>
            <a:r>
              <a:rPr lang="en-US" baseline="-25000" dirty="0"/>
              <a:t>1</a:t>
            </a:r>
            <a:r>
              <a:rPr lang="en-US" dirty="0"/>
              <a:t> = y – </a:t>
            </a:r>
            <a:r>
              <a:rPr lang="en-US" dirty="0" err="1"/>
              <a:t>y</a:t>
            </a:r>
            <a:r>
              <a:rPr lang="en-US" baseline="-25000" dirty="0" err="1"/>
              <a:t>k</a:t>
            </a:r>
            <a:endParaRPr lang="en-US" baseline="-25000" dirty="0"/>
          </a:p>
          <a:p>
            <a:pPr marL="457200" lvl="1" indent="0">
              <a:buNone/>
            </a:pPr>
            <a:r>
              <a:rPr lang="en-US" dirty="0"/>
              <a:t>d</a:t>
            </a:r>
            <a:r>
              <a:rPr lang="en-US" baseline="-25000" dirty="0"/>
              <a:t>1 = </a:t>
            </a:r>
            <a:r>
              <a:rPr lang="en-US" dirty="0"/>
              <a:t>m (</a:t>
            </a:r>
            <a:r>
              <a:rPr lang="en-US" dirty="0" err="1"/>
              <a:t>x</a:t>
            </a:r>
            <a:r>
              <a:rPr lang="en-US" baseline="-25000" dirty="0" err="1"/>
              <a:t>k</a:t>
            </a:r>
            <a:r>
              <a:rPr lang="en-US" dirty="0"/>
              <a:t>+ 1) + b – </a:t>
            </a:r>
            <a:r>
              <a:rPr lang="en-US" dirty="0" err="1"/>
              <a:t>y</a:t>
            </a:r>
            <a:r>
              <a:rPr lang="en-US" baseline="-25000" dirty="0" err="1"/>
              <a:t>k</a:t>
            </a:r>
            <a:endParaRPr lang="en-US" baseline="-25000" dirty="0"/>
          </a:p>
          <a:p>
            <a:pPr marL="457200" lvl="1" indent="0">
              <a:buNone/>
            </a:pPr>
            <a:r>
              <a:rPr lang="en-US" dirty="0"/>
              <a:t>d</a:t>
            </a:r>
            <a:r>
              <a:rPr lang="en-US" baseline="-25000" dirty="0"/>
              <a:t>2</a:t>
            </a:r>
            <a:r>
              <a:rPr lang="en-US" dirty="0"/>
              <a:t> = </a:t>
            </a:r>
            <a:r>
              <a:rPr lang="en-US" dirty="0" err="1"/>
              <a:t>y</a:t>
            </a:r>
            <a:r>
              <a:rPr lang="en-US" baseline="-25000" dirty="0" err="1"/>
              <a:t>k</a:t>
            </a:r>
            <a:r>
              <a:rPr lang="en-US" dirty="0"/>
              <a:t>+ 1 – y</a:t>
            </a:r>
          </a:p>
          <a:p>
            <a:pPr marL="457200" lvl="1" indent="0">
              <a:buNone/>
            </a:pPr>
            <a:r>
              <a:rPr lang="en-US" dirty="0"/>
              <a:t>d</a:t>
            </a:r>
            <a:r>
              <a:rPr lang="en-US" baseline="-25000" dirty="0"/>
              <a:t>2</a:t>
            </a:r>
            <a:r>
              <a:rPr lang="en-US" dirty="0"/>
              <a:t> = y</a:t>
            </a:r>
            <a:r>
              <a:rPr lang="en-US" baseline="-25000" dirty="0"/>
              <a:t>k</a:t>
            </a:r>
            <a:r>
              <a:rPr lang="en-US" dirty="0"/>
              <a:t>+1 – (m (</a:t>
            </a:r>
            <a:r>
              <a:rPr lang="en-US" dirty="0" err="1"/>
              <a:t>x</a:t>
            </a:r>
            <a:r>
              <a:rPr lang="en-US" baseline="-25000" dirty="0" err="1"/>
              <a:t>k</a:t>
            </a:r>
            <a:r>
              <a:rPr lang="en-US" dirty="0"/>
              <a:t>+ 1) + b)</a:t>
            </a:r>
          </a:p>
          <a:p>
            <a:pPr marL="457200" lvl="1" indent="0">
              <a:buNone/>
            </a:pPr>
            <a:r>
              <a:rPr lang="en-US" dirty="0"/>
              <a:t>d</a:t>
            </a:r>
            <a:r>
              <a:rPr lang="en-US" baseline="-25000" dirty="0"/>
              <a:t>2</a:t>
            </a:r>
            <a:r>
              <a:rPr lang="en-US" dirty="0"/>
              <a:t> = y</a:t>
            </a:r>
            <a:r>
              <a:rPr lang="en-US" baseline="-25000" dirty="0"/>
              <a:t>k</a:t>
            </a:r>
            <a:r>
              <a:rPr lang="en-US" dirty="0"/>
              <a:t>+1 - m (</a:t>
            </a:r>
            <a:r>
              <a:rPr lang="en-US" dirty="0" err="1"/>
              <a:t>x</a:t>
            </a:r>
            <a:r>
              <a:rPr lang="en-US" baseline="-25000" dirty="0" err="1"/>
              <a:t>k</a:t>
            </a:r>
            <a:r>
              <a:rPr lang="en-US" dirty="0"/>
              <a:t>+ 1) - b</a:t>
            </a:r>
          </a:p>
          <a:p>
            <a:pPr marL="457200" lvl="1" indent="0">
              <a:buNone/>
            </a:pPr>
            <a:r>
              <a:rPr lang="en-US" dirty="0"/>
              <a:t>d</a:t>
            </a:r>
            <a:r>
              <a:rPr lang="en-US" baseline="-25000" dirty="0"/>
              <a:t>1</a:t>
            </a:r>
            <a:r>
              <a:rPr lang="en-US" dirty="0"/>
              <a:t> – d</a:t>
            </a:r>
            <a:r>
              <a:rPr lang="en-US" baseline="-25000" dirty="0"/>
              <a:t>2</a:t>
            </a:r>
            <a:r>
              <a:rPr lang="en-US" dirty="0"/>
              <a:t> = (m (x</a:t>
            </a:r>
            <a:r>
              <a:rPr lang="en-US" baseline="-25000" dirty="0"/>
              <a:t>k</a:t>
            </a:r>
            <a:r>
              <a:rPr lang="en-US" dirty="0"/>
              <a:t>+1) + b – </a:t>
            </a:r>
            <a:r>
              <a:rPr lang="en-US" dirty="0" err="1"/>
              <a:t>y</a:t>
            </a:r>
            <a:r>
              <a:rPr lang="en-US" baseline="-25000" dirty="0" err="1"/>
              <a:t>k</a:t>
            </a:r>
            <a:r>
              <a:rPr lang="en-US" dirty="0"/>
              <a:t>) – (</a:t>
            </a:r>
            <a:r>
              <a:rPr lang="en-US" dirty="0" err="1"/>
              <a:t>y</a:t>
            </a:r>
            <a:r>
              <a:rPr lang="en-US" baseline="-25000" dirty="0" err="1"/>
              <a:t>k</a:t>
            </a:r>
            <a:r>
              <a:rPr lang="en-US" baseline="-25000" dirty="0"/>
              <a:t> </a:t>
            </a:r>
            <a:r>
              <a:rPr lang="en-US" dirty="0"/>
              <a:t>+ 1 - m (x</a:t>
            </a:r>
            <a:r>
              <a:rPr lang="en-US" baseline="-25000" dirty="0"/>
              <a:t>k</a:t>
            </a:r>
            <a:r>
              <a:rPr lang="en-US" dirty="0"/>
              <a:t>+1) – b)</a:t>
            </a:r>
          </a:p>
          <a:p>
            <a:pPr marL="457200" lvl="1" indent="0">
              <a:buNone/>
            </a:pPr>
            <a:r>
              <a:rPr lang="en-US" dirty="0"/>
              <a:t>d</a:t>
            </a:r>
            <a:r>
              <a:rPr lang="en-US" baseline="-25000" dirty="0"/>
              <a:t>1</a:t>
            </a:r>
            <a:r>
              <a:rPr lang="en-US" dirty="0"/>
              <a:t> – d</a:t>
            </a:r>
            <a:r>
              <a:rPr lang="en-US" baseline="-25000" dirty="0"/>
              <a:t>2</a:t>
            </a:r>
            <a:r>
              <a:rPr lang="en-US" dirty="0"/>
              <a:t> = m(</a:t>
            </a:r>
            <a:r>
              <a:rPr lang="en-US" dirty="0" err="1"/>
              <a:t>x</a:t>
            </a:r>
            <a:r>
              <a:rPr lang="en-US" baseline="-25000" dirty="0" err="1"/>
              <a:t>k</a:t>
            </a:r>
            <a:r>
              <a:rPr lang="en-US" dirty="0"/>
              <a:t> + 1) + b – </a:t>
            </a:r>
            <a:r>
              <a:rPr lang="en-US" dirty="0" err="1"/>
              <a:t>y</a:t>
            </a:r>
            <a:r>
              <a:rPr lang="en-US" baseline="-25000" dirty="0" err="1"/>
              <a:t>k</a:t>
            </a:r>
            <a:r>
              <a:rPr lang="en-US" dirty="0"/>
              <a:t> – </a:t>
            </a:r>
            <a:r>
              <a:rPr lang="en-US" dirty="0" err="1"/>
              <a:t>y</a:t>
            </a:r>
            <a:r>
              <a:rPr lang="en-US" baseline="-25000" dirty="0" err="1"/>
              <a:t>k</a:t>
            </a:r>
            <a:r>
              <a:rPr lang="en-US" dirty="0"/>
              <a:t> - 1 + m(x</a:t>
            </a:r>
            <a:r>
              <a:rPr lang="en-US" baseline="-25000" dirty="0"/>
              <a:t>k</a:t>
            </a:r>
            <a:r>
              <a:rPr lang="en-US" dirty="0"/>
              <a:t>+1) + b</a:t>
            </a:r>
          </a:p>
          <a:p>
            <a:pPr marL="457200" lvl="1" indent="0">
              <a:buNone/>
            </a:pPr>
            <a:r>
              <a:rPr lang="en-US" dirty="0"/>
              <a:t>d</a:t>
            </a:r>
            <a:r>
              <a:rPr lang="en-US" baseline="-25000" dirty="0"/>
              <a:t>1</a:t>
            </a:r>
            <a:r>
              <a:rPr lang="en-US" dirty="0"/>
              <a:t> – d</a:t>
            </a:r>
            <a:r>
              <a:rPr lang="en-US" baseline="-25000" dirty="0"/>
              <a:t>2</a:t>
            </a:r>
            <a:r>
              <a:rPr lang="en-US" dirty="0"/>
              <a:t> = 2m(</a:t>
            </a:r>
            <a:r>
              <a:rPr lang="en-US" dirty="0" err="1"/>
              <a:t>x</a:t>
            </a:r>
            <a:r>
              <a:rPr lang="en-US" baseline="-25000" dirty="0" err="1"/>
              <a:t>k</a:t>
            </a:r>
            <a:r>
              <a:rPr lang="en-US" dirty="0"/>
              <a:t> + 1) – 2y</a:t>
            </a:r>
            <a:r>
              <a:rPr lang="en-US" baseline="-25000" dirty="0"/>
              <a:t>k</a:t>
            </a:r>
            <a:r>
              <a:rPr lang="en-US" dirty="0"/>
              <a:t> + 2b - 1</a:t>
            </a:r>
          </a:p>
          <a:p>
            <a:pPr marL="457200" lvl="1" indent="0">
              <a:buNone/>
            </a:pPr>
            <a:endParaRPr lang="en-US" dirty="0"/>
          </a:p>
          <a:p>
            <a:pPr>
              <a:buFont typeface="Symbol"/>
              <a:buChar char="Þ"/>
            </a:pPr>
            <a:endParaRPr lang="en-US" dirty="0"/>
          </a:p>
        </p:txBody>
      </p:sp>
      <p:sp>
        <p:nvSpPr>
          <p:cNvPr id="4" name="Rectangle 3"/>
          <p:cNvSpPr/>
          <p:nvPr/>
        </p:nvSpPr>
        <p:spPr>
          <a:xfrm>
            <a:off x="838200" y="5562600"/>
            <a:ext cx="5257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5948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US" dirty="0"/>
              <a:t>The decision parameter </a:t>
            </a:r>
            <a:r>
              <a:rPr lang="en-US" dirty="0" err="1"/>
              <a:t>p</a:t>
            </a:r>
            <a:r>
              <a:rPr lang="en-US" baseline="-25000" dirty="0" err="1"/>
              <a:t>k</a:t>
            </a:r>
            <a:r>
              <a:rPr lang="en-US" dirty="0"/>
              <a:t> for </a:t>
            </a:r>
            <a:r>
              <a:rPr lang="en-US" dirty="0" err="1"/>
              <a:t>k</a:t>
            </a:r>
            <a:r>
              <a:rPr lang="en-US" baseline="30000" dirty="0" err="1"/>
              <a:t>th</a:t>
            </a:r>
            <a:r>
              <a:rPr lang="en-US" dirty="0"/>
              <a:t> step is given as </a:t>
            </a:r>
            <a:r>
              <a:rPr lang="en-US" dirty="0" err="1"/>
              <a:t>p</a:t>
            </a:r>
            <a:r>
              <a:rPr lang="en-US" baseline="-25000" dirty="0" err="1"/>
              <a:t>k</a:t>
            </a:r>
            <a:r>
              <a:rPr lang="en-US" dirty="0"/>
              <a:t> = </a:t>
            </a:r>
            <a:r>
              <a:rPr lang="el-GR" dirty="0"/>
              <a:t>δ</a:t>
            </a:r>
            <a:r>
              <a:rPr lang="en-US" dirty="0"/>
              <a:t>x(d1 – d2)   {where m= </a:t>
            </a:r>
            <a:r>
              <a:rPr lang="el-GR" dirty="0"/>
              <a:t>δ</a:t>
            </a:r>
            <a:r>
              <a:rPr lang="en-US" dirty="0"/>
              <a:t>y/</a:t>
            </a:r>
            <a:r>
              <a:rPr lang="el-GR" dirty="0"/>
              <a:t> δ</a:t>
            </a:r>
            <a:r>
              <a:rPr lang="en-US" dirty="0"/>
              <a:t>x}</a:t>
            </a:r>
          </a:p>
          <a:p>
            <a:pPr>
              <a:buFont typeface="Symbol"/>
              <a:buChar char="Þ"/>
            </a:pPr>
            <a:r>
              <a:rPr lang="en-US" dirty="0" err="1"/>
              <a:t>p</a:t>
            </a:r>
            <a:r>
              <a:rPr lang="en-US" baseline="-25000" dirty="0" err="1"/>
              <a:t>k</a:t>
            </a:r>
            <a:r>
              <a:rPr lang="en-US" dirty="0"/>
              <a:t> = 2</a:t>
            </a:r>
            <a:r>
              <a:rPr lang="el-GR" dirty="0"/>
              <a:t>δ</a:t>
            </a:r>
            <a:r>
              <a:rPr lang="en-US" dirty="0"/>
              <a:t>y . </a:t>
            </a:r>
            <a:r>
              <a:rPr lang="en-US" dirty="0" err="1"/>
              <a:t>x</a:t>
            </a:r>
            <a:r>
              <a:rPr lang="en-US" baseline="-25000" dirty="0" err="1"/>
              <a:t>k</a:t>
            </a:r>
            <a:r>
              <a:rPr lang="en-US" dirty="0"/>
              <a:t> – 2</a:t>
            </a:r>
            <a:r>
              <a:rPr lang="el-GR" dirty="0"/>
              <a:t>δ</a:t>
            </a:r>
            <a:r>
              <a:rPr lang="en-US" dirty="0"/>
              <a:t>x. </a:t>
            </a:r>
            <a:r>
              <a:rPr lang="en-US" dirty="0" err="1"/>
              <a:t>y</a:t>
            </a:r>
            <a:r>
              <a:rPr lang="en-US" baseline="-25000" dirty="0" err="1"/>
              <a:t>k</a:t>
            </a:r>
            <a:r>
              <a:rPr lang="en-US" dirty="0"/>
              <a:t> + 2</a:t>
            </a:r>
            <a:r>
              <a:rPr lang="el-GR" dirty="0"/>
              <a:t>δ</a:t>
            </a:r>
            <a:r>
              <a:rPr lang="en-US" dirty="0"/>
              <a:t>y + </a:t>
            </a:r>
            <a:r>
              <a:rPr lang="el-GR" dirty="0"/>
              <a:t>δ</a:t>
            </a:r>
            <a:r>
              <a:rPr lang="en-US" dirty="0"/>
              <a:t>x (2b – 1)</a:t>
            </a:r>
          </a:p>
          <a:p>
            <a:pPr>
              <a:buFont typeface="Symbol"/>
              <a:buChar char="Þ"/>
            </a:pPr>
            <a:r>
              <a:rPr lang="en-US" dirty="0" err="1"/>
              <a:t>p</a:t>
            </a:r>
            <a:r>
              <a:rPr lang="en-US" baseline="-25000" dirty="0" err="1"/>
              <a:t>k</a:t>
            </a:r>
            <a:r>
              <a:rPr lang="en-US" dirty="0"/>
              <a:t> = 2</a:t>
            </a:r>
            <a:r>
              <a:rPr lang="el-GR" dirty="0"/>
              <a:t>δ</a:t>
            </a:r>
            <a:r>
              <a:rPr lang="en-US" dirty="0"/>
              <a:t>y. </a:t>
            </a:r>
            <a:r>
              <a:rPr lang="en-US" dirty="0" err="1"/>
              <a:t>x</a:t>
            </a:r>
            <a:r>
              <a:rPr lang="en-US" baseline="-25000" dirty="0" err="1"/>
              <a:t>k</a:t>
            </a:r>
            <a:r>
              <a:rPr lang="en-US" dirty="0"/>
              <a:t> – 2</a:t>
            </a:r>
            <a:r>
              <a:rPr lang="el-GR" dirty="0"/>
              <a:t>δ</a:t>
            </a:r>
            <a:r>
              <a:rPr lang="en-US" dirty="0"/>
              <a:t>x. </a:t>
            </a:r>
            <a:r>
              <a:rPr lang="en-US" dirty="0" err="1"/>
              <a:t>y</a:t>
            </a:r>
            <a:r>
              <a:rPr lang="en-US" baseline="-25000" dirty="0" err="1"/>
              <a:t>k</a:t>
            </a:r>
            <a:r>
              <a:rPr lang="en-US" dirty="0"/>
              <a:t>   +   c</a:t>
            </a:r>
          </a:p>
          <a:p>
            <a:pPr>
              <a:buFont typeface="Symbol"/>
              <a:buChar char="Þ"/>
            </a:pPr>
            <a:r>
              <a:rPr lang="en-US" dirty="0"/>
              <a:t>c is a constant as it is not dependent on pixel positions (</a:t>
            </a:r>
            <a:r>
              <a:rPr lang="en-US" dirty="0" err="1"/>
              <a:t>x</a:t>
            </a:r>
            <a:r>
              <a:rPr lang="en-US" baseline="-25000" dirty="0" err="1"/>
              <a:t>k</a:t>
            </a:r>
            <a:r>
              <a:rPr lang="en-US" dirty="0" err="1"/>
              <a:t>,y</a:t>
            </a:r>
            <a:r>
              <a:rPr lang="en-US" baseline="-25000" dirty="0" err="1"/>
              <a:t>k</a:t>
            </a:r>
            <a:r>
              <a:rPr lang="en-US" dirty="0"/>
              <a:t>) </a:t>
            </a:r>
          </a:p>
          <a:p>
            <a:pPr marL="0" indent="0">
              <a:buNone/>
            </a:pPr>
            <a:r>
              <a:rPr lang="en-US" dirty="0"/>
              <a:t>The decision parameter </a:t>
            </a:r>
            <a:r>
              <a:rPr lang="en-US" dirty="0" err="1"/>
              <a:t>p</a:t>
            </a:r>
            <a:r>
              <a:rPr lang="en-US" baseline="-25000" dirty="0" err="1"/>
              <a:t>k</a:t>
            </a:r>
            <a:r>
              <a:rPr lang="en-US" dirty="0"/>
              <a:t> for step k + 1 is given as p</a:t>
            </a:r>
            <a:r>
              <a:rPr lang="en-US" baseline="-25000" dirty="0"/>
              <a:t>k+1</a:t>
            </a:r>
            <a:r>
              <a:rPr lang="en-US" dirty="0"/>
              <a:t> = 2</a:t>
            </a:r>
            <a:r>
              <a:rPr lang="el-GR" dirty="0"/>
              <a:t>δ</a:t>
            </a:r>
            <a:r>
              <a:rPr lang="en-US" dirty="0"/>
              <a:t>y. x</a:t>
            </a:r>
            <a:r>
              <a:rPr lang="en-US" baseline="-25000" dirty="0"/>
              <a:t>k+1</a:t>
            </a:r>
            <a:r>
              <a:rPr lang="en-US" dirty="0"/>
              <a:t> – 2</a:t>
            </a:r>
            <a:r>
              <a:rPr lang="el-GR" dirty="0"/>
              <a:t>δ</a:t>
            </a:r>
            <a:r>
              <a:rPr lang="en-US" dirty="0"/>
              <a:t>x. y</a:t>
            </a:r>
            <a:r>
              <a:rPr lang="en-US" baseline="-25000" dirty="0"/>
              <a:t>k+1</a:t>
            </a:r>
            <a:r>
              <a:rPr lang="en-US" dirty="0"/>
              <a:t>   +  c</a:t>
            </a:r>
          </a:p>
          <a:p>
            <a:pPr marL="0" indent="0">
              <a:buNone/>
            </a:pPr>
            <a:r>
              <a:rPr lang="en-US" dirty="0"/>
              <a:t>=&gt; p</a:t>
            </a:r>
            <a:r>
              <a:rPr lang="en-US" baseline="-25000" dirty="0"/>
              <a:t>k+1 </a:t>
            </a:r>
            <a:r>
              <a:rPr lang="en-US" dirty="0"/>
              <a:t>– </a:t>
            </a:r>
            <a:r>
              <a:rPr lang="en-US" dirty="0" err="1"/>
              <a:t>p</a:t>
            </a:r>
            <a:r>
              <a:rPr lang="en-US" baseline="-25000" dirty="0" err="1"/>
              <a:t>k</a:t>
            </a:r>
            <a:r>
              <a:rPr lang="en-US" baseline="-25000" dirty="0"/>
              <a:t>   </a:t>
            </a:r>
            <a:r>
              <a:rPr lang="en-US" dirty="0"/>
              <a:t>=</a:t>
            </a:r>
            <a:r>
              <a:rPr lang="en-US" baseline="-25000" dirty="0"/>
              <a:t> </a:t>
            </a:r>
            <a:r>
              <a:rPr lang="en-US" dirty="0"/>
              <a:t>2</a:t>
            </a:r>
            <a:r>
              <a:rPr lang="el-GR" dirty="0"/>
              <a:t>δ</a:t>
            </a:r>
            <a:r>
              <a:rPr lang="en-US" dirty="0"/>
              <a:t>y (x</a:t>
            </a:r>
            <a:r>
              <a:rPr lang="en-US" baseline="-25000" dirty="0"/>
              <a:t>k+1 </a:t>
            </a:r>
            <a:r>
              <a:rPr lang="en-US" dirty="0"/>
              <a:t>–</a:t>
            </a:r>
            <a:r>
              <a:rPr lang="en-US" baseline="-25000" dirty="0"/>
              <a:t> </a:t>
            </a:r>
            <a:r>
              <a:rPr lang="en-US" dirty="0" err="1"/>
              <a:t>x</a:t>
            </a:r>
            <a:r>
              <a:rPr lang="en-US" baseline="-25000" dirty="0" err="1"/>
              <a:t>k</a:t>
            </a:r>
            <a:r>
              <a:rPr lang="en-US" dirty="0"/>
              <a:t>)</a:t>
            </a:r>
            <a:r>
              <a:rPr lang="en-US" baseline="-25000" dirty="0"/>
              <a:t> </a:t>
            </a:r>
            <a:r>
              <a:rPr lang="en-US" dirty="0"/>
              <a:t>– 2</a:t>
            </a:r>
            <a:r>
              <a:rPr lang="el-GR" dirty="0"/>
              <a:t>δ</a:t>
            </a:r>
            <a:r>
              <a:rPr lang="en-US" dirty="0"/>
              <a:t>x (y</a:t>
            </a:r>
            <a:r>
              <a:rPr lang="en-US" baseline="-25000" dirty="0"/>
              <a:t>k+1</a:t>
            </a:r>
            <a:r>
              <a:rPr lang="en-US" dirty="0"/>
              <a:t> – </a:t>
            </a:r>
            <a:r>
              <a:rPr lang="en-US" dirty="0" err="1"/>
              <a:t>y</a:t>
            </a:r>
            <a:r>
              <a:rPr lang="en-US" baseline="-25000" dirty="0" err="1"/>
              <a:t>k</a:t>
            </a:r>
            <a:r>
              <a:rPr lang="en-US" dirty="0"/>
              <a:t>) </a:t>
            </a:r>
          </a:p>
          <a:p>
            <a:pPr marL="0" indent="0">
              <a:buNone/>
            </a:pPr>
            <a:r>
              <a:rPr lang="en-US" dirty="0"/>
              <a:t>x</a:t>
            </a:r>
            <a:r>
              <a:rPr lang="en-US" baseline="-25000" dirty="0"/>
              <a:t>k+1</a:t>
            </a:r>
            <a:r>
              <a:rPr lang="en-US" dirty="0"/>
              <a:t> = </a:t>
            </a:r>
            <a:r>
              <a:rPr lang="en-US" dirty="0" err="1"/>
              <a:t>x</a:t>
            </a:r>
            <a:r>
              <a:rPr lang="en-US" baseline="-25000" dirty="0" err="1"/>
              <a:t>k</a:t>
            </a:r>
            <a:r>
              <a:rPr lang="en-US" dirty="0"/>
              <a:t> + 1</a:t>
            </a:r>
          </a:p>
          <a:p>
            <a:pPr>
              <a:buFont typeface="Symbol"/>
              <a:buChar char="Þ"/>
            </a:pPr>
            <a:r>
              <a:rPr lang="en-US" dirty="0"/>
              <a:t>p</a:t>
            </a:r>
            <a:r>
              <a:rPr lang="en-US" baseline="-25000" dirty="0"/>
              <a:t>k+1 </a:t>
            </a:r>
            <a:r>
              <a:rPr lang="en-US" dirty="0"/>
              <a:t>– </a:t>
            </a:r>
            <a:r>
              <a:rPr lang="en-US" dirty="0" err="1"/>
              <a:t>p</a:t>
            </a:r>
            <a:r>
              <a:rPr lang="en-US" baseline="-25000" dirty="0" err="1"/>
              <a:t>k</a:t>
            </a:r>
            <a:r>
              <a:rPr lang="en-US" baseline="-25000" dirty="0"/>
              <a:t>   </a:t>
            </a:r>
            <a:r>
              <a:rPr lang="en-US" dirty="0"/>
              <a:t>=</a:t>
            </a:r>
            <a:r>
              <a:rPr lang="en-US" baseline="-25000" dirty="0"/>
              <a:t> </a:t>
            </a:r>
            <a:r>
              <a:rPr lang="en-US" dirty="0"/>
              <a:t>2</a:t>
            </a:r>
            <a:r>
              <a:rPr lang="el-GR" dirty="0"/>
              <a:t>δ</a:t>
            </a:r>
            <a:r>
              <a:rPr lang="en-US" dirty="0"/>
              <a:t>y (</a:t>
            </a:r>
            <a:r>
              <a:rPr lang="en-US" dirty="0" err="1"/>
              <a:t>x</a:t>
            </a:r>
            <a:r>
              <a:rPr lang="en-US" baseline="-25000" dirty="0" err="1"/>
              <a:t>k</a:t>
            </a:r>
            <a:r>
              <a:rPr lang="en-US" dirty="0"/>
              <a:t>+ 1</a:t>
            </a:r>
            <a:r>
              <a:rPr lang="en-US" baseline="-25000" dirty="0"/>
              <a:t> </a:t>
            </a:r>
            <a:r>
              <a:rPr lang="en-US" dirty="0"/>
              <a:t>–</a:t>
            </a:r>
            <a:r>
              <a:rPr lang="en-US" baseline="-25000" dirty="0"/>
              <a:t> </a:t>
            </a:r>
            <a:r>
              <a:rPr lang="en-US" dirty="0" err="1"/>
              <a:t>x</a:t>
            </a:r>
            <a:r>
              <a:rPr lang="en-US" baseline="-25000" dirty="0" err="1"/>
              <a:t>k</a:t>
            </a:r>
            <a:r>
              <a:rPr lang="en-US" dirty="0"/>
              <a:t>)</a:t>
            </a:r>
            <a:r>
              <a:rPr lang="en-US" baseline="-25000" dirty="0"/>
              <a:t> </a:t>
            </a:r>
            <a:r>
              <a:rPr lang="en-US" dirty="0"/>
              <a:t>– 2</a:t>
            </a:r>
            <a:r>
              <a:rPr lang="el-GR" dirty="0"/>
              <a:t>δ</a:t>
            </a:r>
            <a:r>
              <a:rPr lang="en-US" dirty="0"/>
              <a:t>x (y</a:t>
            </a:r>
            <a:r>
              <a:rPr lang="en-US" baseline="-25000" dirty="0"/>
              <a:t>k+1</a:t>
            </a:r>
            <a:r>
              <a:rPr lang="en-US" dirty="0"/>
              <a:t> – </a:t>
            </a:r>
            <a:r>
              <a:rPr lang="en-US" dirty="0" err="1"/>
              <a:t>y</a:t>
            </a:r>
            <a:r>
              <a:rPr lang="en-US" baseline="-25000" dirty="0" err="1"/>
              <a:t>k</a:t>
            </a:r>
            <a:r>
              <a:rPr lang="en-US" dirty="0"/>
              <a:t>) </a:t>
            </a:r>
          </a:p>
          <a:p>
            <a:pPr>
              <a:buFont typeface="Symbol"/>
              <a:buChar char="Þ"/>
            </a:pPr>
            <a:r>
              <a:rPr lang="en-US" dirty="0"/>
              <a:t>p</a:t>
            </a:r>
            <a:r>
              <a:rPr lang="en-US" baseline="-25000" dirty="0"/>
              <a:t>k+1 </a:t>
            </a:r>
            <a:r>
              <a:rPr lang="en-US" dirty="0"/>
              <a:t>– </a:t>
            </a:r>
            <a:r>
              <a:rPr lang="en-US" dirty="0" err="1"/>
              <a:t>p</a:t>
            </a:r>
            <a:r>
              <a:rPr lang="en-US" baseline="-25000" dirty="0" err="1"/>
              <a:t>k</a:t>
            </a:r>
            <a:r>
              <a:rPr lang="en-US" baseline="-25000" dirty="0"/>
              <a:t>   </a:t>
            </a:r>
            <a:r>
              <a:rPr lang="en-US" dirty="0"/>
              <a:t>=</a:t>
            </a:r>
            <a:r>
              <a:rPr lang="en-US" baseline="-25000" dirty="0"/>
              <a:t> </a:t>
            </a:r>
            <a:r>
              <a:rPr lang="en-US" dirty="0"/>
              <a:t>2</a:t>
            </a:r>
            <a:r>
              <a:rPr lang="el-GR" dirty="0"/>
              <a:t>δ</a:t>
            </a:r>
            <a:r>
              <a:rPr lang="en-US" dirty="0"/>
              <a:t>y (1)</a:t>
            </a:r>
            <a:r>
              <a:rPr lang="en-US" baseline="-25000" dirty="0"/>
              <a:t> </a:t>
            </a:r>
            <a:r>
              <a:rPr lang="en-US" dirty="0"/>
              <a:t>– 2</a:t>
            </a:r>
            <a:r>
              <a:rPr lang="el-GR" dirty="0"/>
              <a:t>δ</a:t>
            </a:r>
            <a:r>
              <a:rPr lang="en-US" dirty="0"/>
              <a:t>x (y</a:t>
            </a:r>
            <a:r>
              <a:rPr lang="en-US" baseline="-25000" dirty="0"/>
              <a:t>k+1</a:t>
            </a:r>
            <a:r>
              <a:rPr lang="en-US" dirty="0"/>
              <a:t> – </a:t>
            </a:r>
            <a:r>
              <a:rPr lang="en-US" dirty="0" err="1"/>
              <a:t>y</a:t>
            </a:r>
            <a:r>
              <a:rPr lang="en-US" baseline="-25000" dirty="0" err="1"/>
              <a:t>k</a:t>
            </a:r>
            <a:r>
              <a:rPr lang="en-US" dirty="0"/>
              <a:t>) </a:t>
            </a:r>
          </a:p>
          <a:p>
            <a:pPr>
              <a:buFont typeface="Symbol"/>
              <a:buChar char="Þ"/>
            </a:pPr>
            <a:r>
              <a:rPr lang="en-US" dirty="0"/>
              <a:t>p</a:t>
            </a:r>
            <a:r>
              <a:rPr lang="en-US" baseline="-25000" dirty="0"/>
              <a:t>k+1 </a:t>
            </a:r>
            <a:r>
              <a:rPr lang="en-US" dirty="0"/>
              <a:t>=</a:t>
            </a:r>
            <a:r>
              <a:rPr lang="en-US" baseline="-25000" dirty="0"/>
              <a:t>  </a:t>
            </a:r>
            <a:r>
              <a:rPr lang="en-US" dirty="0" err="1"/>
              <a:t>p</a:t>
            </a:r>
            <a:r>
              <a:rPr lang="en-US" baseline="-25000" dirty="0" err="1"/>
              <a:t>k</a:t>
            </a:r>
            <a:r>
              <a:rPr lang="en-US" dirty="0"/>
              <a:t> + 2</a:t>
            </a:r>
            <a:r>
              <a:rPr lang="el-GR" dirty="0"/>
              <a:t>δ</a:t>
            </a:r>
            <a:r>
              <a:rPr lang="en-US" dirty="0"/>
              <a:t>y </a:t>
            </a:r>
            <a:r>
              <a:rPr lang="en-US" baseline="-25000" dirty="0"/>
              <a:t> </a:t>
            </a:r>
            <a:r>
              <a:rPr lang="en-US" dirty="0"/>
              <a:t>– 2</a:t>
            </a:r>
            <a:r>
              <a:rPr lang="el-GR" dirty="0"/>
              <a:t>δ</a:t>
            </a:r>
            <a:r>
              <a:rPr lang="en-US" dirty="0"/>
              <a:t>x (y</a:t>
            </a:r>
            <a:r>
              <a:rPr lang="en-US" baseline="-25000" dirty="0"/>
              <a:t>k+1</a:t>
            </a:r>
            <a:r>
              <a:rPr lang="en-US" dirty="0"/>
              <a:t> – </a:t>
            </a:r>
            <a:r>
              <a:rPr lang="en-US" dirty="0" err="1"/>
              <a:t>y</a:t>
            </a:r>
            <a:r>
              <a:rPr lang="en-US" baseline="-25000" dirty="0" err="1"/>
              <a:t>k</a:t>
            </a:r>
            <a:r>
              <a:rPr lang="en-US" dirty="0"/>
              <a:t>) </a:t>
            </a:r>
          </a:p>
          <a:p>
            <a:pPr>
              <a:buFont typeface="Symbol"/>
              <a:buChar char="Þ"/>
            </a:pPr>
            <a:endParaRPr lang="en-US" dirty="0"/>
          </a:p>
          <a:p>
            <a:pPr marL="0" indent="0">
              <a:buNone/>
            </a:pPr>
            <a:endParaRPr lang="en-US" dirty="0"/>
          </a:p>
        </p:txBody>
      </p:sp>
      <p:sp>
        <p:nvSpPr>
          <p:cNvPr id="5" name="Left Brace 4"/>
          <p:cNvSpPr/>
          <p:nvPr/>
        </p:nvSpPr>
        <p:spPr>
          <a:xfrm rot="16200000">
            <a:off x="5477151" y="361947"/>
            <a:ext cx="571499" cy="2590801"/>
          </a:xfrm>
          <a:prstGeom prst="leftBrace">
            <a:avLst>
              <a:gd name="adj1" fmla="val 1078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97862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pPr algn="just"/>
            <a:r>
              <a:rPr lang="en-US" dirty="0"/>
              <a:t>If the pixel at </a:t>
            </a:r>
            <a:r>
              <a:rPr lang="en-US" dirty="0" err="1"/>
              <a:t>y</a:t>
            </a:r>
            <a:r>
              <a:rPr lang="en-US" baseline="-25000" dirty="0" err="1"/>
              <a:t>k</a:t>
            </a:r>
            <a:r>
              <a:rPr lang="en-US" dirty="0"/>
              <a:t> is closer to line path than y</a:t>
            </a:r>
            <a:r>
              <a:rPr lang="en-US" baseline="-25000" dirty="0"/>
              <a:t>k+1</a:t>
            </a:r>
            <a:r>
              <a:rPr lang="en-US" dirty="0"/>
              <a:t> (that is, d</a:t>
            </a:r>
            <a:r>
              <a:rPr lang="en-US" baseline="-25000" dirty="0"/>
              <a:t>1</a:t>
            </a:r>
            <a:r>
              <a:rPr lang="en-US" dirty="0"/>
              <a:t> &lt; d</a:t>
            </a:r>
            <a:r>
              <a:rPr lang="en-US" baseline="-25000" dirty="0"/>
              <a:t>2</a:t>
            </a:r>
            <a:r>
              <a:rPr lang="en-US" dirty="0"/>
              <a:t>) then </a:t>
            </a:r>
            <a:r>
              <a:rPr lang="en-US" dirty="0" err="1"/>
              <a:t>p</a:t>
            </a:r>
            <a:r>
              <a:rPr lang="en-US" baseline="-25000" dirty="0" err="1"/>
              <a:t>k</a:t>
            </a:r>
            <a:r>
              <a:rPr lang="en-US" dirty="0"/>
              <a:t> is negative and we take y-value as </a:t>
            </a:r>
            <a:r>
              <a:rPr lang="en-US" dirty="0" err="1"/>
              <a:t>y</a:t>
            </a:r>
            <a:r>
              <a:rPr lang="en-US" baseline="-25000" dirty="0" err="1"/>
              <a:t>k</a:t>
            </a:r>
            <a:r>
              <a:rPr lang="en-US" dirty="0"/>
              <a:t> that is we plot the point as (x</a:t>
            </a:r>
            <a:r>
              <a:rPr lang="en-US" baseline="-25000" dirty="0"/>
              <a:t>k+1</a:t>
            </a:r>
            <a:r>
              <a:rPr lang="en-US" dirty="0"/>
              <a:t>, </a:t>
            </a:r>
            <a:r>
              <a:rPr lang="en-US" dirty="0" err="1"/>
              <a:t>y</a:t>
            </a:r>
            <a:r>
              <a:rPr lang="en-US" baseline="-25000" dirty="0" err="1"/>
              <a:t>k</a:t>
            </a:r>
            <a:r>
              <a:rPr lang="en-US" dirty="0"/>
              <a:t>). </a:t>
            </a:r>
          </a:p>
          <a:p>
            <a:pPr marL="0" indent="0" algn="just">
              <a:buNone/>
            </a:pPr>
            <a:r>
              <a:rPr lang="en-US" dirty="0"/>
              <a:t>    Then the term (y</a:t>
            </a:r>
            <a:r>
              <a:rPr lang="en-US" baseline="-25000" dirty="0"/>
              <a:t>k+1</a:t>
            </a:r>
            <a:r>
              <a:rPr lang="en-US" dirty="0"/>
              <a:t> – </a:t>
            </a:r>
            <a:r>
              <a:rPr lang="en-US" dirty="0" err="1"/>
              <a:t>y</a:t>
            </a:r>
            <a:r>
              <a:rPr lang="en-US" baseline="-25000" dirty="0" err="1"/>
              <a:t>k</a:t>
            </a:r>
            <a:r>
              <a:rPr lang="en-US" dirty="0"/>
              <a:t>) will become (</a:t>
            </a:r>
            <a:r>
              <a:rPr lang="en-US" dirty="0" err="1"/>
              <a:t>yk</a:t>
            </a:r>
            <a:r>
              <a:rPr lang="en-US" dirty="0"/>
              <a:t> – </a:t>
            </a:r>
            <a:r>
              <a:rPr lang="en-US" dirty="0" err="1"/>
              <a:t>yk</a:t>
            </a:r>
            <a:r>
              <a:rPr lang="en-US" dirty="0"/>
              <a:t>),      which is equal to 0.</a:t>
            </a:r>
          </a:p>
          <a:p>
            <a:pPr marL="0" indent="0" algn="just">
              <a:buNone/>
            </a:pPr>
            <a:r>
              <a:rPr lang="en-US" dirty="0"/>
              <a:t>     Therefore, p</a:t>
            </a:r>
            <a:r>
              <a:rPr lang="en-US" baseline="-25000" dirty="0"/>
              <a:t>k+1 </a:t>
            </a:r>
            <a:r>
              <a:rPr lang="en-US" dirty="0"/>
              <a:t>=</a:t>
            </a:r>
            <a:r>
              <a:rPr lang="en-US" baseline="-25000" dirty="0"/>
              <a:t>  </a:t>
            </a:r>
            <a:r>
              <a:rPr lang="en-US" dirty="0" err="1"/>
              <a:t>p</a:t>
            </a:r>
            <a:r>
              <a:rPr lang="en-US" baseline="-25000" dirty="0" err="1"/>
              <a:t>k</a:t>
            </a:r>
            <a:r>
              <a:rPr lang="en-US" dirty="0"/>
              <a:t> + 2</a:t>
            </a:r>
            <a:r>
              <a:rPr lang="el-GR" dirty="0"/>
              <a:t>δ</a:t>
            </a:r>
            <a:r>
              <a:rPr lang="en-US" dirty="0"/>
              <a:t>y </a:t>
            </a:r>
            <a:r>
              <a:rPr lang="en-US" baseline="-25000" dirty="0"/>
              <a:t> </a:t>
            </a:r>
            <a:r>
              <a:rPr lang="en-US" dirty="0"/>
              <a:t>– 2</a:t>
            </a:r>
            <a:r>
              <a:rPr lang="el-GR" dirty="0"/>
              <a:t>δ</a:t>
            </a:r>
            <a:r>
              <a:rPr lang="en-US" dirty="0"/>
              <a:t>x (0)</a:t>
            </a:r>
          </a:p>
          <a:p>
            <a:pPr marL="0" indent="0" algn="just">
              <a:buNone/>
            </a:pPr>
            <a:r>
              <a:rPr lang="en-US" dirty="0"/>
              <a:t>	=&gt; p</a:t>
            </a:r>
            <a:r>
              <a:rPr lang="en-US" baseline="-25000" dirty="0"/>
              <a:t>k+1 </a:t>
            </a:r>
            <a:r>
              <a:rPr lang="en-US" dirty="0"/>
              <a:t>=</a:t>
            </a:r>
            <a:r>
              <a:rPr lang="en-US" baseline="-25000" dirty="0"/>
              <a:t>  </a:t>
            </a:r>
            <a:r>
              <a:rPr lang="en-US" dirty="0" err="1"/>
              <a:t>p</a:t>
            </a:r>
            <a:r>
              <a:rPr lang="en-US" baseline="-25000" dirty="0" err="1"/>
              <a:t>k</a:t>
            </a:r>
            <a:r>
              <a:rPr lang="en-US" dirty="0"/>
              <a:t> + 2</a:t>
            </a:r>
            <a:r>
              <a:rPr lang="el-GR" dirty="0"/>
              <a:t>δ</a:t>
            </a:r>
            <a:r>
              <a:rPr lang="en-US" dirty="0"/>
              <a:t>y</a:t>
            </a:r>
          </a:p>
          <a:p>
            <a:pPr algn="just"/>
            <a:r>
              <a:rPr lang="en-US" dirty="0"/>
              <a:t>If y</a:t>
            </a:r>
            <a:r>
              <a:rPr lang="en-US" baseline="-25000" dirty="0"/>
              <a:t>k+1</a:t>
            </a:r>
            <a:r>
              <a:rPr lang="en-US" dirty="0"/>
              <a:t> is closer to line path than </a:t>
            </a:r>
            <a:r>
              <a:rPr lang="en-US" dirty="0" err="1"/>
              <a:t>y</a:t>
            </a:r>
            <a:r>
              <a:rPr lang="en-US" baseline="-25000" dirty="0" err="1"/>
              <a:t>k</a:t>
            </a:r>
            <a:r>
              <a:rPr lang="en-US" dirty="0"/>
              <a:t> (that is d</a:t>
            </a:r>
            <a:r>
              <a:rPr lang="en-US" baseline="-25000" dirty="0"/>
              <a:t>1</a:t>
            </a:r>
            <a:r>
              <a:rPr lang="en-US" dirty="0"/>
              <a:t> &gt; d</a:t>
            </a:r>
            <a:r>
              <a:rPr lang="en-US" baseline="-25000" dirty="0"/>
              <a:t>2</a:t>
            </a:r>
            <a:r>
              <a:rPr lang="en-US" dirty="0"/>
              <a:t>) then </a:t>
            </a:r>
            <a:r>
              <a:rPr lang="en-US" dirty="0" err="1"/>
              <a:t>p</a:t>
            </a:r>
            <a:r>
              <a:rPr lang="en-US" baseline="-25000" dirty="0" err="1"/>
              <a:t>k</a:t>
            </a:r>
            <a:r>
              <a:rPr lang="en-US" dirty="0"/>
              <a:t> is positive and we take y-value as y</a:t>
            </a:r>
            <a:r>
              <a:rPr lang="en-US" baseline="-25000" dirty="0"/>
              <a:t>k+1</a:t>
            </a:r>
            <a:r>
              <a:rPr lang="en-US" dirty="0"/>
              <a:t> that is we plot the point as (x</a:t>
            </a:r>
            <a:r>
              <a:rPr lang="en-US" baseline="-25000" dirty="0"/>
              <a:t>k+1</a:t>
            </a:r>
            <a:r>
              <a:rPr lang="en-US" dirty="0"/>
              <a:t>, y</a:t>
            </a:r>
            <a:r>
              <a:rPr lang="en-US" baseline="-25000" dirty="0"/>
              <a:t>k+1</a:t>
            </a:r>
            <a:r>
              <a:rPr lang="en-US" dirty="0"/>
              <a:t>).</a:t>
            </a:r>
          </a:p>
          <a:p>
            <a:pPr marL="0" indent="0" algn="just">
              <a:buNone/>
            </a:pPr>
            <a:r>
              <a:rPr lang="en-US" dirty="0"/>
              <a:t>    Then the term (y</a:t>
            </a:r>
            <a:r>
              <a:rPr lang="en-US" baseline="-25000" dirty="0"/>
              <a:t>k+1</a:t>
            </a:r>
            <a:r>
              <a:rPr lang="en-US" dirty="0"/>
              <a:t> – </a:t>
            </a:r>
            <a:r>
              <a:rPr lang="en-US" dirty="0" err="1"/>
              <a:t>y</a:t>
            </a:r>
            <a:r>
              <a:rPr lang="en-US" baseline="-25000" dirty="0" err="1"/>
              <a:t>k</a:t>
            </a:r>
            <a:r>
              <a:rPr lang="en-US" dirty="0"/>
              <a:t>) will become (</a:t>
            </a:r>
            <a:r>
              <a:rPr lang="en-US" dirty="0" err="1"/>
              <a:t>yk</a:t>
            </a:r>
            <a:r>
              <a:rPr lang="en-US" dirty="0"/>
              <a:t> + 1 – </a:t>
            </a:r>
            <a:r>
              <a:rPr lang="en-US" dirty="0" err="1"/>
              <a:t>yk</a:t>
            </a:r>
            <a:r>
              <a:rPr lang="en-US" dirty="0"/>
              <a:t>),      which is equal to 1.</a:t>
            </a:r>
          </a:p>
          <a:p>
            <a:pPr marL="0" indent="0" algn="just">
              <a:buNone/>
            </a:pPr>
            <a:r>
              <a:rPr lang="en-US" dirty="0"/>
              <a:t>     Therefore, p</a:t>
            </a:r>
            <a:r>
              <a:rPr lang="en-US" baseline="-25000" dirty="0"/>
              <a:t>k+1 </a:t>
            </a:r>
            <a:r>
              <a:rPr lang="en-US" dirty="0"/>
              <a:t>=</a:t>
            </a:r>
            <a:r>
              <a:rPr lang="en-US" baseline="-25000" dirty="0"/>
              <a:t>  </a:t>
            </a:r>
            <a:r>
              <a:rPr lang="en-US" dirty="0" err="1"/>
              <a:t>p</a:t>
            </a:r>
            <a:r>
              <a:rPr lang="en-US" baseline="-25000" dirty="0" err="1"/>
              <a:t>k</a:t>
            </a:r>
            <a:r>
              <a:rPr lang="en-US" dirty="0"/>
              <a:t> + 2</a:t>
            </a:r>
            <a:r>
              <a:rPr lang="el-GR" dirty="0"/>
              <a:t>δ</a:t>
            </a:r>
            <a:r>
              <a:rPr lang="en-US" dirty="0"/>
              <a:t>y </a:t>
            </a:r>
            <a:r>
              <a:rPr lang="en-US" baseline="-25000" dirty="0"/>
              <a:t> </a:t>
            </a:r>
            <a:r>
              <a:rPr lang="en-US" dirty="0"/>
              <a:t>– 2</a:t>
            </a:r>
            <a:r>
              <a:rPr lang="el-GR" dirty="0"/>
              <a:t>δ</a:t>
            </a:r>
            <a:r>
              <a:rPr lang="en-US" dirty="0"/>
              <a:t>x (1)</a:t>
            </a:r>
          </a:p>
          <a:p>
            <a:pPr marL="0" indent="0" algn="just">
              <a:buNone/>
            </a:pPr>
            <a:r>
              <a:rPr lang="en-US" dirty="0"/>
              <a:t>	=&gt; p</a:t>
            </a:r>
            <a:r>
              <a:rPr lang="en-US" baseline="-25000" dirty="0"/>
              <a:t>k+1 </a:t>
            </a:r>
            <a:r>
              <a:rPr lang="en-US" dirty="0"/>
              <a:t>=</a:t>
            </a:r>
            <a:r>
              <a:rPr lang="en-US" baseline="-25000" dirty="0"/>
              <a:t>  </a:t>
            </a:r>
            <a:r>
              <a:rPr lang="en-US" dirty="0" err="1"/>
              <a:t>p</a:t>
            </a:r>
            <a:r>
              <a:rPr lang="en-US" baseline="-25000" dirty="0" err="1"/>
              <a:t>k</a:t>
            </a:r>
            <a:r>
              <a:rPr lang="en-US" dirty="0"/>
              <a:t> + 2</a:t>
            </a:r>
            <a:r>
              <a:rPr lang="el-GR" dirty="0"/>
              <a:t>δ</a:t>
            </a:r>
            <a:r>
              <a:rPr lang="en-US" dirty="0"/>
              <a:t>y – 2</a:t>
            </a:r>
            <a:r>
              <a:rPr lang="el-GR" dirty="0"/>
              <a:t>δ</a:t>
            </a:r>
            <a:r>
              <a:rPr lang="en-US" dirty="0"/>
              <a:t>x </a:t>
            </a:r>
          </a:p>
          <a:p>
            <a:pPr algn="just"/>
            <a:endParaRPr lang="en-US" dirty="0"/>
          </a:p>
          <a:p>
            <a:pPr algn="just"/>
            <a:endParaRPr lang="en-US" dirty="0"/>
          </a:p>
        </p:txBody>
      </p:sp>
      <p:sp>
        <p:nvSpPr>
          <p:cNvPr id="4" name="Rectangle 3"/>
          <p:cNvSpPr/>
          <p:nvPr/>
        </p:nvSpPr>
        <p:spPr>
          <a:xfrm>
            <a:off x="1828800" y="2590800"/>
            <a:ext cx="20574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828800" y="5257800"/>
            <a:ext cx="2971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356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US" dirty="0"/>
              <a:t>Input the line endpoints and store left endpoint in (x0, y0)</a:t>
            </a:r>
          </a:p>
          <a:p>
            <a:pPr marL="514350" indent="-514350">
              <a:buAutoNum type="arabicPeriod"/>
            </a:pPr>
            <a:r>
              <a:rPr lang="en-US" dirty="0"/>
              <a:t>Load (x0, y0) into frame buffer and plot the first point.</a:t>
            </a:r>
          </a:p>
          <a:p>
            <a:pPr marL="514350" indent="-514350">
              <a:buAutoNum type="arabicPeriod"/>
            </a:pPr>
            <a:r>
              <a:rPr lang="en-US" dirty="0"/>
              <a:t>Calculate </a:t>
            </a:r>
            <a:r>
              <a:rPr lang="el-GR" dirty="0"/>
              <a:t>δ</a:t>
            </a:r>
            <a:r>
              <a:rPr lang="en-US" dirty="0"/>
              <a:t>x, </a:t>
            </a:r>
            <a:r>
              <a:rPr lang="el-GR" dirty="0"/>
              <a:t>δ</a:t>
            </a:r>
            <a:r>
              <a:rPr lang="en-US" dirty="0"/>
              <a:t>y, 2</a:t>
            </a:r>
            <a:r>
              <a:rPr lang="el-GR" dirty="0"/>
              <a:t>δ</a:t>
            </a:r>
            <a:r>
              <a:rPr lang="en-US" dirty="0"/>
              <a:t>y and 2</a:t>
            </a:r>
            <a:r>
              <a:rPr lang="el-GR" dirty="0"/>
              <a:t>δ</a:t>
            </a:r>
            <a:r>
              <a:rPr lang="en-US" dirty="0"/>
              <a:t>y - 2</a:t>
            </a:r>
            <a:r>
              <a:rPr lang="el-GR" dirty="0"/>
              <a:t>δ</a:t>
            </a:r>
            <a:r>
              <a:rPr lang="en-US" dirty="0"/>
              <a:t>x</a:t>
            </a:r>
          </a:p>
          <a:p>
            <a:pPr marL="0" indent="0">
              <a:buNone/>
            </a:pPr>
            <a:r>
              <a:rPr lang="en-US" dirty="0"/>
              <a:t>          calculate p0 = 2</a:t>
            </a:r>
            <a:r>
              <a:rPr lang="el-GR" dirty="0"/>
              <a:t>δ</a:t>
            </a:r>
            <a:r>
              <a:rPr lang="en-US" dirty="0"/>
              <a:t>y – </a:t>
            </a:r>
            <a:r>
              <a:rPr lang="el-GR" dirty="0"/>
              <a:t>δ</a:t>
            </a:r>
            <a:r>
              <a:rPr lang="en-US" dirty="0"/>
              <a:t>x</a:t>
            </a:r>
          </a:p>
          <a:p>
            <a:pPr marL="0" indent="0">
              <a:buNone/>
            </a:pPr>
            <a:r>
              <a:rPr lang="en-US" dirty="0"/>
              <a:t>4. At each </a:t>
            </a:r>
            <a:r>
              <a:rPr lang="en-US" dirty="0" err="1"/>
              <a:t>x</a:t>
            </a:r>
            <a:r>
              <a:rPr lang="en-US" baseline="-25000" dirty="0" err="1"/>
              <a:t>k</a:t>
            </a:r>
            <a:r>
              <a:rPr lang="en-US" dirty="0"/>
              <a:t>, starting at k = 0, do the following</a:t>
            </a:r>
          </a:p>
          <a:p>
            <a:pPr marL="0" indent="0">
              <a:buNone/>
            </a:pPr>
            <a:r>
              <a:rPr lang="en-US" dirty="0"/>
              <a:t>	if </a:t>
            </a:r>
            <a:r>
              <a:rPr lang="en-US" dirty="0" err="1"/>
              <a:t>p</a:t>
            </a:r>
            <a:r>
              <a:rPr lang="en-US" baseline="-25000" dirty="0" err="1"/>
              <a:t>k</a:t>
            </a:r>
            <a:r>
              <a:rPr lang="en-US" dirty="0"/>
              <a:t> &lt; 0, next point to plot is (x</a:t>
            </a:r>
            <a:r>
              <a:rPr lang="en-US" baseline="-25000" dirty="0"/>
              <a:t>k+1</a:t>
            </a:r>
            <a:r>
              <a:rPr lang="en-US" dirty="0"/>
              <a:t>, </a:t>
            </a:r>
            <a:r>
              <a:rPr lang="en-US" dirty="0" err="1"/>
              <a:t>y</a:t>
            </a:r>
            <a:r>
              <a:rPr lang="en-US" baseline="-25000" dirty="0" err="1"/>
              <a:t>k</a:t>
            </a:r>
            <a:r>
              <a:rPr lang="en-US" dirty="0"/>
              <a:t>) and</a:t>
            </a:r>
          </a:p>
          <a:p>
            <a:pPr marL="0" indent="0">
              <a:buNone/>
            </a:pPr>
            <a:r>
              <a:rPr lang="en-US" dirty="0"/>
              <a:t>	p</a:t>
            </a:r>
            <a:r>
              <a:rPr lang="en-US" baseline="-25000" dirty="0"/>
              <a:t>k+1</a:t>
            </a:r>
            <a:r>
              <a:rPr lang="en-US" dirty="0"/>
              <a:t> = </a:t>
            </a:r>
            <a:r>
              <a:rPr lang="en-US" dirty="0" err="1"/>
              <a:t>p</a:t>
            </a:r>
            <a:r>
              <a:rPr lang="en-US" baseline="-25000" dirty="0" err="1"/>
              <a:t>k</a:t>
            </a:r>
            <a:r>
              <a:rPr lang="en-US" dirty="0"/>
              <a:t> + 2</a:t>
            </a:r>
            <a:r>
              <a:rPr lang="el-GR" dirty="0"/>
              <a:t>δ</a:t>
            </a:r>
            <a:r>
              <a:rPr lang="en-US" dirty="0"/>
              <a:t>y</a:t>
            </a:r>
          </a:p>
          <a:p>
            <a:pPr marL="0" indent="0">
              <a:buNone/>
            </a:pPr>
            <a:r>
              <a:rPr lang="en-US" dirty="0"/>
              <a:t>	if </a:t>
            </a:r>
            <a:r>
              <a:rPr lang="en-US" dirty="0" err="1"/>
              <a:t>p</a:t>
            </a:r>
            <a:r>
              <a:rPr lang="en-US" baseline="-25000" dirty="0" err="1"/>
              <a:t>k</a:t>
            </a:r>
            <a:r>
              <a:rPr lang="en-US" dirty="0"/>
              <a:t> &gt; 0, next point to plot is (x</a:t>
            </a:r>
            <a:r>
              <a:rPr lang="en-US" baseline="-25000" dirty="0"/>
              <a:t>k+1</a:t>
            </a:r>
            <a:r>
              <a:rPr lang="en-US" dirty="0"/>
              <a:t>, y</a:t>
            </a:r>
            <a:r>
              <a:rPr lang="en-US" baseline="-25000" dirty="0"/>
              <a:t>k+1</a:t>
            </a:r>
            <a:r>
              <a:rPr lang="en-US" dirty="0"/>
              <a:t>) and</a:t>
            </a:r>
          </a:p>
          <a:p>
            <a:pPr marL="0" indent="0">
              <a:buNone/>
            </a:pPr>
            <a:r>
              <a:rPr lang="en-US" dirty="0"/>
              <a:t>	p</a:t>
            </a:r>
            <a:r>
              <a:rPr lang="en-US" baseline="-25000" dirty="0"/>
              <a:t>k+1</a:t>
            </a:r>
            <a:r>
              <a:rPr lang="en-US" dirty="0"/>
              <a:t> = </a:t>
            </a:r>
            <a:r>
              <a:rPr lang="en-US" dirty="0" err="1"/>
              <a:t>p</a:t>
            </a:r>
            <a:r>
              <a:rPr lang="en-US" baseline="-25000" dirty="0" err="1"/>
              <a:t>k</a:t>
            </a:r>
            <a:r>
              <a:rPr lang="en-US" dirty="0"/>
              <a:t> + 2</a:t>
            </a:r>
            <a:r>
              <a:rPr lang="el-GR" dirty="0"/>
              <a:t>δ</a:t>
            </a:r>
            <a:r>
              <a:rPr lang="en-US" dirty="0"/>
              <a:t>y - 2</a:t>
            </a:r>
            <a:r>
              <a:rPr lang="el-GR" dirty="0"/>
              <a:t>δ</a:t>
            </a:r>
            <a:r>
              <a:rPr lang="en-US" dirty="0"/>
              <a:t>x</a:t>
            </a:r>
          </a:p>
          <a:p>
            <a:pPr marL="0" indent="0">
              <a:buNone/>
            </a:pPr>
            <a:r>
              <a:rPr lang="en-US" dirty="0"/>
              <a:t>Step 4 is repeated </a:t>
            </a:r>
            <a:r>
              <a:rPr lang="el-GR" dirty="0"/>
              <a:t>δ</a:t>
            </a:r>
            <a:r>
              <a:rPr lang="en-US" dirty="0"/>
              <a:t>x times.</a:t>
            </a:r>
          </a:p>
        </p:txBody>
      </p:sp>
    </p:spTree>
    <p:extLst>
      <p:ext uri="{BB962C8B-B14F-4D97-AF65-F5344CB8AC3E}">
        <p14:creationId xmlns:p14="http://schemas.microsoft.com/office/powerpoint/2010/main" val="279144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FDC5D6-0260-F579-6044-AA3AAD072F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0"/>
            <a:ext cx="6934200" cy="6858000"/>
          </a:xfrm>
          <a:prstGeom prst="rect">
            <a:avLst/>
          </a:prstGeom>
        </p:spPr>
      </p:pic>
    </p:spTree>
    <p:extLst>
      <p:ext uri="{BB962C8B-B14F-4D97-AF65-F5344CB8AC3E}">
        <p14:creationId xmlns:p14="http://schemas.microsoft.com/office/powerpoint/2010/main" val="1382780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1258</Words>
  <Application>Microsoft Office PowerPoint</Application>
  <PresentationFormat>On-screen Show (4:3)</PresentationFormat>
  <Paragraphs>67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 Math</vt:lpstr>
      <vt:lpstr>Symbol</vt:lpstr>
      <vt:lpstr>Office Theme</vt:lpstr>
      <vt:lpstr>Computer Graphics </vt:lpstr>
      <vt:lpstr>Bresenham’s Line Algorithm</vt:lpstr>
      <vt:lpstr>Bresenham’s Line Algorithm</vt:lpstr>
      <vt:lpstr>PowerPoint Presentation</vt:lpstr>
      <vt:lpstr>PowerPoint Presentation</vt:lpstr>
      <vt:lpstr>PowerPoint Presentation</vt:lpstr>
      <vt:lpstr>PowerPoint Presentation</vt:lpstr>
      <vt:lpstr>PowerPoint Presentation</vt:lpstr>
      <vt:lpstr>PowerPoint Presentation</vt:lpstr>
      <vt:lpstr>Algorithm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Graphics Course No. 5901330-3</dc:title>
  <dc:creator>User</dc:creator>
  <cp:lastModifiedBy>Md Manirujjaman</cp:lastModifiedBy>
  <cp:revision>62</cp:revision>
  <dcterms:created xsi:type="dcterms:W3CDTF">2006-08-16T00:00:00Z</dcterms:created>
  <dcterms:modified xsi:type="dcterms:W3CDTF">2026-01-18T15:22:01Z</dcterms:modified>
</cp:coreProperties>
</file>