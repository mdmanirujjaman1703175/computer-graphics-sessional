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75" r:id="rId3"/>
    <p:sldId id="277" r:id="rId4"/>
    <p:sldId id="280" r:id="rId5"/>
    <p:sldId id="281" r:id="rId6"/>
    <p:sldId id="282" r:id="rId7"/>
    <p:sldId id="283" r:id="rId8"/>
    <p:sldId id="284" r:id="rId9"/>
    <p:sldId id="285" r:id="rId10"/>
    <p:sldId id="288" r:id="rId11"/>
    <p:sldId id="289" r:id="rId12"/>
    <p:sldId id="290" r:id="rId13"/>
    <p:sldId id="286" r:id="rId14"/>
    <p:sldId id="287" r:id="rId15"/>
    <p:sldId id="291" r:id="rId16"/>
    <p:sldId id="278" r:id="rId17"/>
    <p:sldId id="279" r:id="rId18"/>
    <p:sldId id="292" r:id="rId19"/>
    <p:sldId id="293" r:id="rId20"/>
    <p:sldId id="294" r:id="rId21"/>
    <p:sldId id="295" r:id="rId22"/>
    <p:sldId id="318" r:id="rId23"/>
    <p:sldId id="319" r:id="rId24"/>
    <p:sldId id="296"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6"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2157" autoAdjust="0"/>
  </p:normalViewPr>
  <p:slideViewPr>
    <p:cSldViewPr snapToGrid="0">
      <p:cViewPr varScale="1">
        <p:scale>
          <a:sx n="59" d="100"/>
          <a:sy n="59" d="100"/>
        </p:scale>
        <p:origin x="16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6E17FB-7C59-4A69-BD28-11A6592326BE}" type="datetimeFigureOut">
              <a:rPr lang="en-US" smtClean="0"/>
              <a:t>6/30/2026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45C4CB-FB73-43FF-9D17-682179E08E64}" type="slidenum">
              <a:rPr lang="en-US" smtClean="0"/>
              <a:t>‹#›</a:t>
            </a:fld>
            <a:endParaRPr lang="en-US"/>
          </a:p>
        </p:txBody>
      </p:sp>
    </p:spTree>
    <p:extLst>
      <p:ext uri="{BB962C8B-B14F-4D97-AF65-F5344CB8AC3E}">
        <p14:creationId xmlns:p14="http://schemas.microsoft.com/office/powerpoint/2010/main" val="126332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CAD, computer graphics are used to </a:t>
            </a:r>
            <a:r>
              <a:rPr lang="en-US" b="1" dirty="0"/>
              <a:t>create, modify, analyze, and visualize designs</a:t>
            </a:r>
            <a:r>
              <a:rPr lang="en-US" dirty="0"/>
              <a:t> before making the real product.</a:t>
            </a:r>
          </a:p>
          <a:p>
            <a:r>
              <a:rPr lang="en-US" dirty="0"/>
              <a:t>Architects can view a building in 3D. Engineers can rotate a machine part from different angles. Car designers can check shape, size, and structure.</a:t>
            </a:r>
          </a:p>
          <a:p>
            <a:r>
              <a:rPr lang="en-US" dirty="0"/>
              <a:t>Change the size of a door in a building plan Modify the shape of a car body Adjust machine parts without drawing again from the beginning.</a:t>
            </a:r>
          </a:p>
          <a:p>
            <a:r>
              <a:rPr lang="en-US" b="1" dirty="0"/>
              <a:t>AutoCAD: </a:t>
            </a:r>
          </a:p>
          <a:p>
            <a:r>
              <a:rPr lang="en-US" dirty="0"/>
              <a:t>2D drafting, architecture, engineering drawings.</a:t>
            </a:r>
          </a:p>
          <a:p>
            <a:r>
              <a:rPr lang="en-US" b="1" dirty="0" err="1"/>
              <a:t>Tinkercad</a:t>
            </a:r>
            <a:endParaRPr lang="en-US" dirty="0"/>
          </a:p>
          <a:p>
            <a:r>
              <a:rPr lang="en-US" dirty="0"/>
              <a:t>Beginner-level 3D design and education</a:t>
            </a:r>
          </a:p>
          <a:p>
            <a:endParaRPr lang="en-US" dirty="0"/>
          </a:p>
        </p:txBody>
      </p:sp>
      <p:sp>
        <p:nvSpPr>
          <p:cNvPr id="4" name="Slide Number Placeholder 3"/>
          <p:cNvSpPr>
            <a:spLocks noGrp="1"/>
          </p:cNvSpPr>
          <p:nvPr>
            <p:ph type="sldNum" sz="quarter" idx="5"/>
          </p:nvPr>
        </p:nvSpPr>
        <p:spPr/>
        <p:txBody>
          <a:bodyPr/>
          <a:lstStyle/>
          <a:p>
            <a:fld id="{4045C4CB-FB73-43FF-9D17-682179E08E64}" type="slidenum">
              <a:rPr lang="en-US" smtClean="0"/>
              <a:t>5</a:t>
            </a:fld>
            <a:endParaRPr lang="en-US"/>
          </a:p>
        </p:txBody>
      </p:sp>
    </p:spTree>
    <p:extLst>
      <p:ext uri="{BB962C8B-B14F-4D97-AF65-F5344CB8AC3E}">
        <p14:creationId xmlns:p14="http://schemas.microsoft.com/office/powerpoint/2010/main" val="3262388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 Line Graph, Pie Chart, Column Chart</a:t>
            </a:r>
          </a:p>
        </p:txBody>
      </p:sp>
      <p:sp>
        <p:nvSpPr>
          <p:cNvPr id="4" name="Slide Number Placeholder 3"/>
          <p:cNvSpPr>
            <a:spLocks noGrp="1"/>
          </p:cNvSpPr>
          <p:nvPr>
            <p:ph type="sldNum" sz="quarter" idx="5"/>
          </p:nvPr>
        </p:nvSpPr>
        <p:spPr/>
        <p:txBody>
          <a:bodyPr/>
          <a:lstStyle/>
          <a:p>
            <a:fld id="{4045C4CB-FB73-43FF-9D17-682179E08E64}" type="slidenum">
              <a:rPr lang="en-US" smtClean="0"/>
              <a:t>6</a:t>
            </a:fld>
            <a:endParaRPr lang="en-US"/>
          </a:p>
        </p:txBody>
      </p:sp>
    </p:spTree>
    <p:extLst>
      <p:ext uri="{BB962C8B-B14F-4D97-AF65-F5344CB8AC3E}">
        <p14:creationId xmlns:p14="http://schemas.microsoft.com/office/powerpoint/2010/main" val="51190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Adobe Photoshop, </a:t>
            </a:r>
          </a:p>
        </p:txBody>
      </p:sp>
      <p:sp>
        <p:nvSpPr>
          <p:cNvPr id="4" name="Slide Number Placeholder 3"/>
          <p:cNvSpPr>
            <a:spLocks noGrp="1"/>
          </p:cNvSpPr>
          <p:nvPr>
            <p:ph type="sldNum" sz="quarter" idx="5"/>
          </p:nvPr>
        </p:nvSpPr>
        <p:spPr/>
        <p:txBody>
          <a:bodyPr/>
          <a:lstStyle/>
          <a:p>
            <a:fld id="{4045C4CB-FB73-43FF-9D17-682179E08E64}" type="slidenum">
              <a:rPr lang="en-US" smtClean="0"/>
              <a:t>7</a:t>
            </a:fld>
            <a:endParaRPr lang="en-US"/>
          </a:p>
        </p:txBody>
      </p:sp>
    </p:spTree>
    <p:extLst>
      <p:ext uri="{BB962C8B-B14F-4D97-AF65-F5344CB8AC3E}">
        <p14:creationId xmlns:p14="http://schemas.microsoft.com/office/powerpoint/2010/main" val="4020679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3617F9-840F-43B5-A62F-34153164B242}" type="datetime5">
              <a:rPr lang="en-US" smtClean="0"/>
              <a:t>30-Jun-26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6638BBCC-8B05-4DB0-A330-639F5DE2680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367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F185BA-89A7-4235-8B40-796D62F6BC6F}" type="datetime5">
              <a:rPr lang="en-US" smtClean="0"/>
              <a:t>30-Jun-26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157244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CE487C-E337-409B-9BE7-FD9146E345DB}" type="datetime5">
              <a:rPr lang="en-US" smtClean="0"/>
              <a:t>30-Jun-26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6638BBCC-8B05-4DB0-A330-639F5DE2680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0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42B63D-07E1-47FA-B09C-EF1C73F26E38}" type="datetime5">
              <a:rPr lang="en-US" smtClean="0"/>
              <a:t>30-Jun-26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1970501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F8C414-FB70-4B75-ABE9-78FB125A49BA}" type="datetime5">
              <a:rPr lang="en-US" smtClean="0"/>
              <a:t>30-Jun-26</a:t>
            </a:fld>
            <a:endParaRPr lang="en-US"/>
          </a:p>
        </p:txBody>
      </p:sp>
      <p:sp>
        <p:nvSpPr>
          <p:cNvPr id="8" name="Footer Placeholder 7"/>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2269284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541BF9-B3E8-4AD7-A76E-02663DD26CD1}" type="datetime5">
              <a:rPr lang="en-US" smtClean="0"/>
              <a:t>30-Jun-26</a:t>
            </a:fld>
            <a:endParaRPr lang="en-US"/>
          </a:p>
        </p:txBody>
      </p:sp>
      <p:sp>
        <p:nvSpPr>
          <p:cNvPr id="4" name="Footer Placeholder 3"/>
          <p:cNvSpPr>
            <a:spLocks noGrp="1"/>
          </p:cNvSpPr>
          <p:nvPr>
            <p:ph type="ftr" sz="quarter" idx="11"/>
          </p:nvPr>
        </p:nvSpPr>
        <p:spPr/>
        <p:txBody>
          <a:bodyPr/>
          <a:lstStyle/>
          <a:p>
            <a:r>
              <a:rPr lang="en-US"/>
              <a:t>Md. Manirujjaman</a:t>
            </a:r>
          </a:p>
        </p:txBody>
      </p:sp>
      <p:sp>
        <p:nvSpPr>
          <p:cNvPr id="5" name="Slide Number Placeholder 4"/>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2017263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F027DF-C4C4-43C0-90AD-683EBA88767D}" type="datetime5">
              <a:rPr lang="en-US" smtClean="0"/>
              <a:t>30-Jun-26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Md. Manirujjaman</a:t>
            </a:r>
          </a:p>
        </p:txBody>
      </p:sp>
      <p:sp>
        <p:nvSpPr>
          <p:cNvPr id="9" name="Slide Number Placeholder 8"/>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1300676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59F627-B078-4723-B0B8-68FAA067E43D}" type="datetime5">
              <a:rPr lang="en-US" smtClean="0"/>
              <a:t>30-Jun-26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Md. Manirujjaman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638BBCC-8B05-4DB0-A330-639F5DE26800}" type="slidenum">
              <a:rPr lang="en-US" smtClean="0"/>
              <a:t>‹#›</a:t>
            </a:fld>
            <a:endParaRPr lang="en-US"/>
          </a:p>
        </p:txBody>
      </p:sp>
    </p:spTree>
    <p:extLst>
      <p:ext uri="{BB962C8B-B14F-4D97-AF65-F5344CB8AC3E}">
        <p14:creationId xmlns:p14="http://schemas.microsoft.com/office/powerpoint/2010/main" val="54896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525CC4-B9AC-49CC-8C71-6FAD68E5C1A4}" type="datetime5">
              <a:rPr lang="en-US" smtClean="0"/>
              <a:t>30-Jun-26</a:t>
            </a:fld>
            <a:endParaRPr lang="en-US"/>
          </a:p>
        </p:txBody>
      </p:sp>
      <p:sp>
        <p:nvSpPr>
          <p:cNvPr id="6" name="Footer Placeholder 5"/>
          <p:cNvSpPr>
            <a:spLocks noGrp="1"/>
          </p:cNvSpPr>
          <p:nvPr>
            <p:ph type="ftr" sz="quarter" idx="11"/>
          </p:nvPr>
        </p:nvSpPr>
        <p:spPr/>
        <p:txBody>
          <a:bodyPr/>
          <a:lstStyle/>
          <a:p>
            <a:r>
              <a:rPr lang="en-US"/>
              <a:t>Md. Manirujjaman</a:t>
            </a:r>
          </a:p>
        </p:txBody>
      </p:sp>
      <p:sp>
        <p:nvSpPr>
          <p:cNvPr id="7" name="Slide Number Placeholder 6"/>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537736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C18FB1-2DE6-432A-98A1-C4D64F0052EF}" type="datetime5">
              <a:rPr lang="en-US" smtClean="0"/>
              <a:t>30-Jun-26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13382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FDDE0D-E66E-4A3A-9B6E-842ACA769231}" type="datetime5">
              <a:rPr lang="en-US" smtClean="0"/>
              <a:t>30-Jun-26</a:t>
            </a:fld>
            <a:endParaRPr lang="en-US"/>
          </a:p>
        </p:txBody>
      </p:sp>
      <p:sp>
        <p:nvSpPr>
          <p:cNvPr id="5" name="Footer Placeholder 4"/>
          <p:cNvSpPr>
            <a:spLocks noGrp="1"/>
          </p:cNvSpPr>
          <p:nvPr>
            <p:ph type="ftr" sz="quarter" idx="11"/>
          </p:nvPr>
        </p:nvSpPr>
        <p:spPr/>
        <p:txBody>
          <a:bodyPr/>
          <a:lstStyle/>
          <a:p>
            <a:r>
              <a:rPr lang="en-US"/>
              <a:t>Md. Manirujjaman</a:t>
            </a:r>
          </a:p>
        </p:txBody>
      </p:sp>
      <p:sp>
        <p:nvSpPr>
          <p:cNvPr id="6" name="Slide Number Placeholder 5"/>
          <p:cNvSpPr>
            <a:spLocks noGrp="1"/>
          </p:cNvSpPr>
          <p:nvPr>
            <p:ph type="sldNum" sz="quarter" idx="12"/>
          </p:nvPr>
        </p:nvSpPr>
        <p:spPr/>
        <p:txBody>
          <a:bodyPr/>
          <a:lstStyle/>
          <a:p>
            <a:fld id="{6638BBCC-8B05-4DB0-A330-639F5DE26800}" type="slidenum">
              <a:rPr lang="en-US" smtClean="0"/>
              <a:t>‹#›</a:t>
            </a:fld>
            <a:endParaRPr lang="en-US"/>
          </a:p>
        </p:txBody>
      </p:sp>
    </p:spTree>
    <p:extLst>
      <p:ext uri="{BB962C8B-B14F-4D97-AF65-F5344CB8AC3E}">
        <p14:creationId xmlns:p14="http://schemas.microsoft.com/office/powerpoint/2010/main" val="521424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8E0C170-D567-46F1-AA2E-76C8EFF3DA7F}" type="datetime5">
              <a:rPr lang="en-US" smtClean="0"/>
              <a:t>30-Jun-26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Md. Manirujjaman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638BBCC-8B05-4DB0-A330-639F5DE2680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62776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jpg"/><Relationship Id="rId5" Type="http://schemas.openxmlformats.org/officeDocument/2006/relationships/image" Target="../media/image31.jpg"/><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57B0FF0-FB6E-C414-763C-3BA3AFFBFEF7}"/>
              </a:ext>
            </a:extLst>
          </p:cNvPr>
          <p:cNvSpPr txBox="1"/>
          <p:nvPr/>
        </p:nvSpPr>
        <p:spPr>
          <a:xfrm>
            <a:off x="2868640" y="149633"/>
            <a:ext cx="6757812" cy="1107996"/>
          </a:xfrm>
          <a:prstGeom prst="rect">
            <a:avLst/>
          </a:prstGeom>
          <a:noFill/>
        </p:spPr>
        <p:txBody>
          <a:bodyPr wrap="none" rtlCol="0">
            <a:spAutoFit/>
          </a:bodyPr>
          <a:lstStyle/>
          <a:p>
            <a:r>
              <a:rPr lang="en-US" sz="6600" dirty="0">
                <a:solidFill>
                  <a:srgbClr val="7B999A"/>
                </a:solidFill>
                <a:latin typeface="+mj-lt"/>
                <a:ea typeface="+mj-ea"/>
                <a:cs typeface="+mj-cs"/>
              </a:rPr>
              <a:t>Computer Graphics</a:t>
            </a:r>
          </a:p>
        </p:txBody>
      </p:sp>
      <p:sp>
        <p:nvSpPr>
          <p:cNvPr id="6" name="TextBox 5">
            <a:extLst>
              <a:ext uri="{FF2B5EF4-FFF2-40B4-BE49-F238E27FC236}">
                <a16:creationId xmlns:a16="http://schemas.microsoft.com/office/drawing/2014/main" id="{7C7A2A28-DECF-A05C-06CC-5C29819205AD}"/>
              </a:ext>
            </a:extLst>
          </p:cNvPr>
          <p:cNvSpPr txBox="1"/>
          <p:nvPr/>
        </p:nvSpPr>
        <p:spPr>
          <a:xfrm>
            <a:off x="3048000" y="3246792"/>
            <a:ext cx="6096000" cy="369332"/>
          </a:xfrm>
          <a:prstGeom prst="rect">
            <a:avLst/>
          </a:prstGeom>
          <a:noFill/>
        </p:spPr>
        <p:txBody>
          <a:bodyPr wrap="square">
            <a:spAutoFit/>
          </a:bodyPr>
          <a:lstStyle/>
          <a:p>
            <a:r>
              <a:rPr lang="en-US" b="0" dirty="0">
                <a:effectLst/>
              </a:rPr>
              <a:t> </a:t>
            </a:r>
            <a:endParaRPr lang="en-US" dirty="0"/>
          </a:p>
        </p:txBody>
      </p:sp>
      <p:sp>
        <p:nvSpPr>
          <p:cNvPr id="9" name="TextBox 8">
            <a:extLst>
              <a:ext uri="{FF2B5EF4-FFF2-40B4-BE49-F238E27FC236}">
                <a16:creationId xmlns:a16="http://schemas.microsoft.com/office/drawing/2014/main" id="{CDF24975-BF9A-9083-4D20-5121A27B46A7}"/>
              </a:ext>
            </a:extLst>
          </p:cNvPr>
          <p:cNvSpPr txBox="1"/>
          <p:nvPr/>
        </p:nvSpPr>
        <p:spPr>
          <a:xfrm>
            <a:off x="4527481" y="1116897"/>
            <a:ext cx="2739276" cy="707886"/>
          </a:xfrm>
          <a:prstGeom prst="rect">
            <a:avLst/>
          </a:prstGeom>
          <a:noFill/>
        </p:spPr>
        <p:txBody>
          <a:bodyPr wrap="none" rtlCol="0">
            <a:spAutoFit/>
          </a:bodyPr>
          <a:lstStyle/>
          <a:p>
            <a:r>
              <a:rPr lang="en-US" sz="4000" dirty="0">
                <a:latin typeface="Calibri Light (Headings)"/>
              </a:rPr>
              <a:t>Introduction</a:t>
            </a:r>
            <a:endParaRPr lang="en-US" dirty="0">
              <a:latin typeface="Calibri Light (Headings)"/>
            </a:endParaRPr>
          </a:p>
        </p:txBody>
      </p:sp>
      <p:sp>
        <p:nvSpPr>
          <p:cNvPr id="10" name="TextBox 9">
            <a:extLst>
              <a:ext uri="{FF2B5EF4-FFF2-40B4-BE49-F238E27FC236}">
                <a16:creationId xmlns:a16="http://schemas.microsoft.com/office/drawing/2014/main" id="{08A7B759-D7F3-F2CD-4C17-D440E9BD04D9}"/>
              </a:ext>
            </a:extLst>
          </p:cNvPr>
          <p:cNvSpPr txBox="1"/>
          <p:nvPr/>
        </p:nvSpPr>
        <p:spPr>
          <a:xfrm>
            <a:off x="5544765" y="1719411"/>
            <a:ext cx="6256521" cy="3293209"/>
          </a:xfrm>
          <a:prstGeom prst="rect">
            <a:avLst/>
          </a:prstGeom>
          <a:noFill/>
        </p:spPr>
        <p:txBody>
          <a:bodyPr wrap="none" rtlCol="0">
            <a:spAutoFit/>
          </a:bodyPr>
          <a:lstStyle/>
          <a:p>
            <a:r>
              <a:rPr lang="en-US" sz="2800" dirty="0">
                <a:latin typeface="Calibri Light (Headings)"/>
              </a:rPr>
              <a:t>Lecture By:</a:t>
            </a:r>
          </a:p>
          <a:p>
            <a:r>
              <a:rPr lang="en-US" sz="2800" dirty="0">
                <a:latin typeface="Calibri Light (Headings)"/>
              </a:rPr>
              <a:t>Md. Manirujjaman</a:t>
            </a:r>
          </a:p>
          <a:p>
            <a:r>
              <a:rPr lang="en-US" sz="2800" dirty="0">
                <a:latin typeface="Calibri Light (Headings)"/>
              </a:rPr>
              <a:t>Lecturer</a:t>
            </a:r>
          </a:p>
          <a:p>
            <a:r>
              <a:rPr lang="en-US" sz="2800" dirty="0">
                <a:latin typeface="Calibri Light (Headings)"/>
              </a:rPr>
              <a:t>Dept. of CSE, DIU</a:t>
            </a:r>
          </a:p>
          <a:p>
            <a:r>
              <a:rPr lang="en-US" sz="2800" dirty="0">
                <a:latin typeface="Calibri Light (Headings)"/>
              </a:rPr>
              <a:t>Contact: 01772430221</a:t>
            </a:r>
          </a:p>
          <a:p>
            <a:r>
              <a:rPr lang="en-US" sz="2800" dirty="0">
                <a:latin typeface="Calibri Light (Headings)"/>
              </a:rPr>
              <a:t>Mail: manirujjaman25803690@gmail.com</a:t>
            </a:r>
          </a:p>
          <a:p>
            <a:r>
              <a:rPr lang="en-US" sz="4000" dirty="0">
                <a:latin typeface="Calibri Light (Headings)"/>
              </a:rPr>
              <a:t> </a:t>
            </a:r>
          </a:p>
        </p:txBody>
      </p:sp>
      <p:pic>
        <p:nvPicPr>
          <p:cNvPr id="1026" name="Picture 2">
            <a:extLst>
              <a:ext uri="{FF2B5EF4-FFF2-40B4-BE49-F238E27FC236}">
                <a16:creationId xmlns:a16="http://schemas.microsoft.com/office/drawing/2014/main" id="{E69DE606-DA37-A3FA-256D-7BC55E19A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215" y="1886860"/>
            <a:ext cx="4075570" cy="25278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AAD9830-F312-683A-76DB-40ED4AC88910}"/>
              </a:ext>
            </a:extLst>
          </p:cNvPr>
          <p:cNvSpPr txBox="1"/>
          <p:nvPr/>
        </p:nvSpPr>
        <p:spPr>
          <a:xfrm>
            <a:off x="353961" y="5301468"/>
            <a:ext cx="7443063" cy="1015663"/>
          </a:xfrm>
          <a:prstGeom prst="rect">
            <a:avLst/>
          </a:prstGeom>
          <a:noFill/>
        </p:spPr>
        <p:txBody>
          <a:bodyPr wrap="none" rtlCol="0">
            <a:spAutoFit/>
          </a:bodyPr>
          <a:lstStyle/>
          <a:p>
            <a:r>
              <a:rPr lang="en-US" sz="2000" dirty="0">
                <a:latin typeface="Calibri Light (Headings)"/>
              </a:rPr>
              <a:t>Text Book Reference:</a:t>
            </a:r>
          </a:p>
          <a:p>
            <a:r>
              <a:rPr lang="en-US" sz="2000" b="1" dirty="0">
                <a:latin typeface="Calibri Light (Headings)"/>
              </a:rPr>
              <a:t>Computer Graphics 2nd Edition, Zhigang Xiang and Roy </a:t>
            </a:r>
            <a:r>
              <a:rPr lang="en-US" sz="2000" b="1" dirty="0" err="1">
                <a:latin typeface="Calibri Light (Headings)"/>
              </a:rPr>
              <a:t>Plastock</a:t>
            </a:r>
            <a:r>
              <a:rPr lang="en-US" sz="2000" b="1" dirty="0">
                <a:latin typeface="Calibri Light (Headings)"/>
              </a:rPr>
              <a:t> (2004)</a:t>
            </a:r>
          </a:p>
          <a:p>
            <a:r>
              <a:rPr lang="en-US" sz="2000" b="1" dirty="0">
                <a:latin typeface="Calibri Light (Headings)"/>
              </a:rPr>
              <a:t>Computer Graphics from scratch, Gabriel Gambetta (2021)</a:t>
            </a:r>
          </a:p>
        </p:txBody>
      </p:sp>
      <p:sp>
        <p:nvSpPr>
          <p:cNvPr id="13" name="TextBox 12">
            <a:extLst>
              <a:ext uri="{FF2B5EF4-FFF2-40B4-BE49-F238E27FC236}">
                <a16:creationId xmlns:a16="http://schemas.microsoft.com/office/drawing/2014/main" id="{1630E0D5-B445-F7C6-DB19-0EF978C155E5}"/>
              </a:ext>
            </a:extLst>
          </p:cNvPr>
          <p:cNvSpPr txBox="1"/>
          <p:nvPr/>
        </p:nvSpPr>
        <p:spPr>
          <a:xfrm>
            <a:off x="8573727" y="6156421"/>
            <a:ext cx="3618273" cy="215444"/>
          </a:xfrm>
          <a:prstGeom prst="rect">
            <a:avLst/>
          </a:prstGeom>
          <a:noFill/>
        </p:spPr>
        <p:txBody>
          <a:bodyPr wrap="square" rtlCol="0">
            <a:spAutoFit/>
          </a:bodyPr>
          <a:lstStyle/>
          <a:p>
            <a:r>
              <a:rPr lang="en-US" sz="800" dirty="0"/>
              <a:t>Slide originally created by Shuvo Sir (KUET CSE) . Modified by Md. Manirujjaman</a:t>
            </a:r>
          </a:p>
        </p:txBody>
      </p:sp>
      <p:sp>
        <p:nvSpPr>
          <p:cNvPr id="2" name="Date Placeholder 1">
            <a:extLst>
              <a:ext uri="{FF2B5EF4-FFF2-40B4-BE49-F238E27FC236}">
                <a16:creationId xmlns:a16="http://schemas.microsoft.com/office/drawing/2014/main" id="{1656D8E3-2E72-B3B0-AE6B-50157C3F245F}"/>
              </a:ext>
            </a:extLst>
          </p:cNvPr>
          <p:cNvSpPr>
            <a:spLocks noGrp="1"/>
          </p:cNvSpPr>
          <p:nvPr>
            <p:ph type="dt" sz="half" idx="10"/>
          </p:nvPr>
        </p:nvSpPr>
        <p:spPr/>
        <p:txBody>
          <a:bodyPr/>
          <a:lstStyle/>
          <a:p>
            <a:fld id="{69AE41C8-9334-41A9-997F-FD9AD55D897E}" type="datetime5">
              <a:rPr lang="en-US" smtClean="0"/>
              <a:t>30-Jun-26</a:t>
            </a:fld>
            <a:endParaRPr lang="en-US"/>
          </a:p>
        </p:txBody>
      </p:sp>
      <p:sp>
        <p:nvSpPr>
          <p:cNvPr id="3" name="Footer Placeholder 2">
            <a:extLst>
              <a:ext uri="{FF2B5EF4-FFF2-40B4-BE49-F238E27FC236}">
                <a16:creationId xmlns:a16="http://schemas.microsoft.com/office/drawing/2014/main" id="{6B5AFFD2-5E72-E41E-4CC1-F2416B3297F0}"/>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3932A3E6-50F4-085B-BB0D-4132781AD952}"/>
              </a:ext>
            </a:extLst>
          </p:cNvPr>
          <p:cNvSpPr>
            <a:spLocks noGrp="1"/>
          </p:cNvSpPr>
          <p:nvPr>
            <p:ph type="sldNum" sz="quarter" idx="12"/>
          </p:nvPr>
        </p:nvSpPr>
        <p:spPr/>
        <p:txBody>
          <a:bodyPr/>
          <a:lstStyle/>
          <a:p>
            <a:fld id="{6638BBCC-8B05-4DB0-A330-639F5DE26800}" type="slidenum">
              <a:rPr lang="en-US" smtClean="0"/>
              <a:t>1</a:t>
            </a:fld>
            <a:endParaRPr lang="en-US"/>
          </a:p>
        </p:txBody>
      </p:sp>
    </p:spTree>
    <p:extLst>
      <p:ext uri="{BB962C8B-B14F-4D97-AF65-F5344CB8AC3E}">
        <p14:creationId xmlns:p14="http://schemas.microsoft.com/office/powerpoint/2010/main" val="1572934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7B999A"/>
                </a:solidFill>
              </a:rPr>
              <a:t>Introduction</a:t>
            </a:r>
            <a:endParaRPr lang="en-US" b="1" dirty="0"/>
          </a:p>
        </p:txBody>
      </p:sp>
      <p:sp>
        <p:nvSpPr>
          <p:cNvPr id="7" name="Content Placeholder 6"/>
          <p:cNvSpPr>
            <a:spLocks noGrp="1"/>
          </p:cNvSpPr>
          <p:nvPr>
            <p:ph idx="1"/>
          </p:nvPr>
        </p:nvSpPr>
        <p:spPr/>
        <p:txBody>
          <a:bodyPr>
            <a:normAutofit/>
          </a:bodyPr>
          <a:lstStyle/>
          <a:p>
            <a:pPr algn="just"/>
            <a:r>
              <a:rPr lang="en-US" sz="2400" dirty="0">
                <a:solidFill>
                  <a:srgbClr val="000000"/>
                </a:solidFill>
                <a:latin typeface="+mj-lt"/>
                <a:cs typeface="Times New Roman" pitchFamily="18" charset="0"/>
              </a:rPr>
              <a:t>Computer graphics is concerned with the </a:t>
            </a:r>
            <a:r>
              <a:rPr lang="en-US" sz="2400" dirty="0">
                <a:solidFill>
                  <a:srgbClr val="C00000"/>
                </a:solidFill>
                <a:latin typeface="+mj-lt"/>
                <a:cs typeface="Times New Roman" pitchFamily="18" charset="0"/>
              </a:rPr>
              <a:t>creation</a:t>
            </a:r>
            <a:r>
              <a:rPr lang="en-US" sz="2400" dirty="0">
                <a:solidFill>
                  <a:srgbClr val="000000"/>
                </a:solidFill>
                <a:latin typeface="+mj-lt"/>
                <a:cs typeface="Times New Roman" pitchFamily="18" charset="0"/>
              </a:rPr>
              <a:t> and </a:t>
            </a:r>
            <a:r>
              <a:rPr lang="en-US" sz="2400" dirty="0">
                <a:solidFill>
                  <a:srgbClr val="C00000"/>
                </a:solidFill>
                <a:latin typeface="+mj-lt"/>
                <a:cs typeface="Times New Roman" pitchFamily="18" charset="0"/>
              </a:rPr>
              <a:t>manipulation</a:t>
            </a:r>
            <a:r>
              <a:rPr lang="en-US" sz="2400" dirty="0">
                <a:solidFill>
                  <a:srgbClr val="000000"/>
                </a:solidFill>
                <a:latin typeface="+mj-lt"/>
                <a:cs typeface="Times New Roman" pitchFamily="18" charset="0"/>
              </a:rPr>
              <a:t> of </a:t>
            </a:r>
            <a:r>
              <a:rPr lang="en-US" sz="2400" dirty="0">
                <a:solidFill>
                  <a:srgbClr val="C00000"/>
                </a:solidFill>
                <a:latin typeface="+mj-lt"/>
                <a:cs typeface="Times New Roman" pitchFamily="18" charset="0"/>
              </a:rPr>
              <a:t>synthetic images</a:t>
            </a:r>
            <a:r>
              <a:rPr lang="en-US" sz="2400" dirty="0">
                <a:solidFill>
                  <a:srgbClr val="000000"/>
                </a:solidFill>
                <a:latin typeface="+mj-lt"/>
                <a:cs typeface="Times New Roman" pitchFamily="18" charset="0"/>
              </a:rPr>
              <a:t> and </a:t>
            </a:r>
            <a:r>
              <a:rPr lang="en-US" sz="2400" dirty="0">
                <a:solidFill>
                  <a:srgbClr val="C00000"/>
                </a:solidFill>
                <a:latin typeface="+mj-lt"/>
                <a:cs typeface="Times New Roman" pitchFamily="18" charset="0"/>
              </a:rPr>
              <a:t>animations</a:t>
            </a:r>
            <a:r>
              <a:rPr lang="en-US" sz="2400" dirty="0">
                <a:solidFill>
                  <a:srgbClr val="000000"/>
                </a:solidFill>
                <a:latin typeface="+mj-lt"/>
                <a:cs typeface="Times New Roman" pitchFamily="18" charset="0"/>
              </a:rPr>
              <a:t> using the aid of computer.</a:t>
            </a:r>
          </a:p>
          <a:p>
            <a:pPr algn="just"/>
            <a:r>
              <a:rPr lang="en-US" sz="2400" dirty="0">
                <a:solidFill>
                  <a:srgbClr val="000000"/>
                </a:solidFill>
                <a:latin typeface="+mj-lt"/>
                <a:cs typeface="Times New Roman" pitchFamily="18" charset="0"/>
              </a:rPr>
              <a:t>Generate</a:t>
            </a:r>
            <a:r>
              <a:rPr lang="en-US" sz="2400" dirty="0">
                <a:solidFill>
                  <a:srgbClr val="000000"/>
                </a:solidFill>
                <a:cs typeface="Times New Roman" pitchFamily="18" charset="0"/>
              </a:rPr>
              <a:t> 2D </a:t>
            </a:r>
            <a:r>
              <a:rPr lang="en-US" sz="2400" dirty="0">
                <a:solidFill>
                  <a:srgbClr val="000000"/>
                </a:solidFill>
                <a:latin typeface="+mj-lt"/>
                <a:cs typeface="Times New Roman" pitchFamily="18" charset="0"/>
              </a:rPr>
              <a:t>images of a 3D world represented in a computer.</a:t>
            </a:r>
          </a:p>
          <a:p>
            <a:pPr algn="just"/>
            <a:r>
              <a:rPr lang="en-US" sz="2400" dirty="0">
                <a:solidFill>
                  <a:srgbClr val="000000"/>
                </a:solidFill>
                <a:latin typeface="+mj-lt"/>
                <a:cs typeface="Times New Roman" pitchFamily="18" charset="0"/>
              </a:rPr>
              <a:t>Main tasks:</a:t>
            </a:r>
          </a:p>
          <a:p>
            <a:pPr lvl="1" algn="just">
              <a:buClr>
                <a:srgbClr val="C00000"/>
              </a:buClr>
              <a:buFont typeface="Wingdings" pitchFamily="2" charset="2"/>
              <a:buChar char="q"/>
            </a:pPr>
            <a:r>
              <a:rPr lang="en-US" sz="2000" i="1" dirty="0">
                <a:solidFill>
                  <a:srgbClr val="646C86"/>
                </a:solidFill>
                <a:latin typeface="+mj-lt"/>
                <a:cs typeface="Times New Roman" pitchFamily="18" charset="0"/>
              </a:rPr>
              <a:t>Modeling</a:t>
            </a:r>
            <a:r>
              <a:rPr lang="en-US" sz="2000" dirty="0">
                <a:solidFill>
                  <a:srgbClr val="646C86"/>
                </a:solidFill>
                <a:latin typeface="+mj-lt"/>
                <a:cs typeface="Times New Roman" pitchFamily="18" charset="0"/>
              </a:rPr>
              <a:t>: creating and representing the geometry of objects in the 3D world</a:t>
            </a:r>
          </a:p>
          <a:p>
            <a:pPr lvl="1" algn="just">
              <a:buClr>
                <a:srgbClr val="C00000"/>
              </a:buClr>
              <a:buFont typeface="Wingdings" pitchFamily="2" charset="2"/>
              <a:buChar char="q"/>
            </a:pPr>
            <a:r>
              <a:rPr lang="en-US" sz="2000" i="1" dirty="0">
                <a:solidFill>
                  <a:srgbClr val="646C86"/>
                </a:solidFill>
                <a:latin typeface="+mj-lt"/>
                <a:cs typeface="Times New Roman" pitchFamily="18" charset="0"/>
              </a:rPr>
              <a:t>Rendering</a:t>
            </a:r>
            <a:r>
              <a:rPr lang="en-US" sz="2000" dirty="0">
                <a:solidFill>
                  <a:srgbClr val="646C86"/>
                </a:solidFill>
                <a:latin typeface="+mj-lt"/>
                <a:cs typeface="Times New Roman" pitchFamily="18" charset="0"/>
              </a:rPr>
              <a:t>: generating 2D images of the objects</a:t>
            </a:r>
          </a:p>
          <a:p>
            <a:pPr lvl="1" algn="just">
              <a:buClr>
                <a:srgbClr val="C00000"/>
              </a:buClr>
              <a:buFont typeface="Wingdings" pitchFamily="2" charset="2"/>
              <a:buChar char="q"/>
            </a:pPr>
            <a:r>
              <a:rPr lang="en-US" sz="2000" i="1" dirty="0">
                <a:solidFill>
                  <a:srgbClr val="646C86"/>
                </a:solidFill>
                <a:latin typeface="+mj-lt"/>
                <a:cs typeface="Times New Roman" pitchFamily="18" charset="0"/>
              </a:rPr>
              <a:t>Animation</a:t>
            </a:r>
            <a:r>
              <a:rPr lang="en-US" sz="2000" dirty="0">
                <a:solidFill>
                  <a:srgbClr val="646C86"/>
                </a:solidFill>
                <a:latin typeface="+mj-lt"/>
                <a:cs typeface="Times New Roman" pitchFamily="18" charset="0"/>
              </a:rPr>
              <a:t>: describing how objects change in time</a:t>
            </a:r>
            <a:endParaRPr lang="en-US" sz="2000" dirty="0">
              <a:latin typeface="+mj-lt"/>
              <a:cs typeface="Times New Roman" pitchFamily="18" charset="0"/>
            </a:endParaRPr>
          </a:p>
        </p:txBody>
      </p:sp>
      <p:sp>
        <p:nvSpPr>
          <p:cNvPr id="8" name="Date Placeholder 7"/>
          <p:cNvSpPr>
            <a:spLocks noGrp="1"/>
          </p:cNvSpPr>
          <p:nvPr>
            <p:ph type="dt" sz="half" idx="10"/>
          </p:nvPr>
        </p:nvSpPr>
        <p:spPr/>
        <p:txBody>
          <a:bodyPr/>
          <a:lstStyle/>
          <a:p>
            <a:fld id="{BDBEBA8F-556F-4775-89D6-BC12BF306F0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7B999A"/>
                </a:solidFill>
              </a:rPr>
              <a:t>Introduction</a:t>
            </a:r>
            <a:endParaRPr lang="en-US" b="1" dirty="0"/>
          </a:p>
        </p:txBody>
      </p:sp>
      <p:sp>
        <p:nvSpPr>
          <p:cNvPr id="8" name="Date Placeholder 7"/>
          <p:cNvSpPr>
            <a:spLocks noGrp="1"/>
          </p:cNvSpPr>
          <p:nvPr>
            <p:ph type="dt" sz="half" idx="10"/>
          </p:nvPr>
        </p:nvSpPr>
        <p:spPr/>
        <p:txBody>
          <a:bodyPr/>
          <a:lstStyle/>
          <a:p>
            <a:fld id="{B66EC51D-88A5-428B-9AAA-05833318CBE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a:t>
            </a:fld>
            <a:endParaRPr lang="en-US"/>
          </a:p>
        </p:txBody>
      </p:sp>
      <p:pic>
        <p:nvPicPr>
          <p:cNvPr id="39" name="Picture 11" descr="rendered_mirr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622" y="1482652"/>
            <a:ext cx="3360987" cy="24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0" name="Group 45"/>
          <p:cNvGrpSpPr>
            <a:grpSpLocks/>
          </p:cNvGrpSpPr>
          <p:nvPr/>
        </p:nvGrpSpPr>
        <p:grpSpPr bwMode="auto">
          <a:xfrm>
            <a:off x="2287588" y="1524001"/>
            <a:ext cx="3046412" cy="2817885"/>
            <a:chOff x="192" y="624"/>
            <a:chExt cx="2208" cy="2122"/>
          </a:xfrm>
        </p:grpSpPr>
        <p:pic>
          <p:nvPicPr>
            <p:cNvPr id="41" name="Picture 10" descr="wireframe"/>
            <p:cNvPicPr>
              <a:picLocks noChangeAspect="1" noChangeArrowheads="1"/>
            </p:cNvPicPr>
            <p:nvPr/>
          </p:nvPicPr>
          <p:blipFill>
            <a:blip r:embed="rId3" cstate="print">
              <a:lum bright="24000" contrast="48000"/>
              <a:extLst>
                <a:ext uri="{28A0092B-C50C-407E-A947-70E740481C1C}">
                  <a14:useLocalDpi xmlns:a14="http://schemas.microsoft.com/office/drawing/2010/main" val="0"/>
                </a:ext>
              </a:extLst>
            </a:blip>
            <a:srcRect/>
            <a:stretch>
              <a:fillRect/>
            </a:stretch>
          </p:blipFill>
          <p:spPr bwMode="auto">
            <a:xfrm>
              <a:off x="192" y="624"/>
              <a:ext cx="2208" cy="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 Box 24"/>
            <p:cNvSpPr txBox="1">
              <a:spLocks noChangeArrowheads="1"/>
            </p:cNvSpPr>
            <p:nvPr/>
          </p:nvSpPr>
          <p:spPr bwMode="auto">
            <a:xfrm>
              <a:off x="624" y="2352"/>
              <a:ext cx="1499"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en-US" sz="2800"/>
                <a:t>3D geometry</a:t>
              </a:r>
            </a:p>
          </p:txBody>
        </p:sp>
      </p:grpSp>
      <p:grpSp>
        <p:nvGrpSpPr>
          <p:cNvPr id="43" name="Group 44"/>
          <p:cNvGrpSpPr>
            <a:grpSpLocks/>
          </p:cNvGrpSpPr>
          <p:nvPr/>
        </p:nvGrpSpPr>
        <p:grpSpPr bwMode="auto">
          <a:xfrm>
            <a:off x="2467010" y="3920928"/>
            <a:ext cx="7007575" cy="2499180"/>
            <a:chOff x="192" y="2400"/>
            <a:chExt cx="5079" cy="1882"/>
          </a:xfrm>
        </p:grpSpPr>
        <p:pic>
          <p:nvPicPr>
            <p:cNvPr id="44" name="Picture 17" descr="MCj0290930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1" y="2832"/>
              <a:ext cx="287"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19" descr="tex2html_wrap_inline47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8" y="3038"/>
              <a:ext cx="1344" cy="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25"/>
            <p:cNvSpPr txBox="1">
              <a:spLocks noChangeArrowheads="1"/>
            </p:cNvSpPr>
            <p:nvPr/>
          </p:nvSpPr>
          <p:spPr bwMode="auto">
            <a:xfrm>
              <a:off x="912" y="3888"/>
              <a:ext cx="913" cy="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en-US" sz="2800"/>
                <a:t>physics</a:t>
              </a:r>
            </a:p>
          </p:txBody>
        </p:sp>
        <p:sp>
          <p:nvSpPr>
            <p:cNvPr id="47" name="Rectangle 29"/>
            <p:cNvSpPr>
              <a:spLocks noChangeArrowheads="1"/>
            </p:cNvSpPr>
            <p:nvPr/>
          </p:nvSpPr>
          <p:spPr bwMode="auto">
            <a:xfrm>
              <a:off x="192" y="2736"/>
              <a:ext cx="2208" cy="12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en-US" altLang="en-US"/>
            </a:p>
          </p:txBody>
        </p:sp>
        <p:sp>
          <p:nvSpPr>
            <p:cNvPr id="48" name="Oval 34"/>
            <p:cNvSpPr>
              <a:spLocks noChangeArrowheads="1"/>
            </p:cNvSpPr>
            <p:nvPr/>
          </p:nvSpPr>
          <p:spPr bwMode="auto">
            <a:xfrm>
              <a:off x="3168" y="2976"/>
              <a:ext cx="1920" cy="864"/>
            </a:xfrm>
            <a:prstGeom prst="ellipse">
              <a:avLst/>
            </a:prstGeom>
            <a:solidFill>
              <a:srgbClr val="CCFF33"/>
            </a:solidFill>
            <a:ln w="9525">
              <a:solidFill>
                <a:schemeClr val="tx1"/>
              </a:solidFill>
              <a:round/>
              <a:headEnd/>
              <a:tailEnd/>
            </a:ln>
          </p:spPr>
          <p:txBody>
            <a:bodyPr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ctr"/>
              <a:r>
                <a:rPr lang="en-US" altLang="en-US" sz="4000"/>
                <a:t>Simulation</a:t>
              </a:r>
            </a:p>
          </p:txBody>
        </p:sp>
        <p:sp>
          <p:nvSpPr>
            <p:cNvPr id="49" name="Line 36"/>
            <p:cNvSpPr>
              <a:spLocks noChangeShapeType="1"/>
            </p:cNvSpPr>
            <p:nvPr/>
          </p:nvSpPr>
          <p:spPr bwMode="auto">
            <a:xfrm flipV="1">
              <a:off x="2496" y="3408"/>
              <a:ext cx="624" cy="0"/>
            </a:xfrm>
            <a:prstGeom prst="line">
              <a:avLst/>
            </a:prstGeom>
            <a:noFill/>
            <a:ln w="762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0" name="Line 38"/>
            <p:cNvSpPr>
              <a:spLocks noChangeShapeType="1"/>
            </p:cNvSpPr>
            <p:nvPr/>
          </p:nvSpPr>
          <p:spPr bwMode="auto">
            <a:xfrm>
              <a:off x="2448" y="2400"/>
              <a:ext cx="816" cy="672"/>
            </a:xfrm>
            <a:prstGeom prst="line">
              <a:avLst/>
            </a:prstGeom>
            <a:noFill/>
            <a:ln w="762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 name="Text Box 40"/>
            <p:cNvSpPr txBox="1">
              <a:spLocks noChangeArrowheads="1"/>
            </p:cNvSpPr>
            <p:nvPr/>
          </p:nvSpPr>
          <p:spPr bwMode="auto">
            <a:xfrm>
              <a:off x="4234" y="2544"/>
              <a:ext cx="1037"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r>
                <a:rPr lang="en-US" altLang="en-US"/>
                <a:t>projection</a:t>
              </a:r>
            </a:p>
          </p:txBody>
        </p:sp>
        <p:sp>
          <p:nvSpPr>
            <p:cNvPr id="52" name="AutoShape 42"/>
            <p:cNvSpPr>
              <a:spLocks noChangeArrowheads="1"/>
            </p:cNvSpPr>
            <p:nvPr/>
          </p:nvSpPr>
          <p:spPr bwMode="auto">
            <a:xfrm>
              <a:off x="3984" y="2448"/>
              <a:ext cx="288" cy="480"/>
            </a:xfrm>
            <a:prstGeom prst="upArrow">
              <a:avLst>
                <a:gd name="adj1" fmla="val 50000"/>
                <a:gd name="adj2" fmla="val 41667"/>
              </a:avLst>
            </a:prstGeom>
            <a:solidFill>
              <a:schemeClr val="tx1"/>
            </a:solidFill>
            <a:ln w="19050">
              <a:solidFill>
                <a:schemeClr val="tx1"/>
              </a:solidFill>
              <a:miter lim="800000"/>
              <a:headEnd/>
              <a:tailEnd/>
            </a:ln>
          </p:spPr>
          <p:txBody>
            <a:bodyPr vert="eaVert" wrap="none" anchor="ctr"/>
            <a:lstStyle>
              <a:lvl1pPr>
                <a:defRPr sz="2400">
                  <a:solidFill>
                    <a:schemeClr val="tx1"/>
                  </a:solidFill>
                  <a:latin typeface="Times New Roman" panose="02020603050405020304" pitchFamily="18" charset="0"/>
                  <a:ea typeface="MS PGothic" panose="020B0600070205080204" pitchFamily="34" charset="-128"/>
                </a:defRPr>
              </a:lvl1pPr>
              <a:lvl2pPr marL="37931725" indent="-37474525">
                <a:defRPr sz="2400">
                  <a:solidFill>
                    <a:schemeClr val="tx1"/>
                  </a:solidFill>
                  <a:latin typeface="Times New Roman" panose="02020603050405020304" pitchFamily="18" charset="0"/>
                  <a:ea typeface="MS PGothic" panose="020B0600070205080204" pitchFamily="34" charset="-128"/>
                </a:defRPr>
              </a:lvl2pPr>
              <a:lvl3pPr>
                <a:defRPr sz="2400">
                  <a:solidFill>
                    <a:schemeClr val="tx1"/>
                  </a:solidFill>
                  <a:latin typeface="Times New Roman" panose="02020603050405020304" pitchFamily="18" charset="0"/>
                  <a:ea typeface="MS PGothic" panose="020B0600070205080204" pitchFamily="34" charset="-128"/>
                </a:defRPr>
              </a:lvl3pPr>
              <a:lvl4pPr>
                <a:defRPr sz="2400">
                  <a:solidFill>
                    <a:schemeClr val="tx1"/>
                  </a:solidFill>
                  <a:latin typeface="Times New Roman" panose="02020603050405020304" pitchFamily="18" charset="0"/>
                  <a:ea typeface="MS PGothic" panose="020B0600070205080204" pitchFamily="34" charset="-128"/>
                </a:defRPr>
              </a:lvl4pPr>
              <a:lvl5pPr>
                <a:defRPr sz="2400">
                  <a:solidFill>
                    <a:schemeClr val="tx1"/>
                  </a:solidFill>
                  <a:latin typeface="Times New Roman" panose="02020603050405020304" pitchFamily="18" charset="0"/>
                  <a:ea typeface="MS PGothic" panose="020B0600070205080204" pitchFamily="34"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endParaRPr lang="en-US" altLang="en-US"/>
            </a:p>
          </p:txBody>
        </p:sp>
      </p:grpSp>
    </p:spTree>
    <p:extLst>
      <p:ext uri="{BB962C8B-B14F-4D97-AF65-F5344CB8AC3E}">
        <p14:creationId xmlns:p14="http://schemas.microsoft.com/office/powerpoint/2010/main" val="58640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7B999A"/>
                </a:solidFill>
              </a:rPr>
              <a:t>Application Areas</a:t>
            </a:r>
            <a:endParaRPr lang="en-US" b="1" dirty="0"/>
          </a:p>
        </p:txBody>
      </p:sp>
      <p:sp>
        <p:nvSpPr>
          <p:cNvPr id="7" name="Content Placeholder 6"/>
          <p:cNvSpPr>
            <a:spLocks noGrp="1"/>
          </p:cNvSpPr>
          <p:nvPr>
            <p:ph idx="1"/>
          </p:nvPr>
        </p:nvSpPr>
        <p:spPr/>
        <p:txBody>
          <a:bodyPr>
            <a:normAutofit fontScale="85000" lnSpcReduction="20000"/>
          </a:bodyPr>
          <a:lstStyle/>
          <a:p>
            <a:r>
              <a:rPr lang="en-US" sz="2400" dirty="0">
                <a:latin typeface="+mj-lt"/>
                <a:cs typeface="Times New Roman" pitchFamily="18" charset="0"/>
              </a:rPr>
              <a:t>Computer Aided Design(CAD)</a:t>
            </a:r>
          </a:p>
          <a:p>
            <a:r>
              <a:rPr lang="en-US" sz="2400" dirty="0">
                <a:latin typeface="+mj-lt"/>
                <a:cs typeface="Times New Roman" pitchFamily="18" charset="0"/>
              </a:rPr>
              <a:t>Presentation Graphics</a:t>
            </a:r>
          </a:p>
          <a:p>
            <a:r>
              <a:rPr lang="en-US" sz="2400" dirty="0">
                <a:latin typeface="+mj-lt"/>
                <a:cs typeface="Times New Roman" pitchFamily="18" charset="0"/>
              </a:rPr>
              <a:t>Computer Art</a:t>
            </a:r>
          </a:p>
          <a:p>
            <a:r>
              <a:rPr lang="en-US" sz="2400" dirty="0">
                <a:latin typeface="+mj-lt"/>
                <a:cs typeface="Times New Roman" pitchFamily="18" charset="0"/>
              </a:rPr>
              <a:t>Education and training</a:t>
            </a:r>
          </a:p>
          <a:p>
            <a:r>
              <a:rPr lang="en-US" sz="2400" dirty="0">
                <a:latin typeface="+mj-lt"/>
                <a:cs typeface="Times New Roman" pitchFamily="18" charset="0"/>
              </a:rPr>
              <a:t>Visualization</a:t>
            </a:r>
          </a:p>
          <a:p>
            <a:r>
              <a:rPr lang="en-US" sz="2400" dirty="0">
                <a:latin typeface="+mj-lt"/>
                <a:cs typeface="Times New Roman" pitchFamily="18" charset="0"/>
              </a:rPr>
              <a:t>Image processing</a:t>
            </a:r>
          </a:p>
          <a:p>
            <a:r>
              <a:rPr lang="en-US" sz="2400" dirty="0">
                <a:latin typeface="+mj-lt"/>
                <a:cs typeface="Times New Roman" pitchFamily="18" charset="0"/>
              </a:rPr>
              <a:t>Entertainment</a:t>
            </a:r>
          </a:p>
          <a:p>
            <a:pPr lvl="1"/>
            <a:r>
              <a:rPr lang="en-US" sz="1900" dirty="0">
                <a:latin typeface="+mj-lt"/>
                <a:cs typeface="Times New Roman" pitchFamily="18" charset="0"/>
              </a:rPr>
              <a:t>Movies Industry</a:t>
            </a:r>
          </a:p>
          <a:p>
            <a:pPr lvl="1"/>
            <a:r>
              <a:rPr lang="en-US" sz="1900" dirty="0">
                <a:latin typeface="+mj-lt"/>
                <a:cs typeface="Times New Roman" pitchFamily="18" charset="0"/>
              </a:rPr>
              <a:t>Gaming Industry</a:t>
            </a:r>
          </a:p>
          <a:p>
            <a:r>
              <a:rPr lang="en-US" sz="2400" dirty="0">
                <a:latin typeface="+mj-lt"/>
                <a:cs typeface="Times New Roman" pitchFamily="18" charset="0"/>
              </a:rPr>
              <a:t>Medical field</a:t>
            </a:r>
          </a:p>
          <a:p>
            <a:r>
              <a:rPr lang="en-US" sz="2400" dirty="0">
                <a:latin typeface="+mj-lt"/>
                <a:cs typeface="Times New Roman" pitchFamily="18" charset="0"/>
              </a:rPr>
              <a:t>Graphical User Interface(GUI)</a:t>
            </a:r>
            <a:endParaRPr lang="en-US" dirty="0">
              <a:latin typeface="+mj-lt"/>
              <a:cs typeface="Times New Roman" pitchFamily="18" charset="0"/>
            </a:endParaRPr>
          </a:p>
        </p:txBody>
      </p:sp>
      <p:sp>
        <p:nvSpPr>
          <p:cNvPr id="8" name="Date Placeholder 7"/>
          <p:cNvSpPr>
            <a:spLocks noGrp="1"/>
          </p:cNvSpPr>
          <p:nvPr>
            <p:ph type="dt" sz="half" idx="10"/>
          </p:nvPr>
        </p:nvSpPr>
        <p:spPr/>
        <p:txBody>
          <a:bodyPr/>
          <a:lstStyle/>
          <a:p>
            <a:fld id="{45A2D00A-04DD-4BFC-B806-00659D8AE695}"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4</a:t>
            </a:fld>
            <a:endParaRPr lang="en-US"/>
          </a:p>
        </p:txBody>
      </p:sp>
    </p:spTree>
    <p:extLst>
      <p:ext uri="{BB962C8B-B14F-4D97-AF65-F5344CB8AC3E}">
        <p14:creationId xmlns:p14="http://schemas.microsoft.com/office/powerpoint/2010/main" val="371672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7B999A"/>
                </a:solidFill>
              </a:rPr>
              <a:t>CAD</a:t>
            </a:r>
            <a:endParaRPr lang="en-US" b="1" dirty="0"/>
          </a:p>
        </p:txBody>
      </p:sp>
      <p:sp>
        <p:nvSpPr>
          <p:cNvPr id="7" name="Content Placeholder 6"/>
          <p:cNvSpPr>
            <a:spLocks noGrp="1"/>
          </p:cNvSpPr>
          <p:nvPr>
            <p:ph idx="1"/>
          </p:nvPr>
        </p:nvSpPr>
        <p:spPr/>
        <p:txBody>
          <a:bodyPr>
            <a:normAutofit/>
          </a:bodyPr>
          <a:lstStyle/>
          <a:p>
            <a:r>
              <a:rPr lang="en-US" sz="2400" dirty="0"/>
              <a:t>Major use of computer graphics is in design process, particularly for engineering and architectural systems.</a:t>
            </a:r>
          </a:p>
          <a:p>
            <a:r>
              <a:rPr lang="en-US" sz="2400" dirty="0"/>
              <a:t>This include design of buildings, automobiles, aircraft etc.</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927204B8-596F-4F12-9C8D-C99C9444833B}"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5</a:t>
            </a:fld>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276600"/>
            <a:ext cx="3657600" cy="2729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descr="ProETurbine.jpg                                                00026EE4Macintosh HD                   BA80D50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6055" y="3198646"/>
            <a:ext cx="3842169" cy="2841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905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Presentation Graphics</a:t>
            </a:r>
            <a:endParaRPr lang="en-US" b="1" dirty="0"/>
          </a:p>
        </p:txBody>
      </p:sp>
      <p:sp>
        <p:nvSpPr>
          <p:cNvPr id="7" name="Content Placeholder 6"/>
          <p:cNvSpPr>
            <a:spLocks noGrp="1"/>
          </p:cNvSpPr>
          <p:nvPr>
            <p:ph idx="1"/>
          </p:nvPr>
        </p:nvSpPr>
        <p:spPr/>
        <p:txBody>
          <a:bodyPr>
            <a:normAutofit/>
          </a:bodyPr>
          <a:lstStyle/>
          <a:p>
            <a:r>
              <a:rPr lang="en-US" sz="2400" dirty="0"/>
              <a:t>Used to summarize the financial, mathematical, scientific and economic data.</a:t>
            </a:r>
          </a:p>
          <a:p>
            <a:r>
              <a:rPr lang="en-US" sz="2400" dirty="0"/>
              <a:t>Typical examples are bar charts, line graphs, pie charts etc.</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8D80CA02-30FD-41EE-AF4D-E6C3AE783E3D}"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6</a:t>
            </a:fld>
            <a:endParaRPr lang="en-US"/>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175964"/>
            <a:ext cx="3886200" cy="25730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3196745"/>
            <a:ext cx="3810000" cy="2648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8399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Computer Art</a:t>
            </a:r>
            <a:endParaRPr lang="en-US" b="1" dirty="0"/>
          </a:p>
        </p:txBody>
      </p:sp>
      <p:sp>
        <p:nvSpPr>
          <p:cNvPr id="7" name="Content Placeholder 6"/>
          <p:cNvSpPr>
            <a:spLocks noGrp="1"/>
          </p:cNvSpPr>
          <p:nvPr>
            <p:ph idx="1"/>
          </p:nvPr>
        </p:nvSpPr>
        <p:spPr/>
        <p:txBody>
          <a:bodyPr>
            <a:normAutofit/>
          </a:bodyPr>
          <a:lstStyle/>
          <a:p>
            <a:r>
              <a:rPr lang="en-US" sz="2400" dirty="0"/>
              <a:t>Artist uses special purpose hardware and programs that provides facilities for designing object shapes and specifying object motion.</a:t>
            </a:r>
          </a:p>
          <a:p>
            <a:r>
              <a:rPr lang="fr-FR" sz="2400" dirty="0" err="1"/>
              <a:t>Examples</a:t>
            </a:r>
            <a:r>
              <a:rPr lang="fr-FR" sz="2400" dirty="0"/>
              <a:t> pixel </a:t>
            </a:r>
            <a:r>
              <a:rPr lang="fr-FR" sz="2400" dirty="0" err="1"/>
              <a:t>paint</a:t>
            </a:r>
            <a:r>
              <a:rPr lang="fr-FR" sz="2400" dirty="0"/>
              <a:t>, super </a:t>
            </a:r>
            <a:r>
              <a:rPr lang="fr-FR" sz="2400" dirty="0" err="1"/>
              <a:t>paint</a:t>
            </a:r>
            <a:r>
              <a:rPr lang="fr-FR" sz="2400" dirty="0"/>
              <a:t> etc.</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9A6A5467-5EEF-41A5-928D-DE238F66796C}"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7</a:t>
            </a:fld>
            <a:endParaRPr lang="en-US"/>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408217"/>
            <a:ext cx="3429000" cy="265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3408218"/>
            <a:ext cx="3276600" cy="2659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3048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Education and Training</a:t>
            </a:r>
            <a:endParaRPr lang="en-US" b="1" dirty="0"/>
          </a:p>
        </p:txBody>
      </p:sp>
      <p:sp>
        <p:nvSpPr>
          <p:cNvPr id="7" name="Content Placeholder 6"/>
          <p:cNvSpPr>
            <a:spLocks noGrp="1"/>
          </p:cNvSpPr>
          <p:nvPr>
            <p:ph idx="1"/>
          </p:nvPr>
        </p:nvSpPr>
        <p:spPr/>
        <p:txBody>
          <a:bodyPr>
            <a:normAutofit/>
          </a:bodyPr>
          <a:lstStyle/>
          <a:p>
            <a:r>
              <a:rPr lang="en-US" sz="2400" dirty="0"/>
              <a:t>Computer generated models of physical, financial and economic system are often used as educational aids.</a:t>
            </a:r>
          </a:p>
          <a:p>
            <a:r>
              <a:rPr lang="en-US" sz="2400" dirty="0"/>
              <a:t>Various kinds of simulators program can be used to provide the trainings. E.g. automobile driving simulator.</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23218265-C534-47CD-8BAC-47799315CBFB}"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8</a:t>
            </a:fld>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1" y="3542147"/>
            <a:ext cx="3809999" cy="2539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549074"/>
            <a:ext cx="3275214" cy="2729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1479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Visualization</a:t>
            </a:r>
            <a:endParaRPr lang="en-US" b="1" dirty="0"/>
          </a:p>
        </p:txBody>
      </p:sp>
      <p:sp>
        <p:nvSpPr>
          <p:cNvPr id="7" name="Content Placeholder 6"/>
          <p:cNvSpPr>
            <a:spLocks noGrp="1"/>
          </p:cNvSpPr>
          <p:nvPr>
            <p:ph idx="1"/>
          </p:nvPr>
        </p:nvSpPr>
        <p:spPr/>
        <p:txBody>
          <a:bodyPr>
            <a:normAutofit/>
          </a:bodyPr>
          <a:lstStyle/>
          <a:p>
            <a:r>
              <a:rPr lang="en-US" sz="2400" dirty="0"/>
              <a:t>Various techniques can be used to represent the large amount of data obtained from scientific, medical or business analysis.</a:t>
            </a:r>
          </a:p>
          <a:p>
            <a:r>
              <a:rPr lang="en-US" sz="2400" dirty="0"/>
              <a:t>These includes color coding, contour plots, graphs, charts etc.</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70B2EBDC-70CF-406E-8733-C8B8D1BDD0BB}"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9</a:t>
            </a:fld>
            <a:endParaRPr lang="en-US"/>
          </a:p>
        </p:txBody>
      </p:sp>
      <p:pic>
        <p:nvPicPr>
          <p:cNvPr id="11" name="Picture 4" descr="fa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651875"/>
            <a:ext cx="3276600" cy="261933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1" y="3662615"/>
            <a:ext cx="3567201" cy="2608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cap="flat" cmpd="sng">
                <a:solidFill>
                  <a:srgbClr val="00FFFF"/>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5959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Entertainment</a:t>
            </a:r>
            <a:endParaRPr lang="en-US" b="1" dirty="0"/>
          </a:p>
        </p:txBody>
      </p:sp>
      <p:sp>
        <p:nvSpPr>
          <p:cNvPr id="7" name="Content Placeholder 6"/>
          <p:cNvSpPr>
            <a:spLocks noGrp="1"/>
          </p:cNvSpPr>
          <p:nvPr>
            <p:ph idx="1"/>
          </p:nvPr>
        </p:nvSpPr>
        <p:spPr/>
        <p:txBody>
          <a:bodyPr>
            <a:normAutofit/>
          </a:bodyPr>
          <a:lstStyle/>
          <a:p>
            <a:r>
              <a:rPr lang="en-US" sz="2400" dirty="0"/>
              <a:t>Computer graphics methods are now commonly used in making motion pictures, music videos , games and televisions shows.</a:t>
            </a:r>
          </a:p>
          <a:p>
            <a:r>
              <a:rPr lang="en-US" sz="2400" dirty="0"/>
              <a:t>Sometime graphics pictures are displayed by themselves and sometime combined with the actors and live scenes.</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70B5BDEC-6FDA-44D5-A6E7-37826FAE468F}"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10</a:t>
            </a:fld>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962399"/>
            <a:ext cx="2895600"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962398"/>
            <a:ext cx="2714625"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2400" y="3974954"/>
            <a:ext cx="2591152" cy="174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8481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Medical Field</a:t>
            </a:r>
            <a:endParaRPr lang="en-US" b="1" dirty="0"/>
          </a:p>
        </p:txBody>
      </p:sp>
      <p:sp>
        <p:nvSpPr>
          <p:cNvPr id="7" name="Content Placeholder 6"/>
          <p:cNvSpPr>
            <a:spLocks noGrp="1"/>
          </p:cNvSpPr>
          <p:nvPr>
            <p:ph idx="1"/>
          </p:nvPr>
        </p:nvSpPr>
        <p:spPr/>
        <p:txBody>
          <a:bodyPr>
            <a:normAutofit/>
          </a:bodyPr>
          <a:lstStyle/>
          <a:p>
            <a:r>
              <a:rPr lang="en-US" sz="2400" dirty="0"/>
              <a:t>Computer graphics can also be used to represent the various internal parts and process of the human body.</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A9F8371B-9017-452C-AEB2-B6C49F8087BB}"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11</a:t>
            </a:fld>
            <a:endParaRPr lang="en-US"/>
          </a:p>
        </p:txBody>
      </p:sp>
      <p:pic>
        <p:nvPicPr>
          <p:cNvPr id="12"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181601" y="2511136"/>
            <a:ext cx="1257905" cy="365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12" descr="kniss_mhc_bone.jpg                                             00026EE4Macintosh HD                   BA80D50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831176"/>
            <a:ext cx="2760844" cy="301752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539836"/>
            <a:ext cx="3464420" cy="1946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1320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GUI</a:t>
            </a:r>
            <a:endParaRPr lang="en-US" b="1" dirty="0"/>
          </a:p>
        </p:txBody>
      </p:sp>
      <p:sp>
        <p:nvSpPr>
          <p:cNvPr id="7" name="Content Placeholder 6"/>
          <p:cNvSpPr>
            <a:spLocks noGrp="1"/>
          </p:cNvSpPr>
          <p:nvPr>
            <p:ph idx="1"/>
          </p:nvPr>
        </p:nvSpPr>
        <p:spPr/>
        <p:txBody>
          <a:bodyPr>
            <a:normAutofit/>
          </a:bodyPr>
          <a:lstStyle/>
          <a:p>
            <a:r>
              <a:rPr lang="en-US" sz="2400" dirty="0"/>
              <a:t>It is the interface of the software that communicates with the user with help of some input devices.</a:t>
            </a:r>
          </a:p>
          <a:p>
            <a:r>
              <a:rPr lang="en-US" sz="2400" dirty="0"/>
              <a:t>It contains number of windows , menus and icons for fast selection of processing options.</a:t>
            </a:r>
            <a:endParaRPr lang="en-US" sz="2400" dirty="0">
              <a:latin typeface="+mj-lt"/>
              <a:cs typeface="Times New Roman" pitchFamily="18" charset="0"/>
            </a:endParaRPr>
          </a:p>
        </p:txBody>
      </p:sp>
      <p:sp>
        <p:nvSpPr>
          <p:cNvPr id="8" name="Date Placeholder 7"/>
          <p:cNvSpPr>
            <a:spLocks noGrp="1"/>
          </p:cNvSpPr>
          <p:nvPr>
            <p:ph type="dt" sz="half" idx="10"/>
          </p:nvPr>
        </p:nvSpPr>
        <p:spPr/>
        <p:txBody>
          <a:bodyPr/>
          <a:lstStyle/>
          <a:p>
            <a:fld id="{BD015444-DA41-4689-B8DD-9709D8FA5595}"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12</a:t>
            </a:fld>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1" y="3441123"/>
            <a:ext cx="3733800" cy="2502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427268"/>
            <a:ext cx="3581400" cy="2502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1214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Image Processing</a:t>
            </a:r>
            <a:endParaRPr lang="en-US" b="1" dirty="0"/>
          </a:p>
        </p:txBody>
      </p:sp>
      <p:sp>
        <p:nvSpPr>
          <p:cNvPr id="7" name="Content Placeholder 6"/>
          <p:cNvSpPr>
            <a:spLocks noGrp="1"/>
          </p:cNvSpPr>
          <p:nvPr>
            <p:ph idx="1"/>
          </p:nvPr>
        </p:nvSpPr>
        <p:spPr/>
        <p:txBody>
          <a:bodyPr>
            <a:normAutofit/>
          </a:bodyPr>
          <a:lstStyle/>
          <a:p>
            <a:r>
              <a:rPr lang="en-US" sz="2400" dirty="0"/>
              <a:t>Computer graphics is used to create pictures.</a:t>
            </a:r>
          </a:p>
          <a:p>
            <a:r>
              <a:rPr lang="en-US" sz="2400" dirty="0"/>
              <a:t>Image processing applies techniques to modify or interpret the existing pictures.</a:t>
            </a:r>
          </a:p>
          <a:p>
            <a:r>
              <a:rPr lang="en-US" sz="2400" dirty="0"/>
              <a:t>It is used to:</a:t>
            </a:r>
          </a:p>
          <a:p>
            <a:pPr lvl="1"/>
            <a:r>
              <a:rPr lang="en-US" dirty="0"/>
              <a:t>Improve picture quality</a:t>
            </a:r>
          </a:p>
          <a:p>
            <a:pPr lvl="1"/>
            <a:r>
              <a:rPr lang="en-US" dirty="0"/>
              <a:t>Machine perception of visual information</a:t>
            </a:r>
            <a:endParaRPr lang="en-US" dirty="0">
              <a:latin typeface="+mj-lt"/>
              <a:cs typeface="Times New Roman" pitchFamily="18" charset="0"/>
            </a:endParaRPr>
          </a:p>
        </p:txBody>
      </p:sp>
      <p:sp>
        <p:nvSpPr>
          <p:cNvPr id="8" name="Date Placeholder 7"/>
          <p:cNvSpPr>
            <a:spLocks noGrp="1"/>
          </p:cNvSpPr>
          <p:nvPr>
            <p:ph type="dt" sz="half" idx="10"/>
          </p:nvPr>
        </p:nvSpPr>
        <p:spPr/>
        <p:txBody>
          <a:bodyPr/>
          <a:lstStyle/>
          <a:p>
            <a:fld id="{53DF761E-1CF3-4213-8964-C6D91899199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13</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4114801"/>
            <a:ext cx="6096000" cy="2071313"/>
          </a:xfrm>
          <a:prstGeom prst="rect">
            <a:avLst/>
          </a:prstGeom>
        </p:spPr>
      </p:pic>
    </p:spTree>
    <p:extLst>
      <p:ext uri="{BB962C8B-B14F-4D97-AF65-F5344CB8AC3E}">
        <p14:creationId xmlns:p14="http://schemas.microsoft.com/office/powerpoint/2010/main" val="1365191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Image Processing Vs Computer Graphics</a:t>
            </a:r>
            <a:endParaRPr lang="en-US" b="1"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000" y="1524000"/>
            <a:ext cx="5257800" cy="4732020"/>
          </a:xfrm>
        </p:spPr>
      </p:pic>
      <p:sp>
        <p:nvSpPr>
          <p:cNvPr id="8" name="Date Placeholder 7"/>
          <p:cNvSpPr>
            <a:spLocks noGrp="1"/>
          </p:cNvSpPr>
          <p:nvPr>
            <p:ph type="dt" sz="half" idx="10"/>
          </p:nvPr>
        </p:nvSpPr>
        <p:spPr/>
        <p:txBody>
          <a:bodyPr/>
          <a:lstStyle/>
          <a:p>
            <a:fld id="{643A29FF-041C-4FC2-A4BA-73069BD1CBAC}"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14</a:t>
            </a:fld>
            <a:endParaRPr lang="en-US"/>
          </a:p>
        </p:txBody>
      </p:sp>
    </p:spTree>
    <p:extLst>
      <p:ext uri="{BB962C8B-B14F-4D97-AF65-F5344CB8AC3E}">
        <p14:creationId xmlns:p14="http://schemas.microsoft.com/office/powerpoint/2010/main" val="3608727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Classification of Computer Graphics</a:t>
            </a:r>
            <a:endParaRPr lang="en-US" b="1" dirty="0"/>
          </a:p>
        </p:txBody>
      </p:sp>
      <p:sp>
        <p:nvSpPr>
          <p:cNvPr id="8" name="Date Placeholder 7"/>
          <p:cNvSpPr>
            <a:spLocks noGrp="1"/>
          </p:cNvSpPr>
          <p:nvPr>
            <p:ph type="dt" sz="half" idx="10"/>
          </p:nvPr>
        </p:nvSpPr>
        <p:spPr/>
        <p:txBody>
          <a:bodyPr/>
          <a:lstStyle/>
          <a:p>
            <a:fld id="{E0C46102-9B38-4914-87C7-CA6976E5852D}"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15</a:t>
            </a:fld>
            <a:endParaRPr lang="en-US"/>
          </a:p>
        </p:txBody>
      </p:sp>
      <p:pic>
        <p:nvPicPr>
          <p:cNvPr id="39" name="Picture 3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148" y="1610034"/>
            <a:ext cx="8458200" cy="4190179"/>
          </a:xfrm>
          <a:prstGeom prst="rect">
            <a:avLst/>
          </a:prstGeom>
        </p:spPr>
      </p:pic>
    </p:spTree>
    <p:extLst>
      <p:ext uri="{BB962C8B-B14F-4D97-AF65-F5344CB8AC3E}">
        <p14:creationId xmlns:p14="http://schemas.microsoft.com/office/powerpoint/2010/main" val="29985345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Graphics System</a:t>
            </a:r>
            <a:endParaRPr lang="en-US" sz="4000" b="1" dirty="0"/>
          </a:p>
        </p:txBody>
      </p:sp>
      <p:sp>
        <p:nvSpPr>
          <p:cNvPr id="7" name="Content Placeholder 6"/>
          <p:cNvSpPr>
            <a:spLocks noGrp="1"/>
          </p:cNvSpPr>
          <p:nvPr>
            <p:ph idx="1"/>
          </p:nvPr>
        </p:nvSpPr>
        <p:spPr/>
        <p:txBody>
          <a:bodyPr>
            <a:normAutofit/>
          </a:bodyPr>
          <a:lstStyle/>
          <a:p>
            <a:pPr>
              <a:lnSpc>
                <a:spcPct val="110000"/>
              </a:lnSpc>
            </a:pPr>
            <a:r>
              <a:rPr lang="en-US" dirty="0">
                <a:solidFill>
                  <a:srgbClr val="000000"/>
                </a:solidFill>
                <a:latin typeface="+mj-lt"/>
                <a:cs typeface="Times New Roman" pitchFamily="18" charset="0"/>
              </a:rPr>
              <a:t>Typical graphical system consists of host computer with support of fast processor, large memory, frame buffer and</a:t>
            </a:r>
          </a:p>
          <a:p>
            <a:pPr lvl="1">
              <a:lnSpc>
                <a:spcPct val="110000"/>
              </a:lnSpc>
            </a:pPr>
            <a:r>
              <a:rPr lang="en-US" sz="2800" dirty="0">
                <a:solidFill>
                  <a:srgbClr val="646C86"/>
                </a:solidFill>
                <a:latin typeface="+mj-lt"/>
                <a:cs typeface="Times New Roman" pitchFamily="18" charset="0"/>
              </a:rPr>
              <a:t>Hardwares</a:t>
            </a:r>
          </a:p>
          <a:p>
            <a:pPr lvl="2">
              <a:lnSpc>
                <a:spcPct val="110000"/>
              </a:lnSpc>
              <a:buFont typeface="Wingdings" panose="05000000000000000000" pitchFamily="2" charset="2"/>
              <a:buChar char="§"/>
            </a:pPr>
            <a:r>
              <a:rPr lang="en-US" sz="2800" dirty="0">
                <a:solidFill>
                  <a:srgbClr val="646C86"/>
                </a:solidFill>
                <a:latin typeface="+mj-lt"/>
                <a:cs typeface="Times New Roman" pitchFamily="18" charset="0"/>
              </a:rPr>
              <a:t>Input Devices</a:t>
            </a:r>
          </a:p>
          <a:p>
            <a:pPr lvl="2">
              <a:lnSpc>
                <a:spcPct val="110000"/>
              </a:lnSpc>
              <a:buFont typeface="Wingdings" panose="05000000000000000000" pitchFamily="2" charset="2"/>
              <a:buChar char="§"/>
            </a:pPr>
            <a:r>
              <a:rPr lang="en-US" sz="2800" dirty="0">
                <a:solidFill>
                  <a:srgbClr val="646C86"/>
                </a:solidFill>
                <a:latin typeface="+mj-lt"/>
                <a:cs typeface="Times New Roman" pitchFamily="18" charset="0"/>
              </a:rPr>
              <a:t>Output Devices</a:t>
            </a:r>
          </a:p>
          <a:p>
            <a:pPr lvl="1">
              <a:lnSpc>
                <a:spcPct val="110000"/>
              </a:lnSpc>
            </a:pPr>
            <a:r>
              <a:rPr lang="en-US" sz="2800" dirty="0">
                <a:solidFill>
                  <a:srgbClr val="646C86"/>
                </a:solidFill>
                <a:latin typeface="+mj-lt"/>
                <a:cs typeface="Times New Roman" pitchFamily="18" charset="0"/>
              </a:rPr>
              <a:t>Softwares</a:t>
            </a:r>
          </a:p>
        </p:txBody>
      </p:sp>
      <p:sp>
        <p:nvSpPr>
          <p:cNvPr id="8" name="Date Placeholder 7"/>
          <p:cNvSpPr>
            <a:spLocks noGrp="1"/>
          </p:cNvSpPr>
          <p:nvPr>
            <p:ph type="dt" sz="half" idx="10"/>
          </p:nvPr>
        </p:nvSpPr>
        <p:spPr/>
        <p:txBody>
          <a:bodyPr/>
          <a:lstStyle/>
          <a:p>
            <a:fld id="{9A2E1A22-CCE7-4E99-959E-5EE1497F7848}" type="datetime5">
              <a:rPr lang="en-US" smtClean="0"/>
              <a:t>30-Jun-26</a:t>
            </a:fld>
            <a:endParaRPr lang="en-US" dirty="0"/>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16</a:t>
            </a:fld>
            <a:endParaRPr lang="en-US"/>
          </a:p>
        </p:txBody>
      </p:sp>
    </p:spTree>
    <p:extLst>
      <p:ext uri="{BB962C8B-B14F-4D97-AF65-F5344CB8AC3E}">
        <p14:creationId xmlns:p14="http://schemas.microsoft.com/office/powerpoint/2010/main" val="2216403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Input Devices</a:t>
            </a:r>
            <a:endParaRPr lang="en-US" sz="4000" b="1" dirty="0"/>
          </a:p>
        </p:txBody>
      </p:sp>
      <p:sp>
        <p:nvSpPr>
          <p:cNvPr id="7" name="Content Placeholder 6"/>
          <p:cNvSpPr>
            <a:spLocks noGrp="1"/>
          </p:cNvSpPr>
          <p:nvPr>
            <p:ph idx="1"/>
          </p:nvPr>
        </p:nvSpPr>
        <p:spPr/>
        <p:txBody>
          <a:bodyPr>
            <a:noAutofit/>
          </a:bodyPr>
          <a:lstStyle/>
          <a:p>
            <a:pPr>
              <a:lnSpc>
                <a:spcPct val="100000"/>
              </a:lnSpc>
            </a:pPr>
            <a:r>
              <a:rPr lang="en-US" sz="2400" dirty="0">
                <a:solidFill>
                  <a:srgbClr val="000000"/>
                </a:solidFill>
                <a:latin typeface="+mj-lt"/>
                <a:cs typeface="Times New Roman" pitchFamily="18" charset="0"/>
              </a:rPr>
              <a:t>Most systems have a keyboard and one or more additional devices specially designed for interactive input. This includes:</a:t>
            </a:r>
          </a:p>
          <a:p>
            <a:pPr lvl="1">
              <a:lnSpc>
                <a:spcPct val="100000"/>
              </a:lnSpc>
            </a:pPr>
            <a:r>
              <a:rPr lang="en-US" dirty="0">
                <a:solidFill>
                  <a:schemeClr val="bg2">
                    <a:lumMod val="50000"/>
                  </a:schemeClr>
                </a:solidFill>
                <a:latin typeface="+mj-lt"/>
                <a:cs typeface="Times New Roman" pitchFamily="18" charset="0"/>
              </a:rPr>
              <a:t>Touch Panels</a:t>
            </a:r>
          </a:p>
          <a:p>
            <a:pPr lvl="1">
              <a:lnSpc>
                <a:spcPct val="100000"/>
              </a:lnSpc>
            </a:pPr>
            <a:r>
              <a:rPr lang="en-US" dirty="0">
                <a:solidFill>
                  <a:schemeClr val="bg2">
                    <a:lumMod val="50000"/>
                  </a:schemeClr>
                </a:solidFill>
                <a:latin typeface="+mj-lt"/>
                <a:cs typeface="Times New Roman" pitchFamily="18" charset="0"/>
              </a:rPr>
              <a:t>Light Pens</a:t>
            </a:r>
          </a:p>
          <a:p>
            <a:pPr lvl="1">
              <a:lnSpc>
                <a:spcPct val="100000"/>
              </a:lnSpc>
            </a:pPr>
            <a:r>
              <a:rPr lang="en-US" dirty="0">
                <a:solidFill>
                  <a:schemeClr val="bg2">
                    <a:lumMod val="50000"/>
                  </a:schemeClr>
                </a:solidFill>
                <a:latin typeface="+mj-lt"/>
                <a:cs typeface="Times New Roman" pitchFamily="18" charset="0"/>
              </a:rPr>
              <a:t>Graphics Tablets</a:t>
            </a:r>
          </a:p>
          <a:p>
            <a:pPr lvl="1">
              <a:lnSpc>
                <a:spcPct val="100000"/>
              </a:lnSpc>
            </a:pPr>
            <a:r>
              <a:rPr lang="en-US" dirty="0">
                <a:solidFill>
                  <a:schemeClr val="bg2">
                    <a:lumMod val="50000"/>
                  </a:schemeClr>
                </a:solidFill>
                <a:latin typeface="+mj-lt"/>
                <a:cs typeface="Times New Roman" pitchFamily="18" charset="0"/>
              </a:rPr>
              <a:t>Micro-Phone</a:t>
            </a:r>
          </a:p>
          <a:p>
            <a:pPr lvl="1">
              <a:lnSpc>
                <a:spcPct val="100000"/>
              </a:lnSpc>
            </a:pPr>
            <a:r>
              <a:rPr lang="en-US" dirty="0">
                <a:solidFill>
                  <a:schemeClr val="bg2">
                    <a:lumMod val="50000"/>
                  </a:schemeClr>
                </a:solidFill>
                <a:latin typeface="+mj-lt"/>
                <a:cs typeface="Times New Roman" pitchFamily="18" charset="0"/>
              </a:rPr>
              <a:t>Film Recorder</a:t>
            </a:r>
          </a:p>
          <a:p>
            <a:pPr lvl="1">
              <a:lnSpc>
                <a:spcPct val="100000"/>
              </a:lnSpc>
            </a:pPr>
            <a:r>
              <a:rPr lang="en-US" dirty="0">
                <a:solidFill>
                  <a:schemeClr val="bg2">
                    <a:lumMod val="50000"/>
                  </a:schemeClr>
                </a:solidFill>
                <a:latin typeface="+mj-lt"/>
                <a:cs typeface="Times New Roman" pitchFamily="18" charset="0"/>
              </a:rPr>
              <a:t>Mouse</a:t>
            </a:r>
          </a:p>
          <a:p>
            <a:pPr lvl="1">
              <a:lnSpc>
                <a:spcPct val="100000"/>
              </a:lnSpc>
            </a:pPr>
            <a:r>
              <a:rPr lang="en-US" dirty="0">
                <a:solidFill>
                  <a:schemeClr val="bg2">
                    <a:lumMod val="50000"/>
                  </a:schemeClr>
                </a:solidFill>
                <a:latin typeface="+mj-lt"/>
                <a:cs typeface="Times New Roman" pitchFamily="18" charset="0"/>
              </a:rPr>
              <a:t>Joysticks</a:t>
            </a:r>
          </a:p>
          <a:p>
            <a:pPr lvl="1">
              <a:lnSpc>
                <a:spcPct val="100000"/>
              </a:lnSpc>
            </a:pPr>
            <a:r>
              <a:rPr lang="en-US" dirty="0">
                <a:solidFill>
                  <a:schemeClr val="bg2">
                    <a:lumMod val="50000"/>
                  </a:schemeClr>
                </a:solidFill>
                <a:latin typeface="+mj-lt"/>
                <a:cs typeface="Times New Roman" pitchFamily="18" charset="0"/>
              </a:rPr>
              <a:t>Data Gloves</a:t>
            </a:r>
          </a:p>
        </p:txBody>
      </p:sp>
      <p:sp>
        <p:nvSpPr>
          <p:cNvPr id="8" name="Date Placeholder 7"/>
          <p:cNvSpPr>
            <a:spLocks noGrp="1"/>
          </p:cNvSpPr>
          <p:nvPr>
            <p:ph type="dt" sz="half" idx="10"/>
          </p:nvPr>
        </p:nvSpPr>
        <p:spPr/>
        <p:txBody>
          <a:bodyPr/>
          <a:lstStyle/>
          <a:p>
            <a:fld id="{F87516C4-8991-49C8-A6A0-833B1502F32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17</a:t>
            </a:fld>
            <a:endParaRPr lang="en-US"/>
          </a:p>
        </p:txBody>
      </p:sp>
    </p:spTree>
    <p:extLst>
      <p:ext uri="{BB962C8B-B14F-4D97-AF65-F5344CB8AC3E}">
        <p14:creationId xmlns:p14="http://schemas.microsoft.com/office/powerpoint/2010/main" val="3601021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59C3A5A-6DCC-49F4-BD16-8F4522B1A9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43713" y="1810545"/>
            <a:ext cx="1853711" cy="1314450"/>
          </a:xfrm>
          <a:prstGeom prst="rect">
            <a:avLst/>
          </a:prstGeom>
        </p:spPr>
      </p:pic>
      <p:sp>
        <p:nvSpPr>
          <p:cNvPr id="6" name="Title 5"/>
          <p:cNvSpPr>
            <a:spLocks noGrp="1"/>
          </p:cNvSpPr>
          <p:nvPr>
            <p:ph type="title"/>
          </p:nvPr>
        </p:nvSpPr>
        <p:spPr/>
        <p:txBody>
          <a:bodyPr>
            <a:normAutofit/>
          </a:bodyPr>
          <a:lstStyle/>
          <a:p>
            <a:r>
              <a:rPr lang="en-US" sz="4000" dirty="0">
                <a:solidFill>
                  <a:srgbClr val="7B999A"/>
                </a:solidFill>
              </a:rPr>
              <a:t>Input Devices</a:t>
            </a:r>
            <a:endParaRPr lang="en-US" sz="4000" b="1" dirty="0"/>
          </a:p>
        </p:txBody>
      </p:sp>
      <p:sp>
        <p:nvSpPr>
          <p:cNvPr id="8" name="Date Placeholder 7"/>
          <p:cNvSpPr>
            <a:spLocks noGrp="1"/>
          </p:cNvSpPr>
          <p:nvPr>
            <p:ph type="dt" sz="half" idx="10"/>
          </p:nvPr>
        </p:nvSpPr>
        <p:spPr/>
        <p:txBody>
          <a:bodyPr/>
          <a:lstStyle/>
          <a:p>
            <a:fld id="{28928E5F-4DAB-4431-835C-4859072112AC}"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18</a:t>
            </a:fld>
            <a:endParaRPr lang="en-US"/>
          </a:p>
        </p:txBody>
      </p:sp>
      <p:pic>
        <p:nvPicPr>
          <p:cNvPr id="3" name="Picture 2">
            <a:extLst>
              <a:ext uri="{FF2B5EF4-FFF2-40B4-BE49-F238E27FC236}">
                <a16:creationId xmlns:a16="http://schemas.microsoft.com/office/drawing/2014/main" id="{98B7F1FB-461F-4148-A8DA-A8AA34956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3744721"/>
            <a:ext cx="2362200" cy="1906633"/>
          </a:xfrm>
          <a:prstGeom prst="rect">
            <a:avLst/>
          </a:prstGeom>
        </p:spPr>
      </p:pic>
      <p:pic>
        <p:nvPicPr>
          <p:cNvPr id="5" name="Picture 4">
            <a:extLst>
              <a:ext uri="{FF2B5EF4-FFF2-40B4-BE49-F238E27FC236}">
                <a16:creationId xmlns:a16="http://schemas.microsoft.com/office/drawing/2014/main" id="{B79A04D9-4DD9-46F0-B836-C1F4A91534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25624" y="3684916"/>
            <a:ext cx="2146712" cy="2146712"/>
          </a:xfrm>
          <a:prstGeom prst="rect">
            <a:avLst/>
          </a:prstGeom>
        </p:spPr>
      </p:pic>
      <p:pic>
        <p:nvPicPr>
          <p:cNvPr id="12" name="Picture 11">
            <a:extLst>
              <a:ext uri="{FF2B5EF4-FFF2-40B4-BE49-F238E27FC236}">
                <a16:creationId xmlns:a16="http://schemas.microsoft.com/office/drawing/2014/main" id="{3C2E4CE9-61BC-4B1C-B73D-04C453E6F0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5052" y="3790008"/>
            <a:ext cx="2728027" cy="2055114"/>
          </a:xfrm>
          <a:prstGeom prst="rect">
            <a:avLst/>
          </a:prstGeom>
        </p:spPr>
      </p:pic>
      <p:pic>
        <p:nvPicPr>
          <p:cNvPr id="14" name="Picture 13">
            <a:extLst>
              <a:ext uri="{FF2B5EF4-FFF2-40B4-BE49-F238E27FC236}">
                <a16:creationId xmlns:a16="http://schemas.microsoft.com/office/drawing/2014/main" id="{300AF2B4-71E2-4017-8497-FB7ED894AC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70596" y="1930910"/>
            <a:ext cx="2855029" cy="1082401"/>
          </a:xfrm>
          <a:prstGeom prst="rect">
            <a:avLst/>
          </a:prstGeom>
        </p:spPr>
      </p:pic>
      <p:pic>
        <p:nvPicPr>
          <p:cNvPr id="16" name="Picture 15">
            <a:extLst>
              <a:ext uri="{FF2B5EF4-FFF2-40B4-BE49-F238E27FC236}">
                <a16:creationId xmlns:a16="http://schemas.microsoft.com/office/drawing/2014/main" id="{627B7FCB-89EB-43A0-BE79-F3500206675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2712" y="1839958"/>
            <a:ext cx="2475749" cy="1481550"/>
          </a:xfrm>
          <a:prstGeom prst="rect">
            <a:avLst/>
          </a:prstGeom>
        </p:spPr>
      </p:pic>
    </p:spTree>
    <p:extLst>
      <p:ext uri="{BB962C8B-B14F-4D97-AF65-F5344CB8AC3E}">
        <p14:creationId xmlns:p14="http://schemas.microsoft.com/office/powerpoint/2010/main" val="169906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Output Devices</a:t>
            </a:r>
            <a:endParaRPr lang="en-US" sz="4000" b="1" dirty="0"/>
          </a:p>
        </p:txBody>
      </p:sp>
      <p:sp>
        <p:nvSpPr>
          <p:cNvPr id="7" name="Content Placeholder 6"/>
          <p:cNvSpPr>
            <a:spLocks noGrp="1"/>
          </p:cNvSpPr>
          <p:nvPr>
            <p:ph idx="1"/>
          </p:nvPr>
        </p:nvSpPr>
        <p:spPr/>
        <p:txBody>
          <a:bodyPr>
            <a:normAutofit/>
          </a:bodyPr>
          <a:lstStyle/>
          <a:p>
            <a:pPr>
              <a:lnSpc>
                <a:spcPct val="100000"/>
              </a:lnSpc>
            </a:pPr>
            <a:r>
              <a:rPr lang="en-US" dirty="0">
                <a:solidFill>
                  <a:srgbClr val="000000"/>
                </a:solidFill>
                <a:latin typeface="+mj-lt"/>
                <a:cs typeface="Times New Roman" pitchFamily="18" charset="0"/>
              </a:rPr>
              <a:t>Computer Graphics can use many different output devices or display devices:</a:t>
            </a:r>
          </a:p>
          <a:p>
            <a:pPr lvl="1">
              <a:lnSpc>
                <a:spcPct val="100000"/>
              </a:lnSpc>
            </a:pPr>
            <a:r>
              <a:rPr lang="en-US" sz="2800" dirty="0">
                <a:solidFill>
                  <a:schemeClr val="bg2">
                    <a:lumMod val="50000"/>
                  </a:schemeClr>
                </a:solidFill>
                <a:latin typeface="+mj-lt"/>
                <a:cs typeface="Times New Roman" pitchFamily="18" charset="0"/>
              </a:rPr>
              <a:t>Cathode Ray Tube (CRT)</a:t>
            </a:r>
          </a:p>
          <a:p>
            <a:pPr lvl="1">
              <a:lnSpc>
                <a:spcPct val="100000"/>
              </a:lnSpc>
            </a:pPr>
            <a:r>
              <a:rPr lang="en-US" sz="2800" dirty="0">
                <a:solidFill>
                  <a:schemeClr val="bg2">
                    <a:lumMod val="50000"/>
                  </a:schemeClr>
                </a:solidFill>
                <a:latin typeface="+mj-lt"/>
                <a:cs typeface="Times New Roman" pitchFamily="18" charset="0"/>
              </a:rPr>
              <a:t>Vector/Random Scan Display</a:t>
            </a:r>
          </a:p>
          <a:p>
            <a:pPr lvl="1">
              <a:lnSpc>
                <a:spcPct val="100000"/>
              </a:lnSpc>
            </a:pPr>
            <a:r>
              <a:rPr lang="en-US" sz="2800" dirty="0">
                <a:solidFill>
                  <a:schemeClr val="bg2">
                    <a:lumMod val="50000"/>
                  </a:schemeClr>
                </a:solidFill>
                <a:latin typeface="+mj-lt"/>
                <a:cs typeface="Times New Roman" pitchFamily="18" charset="0"/>
              </a:rPr>
              <a:t>Raster Scan Display</a:t>
            </a:r>
          </a:p>
          <a:p>
            <a:pPr lvl="1">
              <a:lnSpc>
                <a:spcPct val="100000"/>
              </a:lnSpc>
            </a:pPr>
            <a:r>
              <a:rPr lang="en-US" sz="2800" dirty="0">
                <a:solidFill>
                  <a:schemeClr val="bg2">
                    <a:lumMod val="50000"/>
                  </a:schemeClr>
                </a:solidFill>
                <a:latin typeface="+mj-lt"/>
                <a:cs typeface="Times New Roman" pitchFamily="18" charset="0"/>
              </a:rPr>
              <a:t>Colored Monitors</a:t>
            </a:r>
          </a:p>
          <a:p>
            <a:pPr lvl="1">
              <a:lnSpc>
                <a:spcPct val="100000"/>
              </a:lnSpc>
            </a:pPr>
            <a:r>
              <a:rPr lang="en-US" sz="2800" dirty="0">
                <a:solidFill>
                  <a:schemeClr val="bg2">
                    <a:lumMod val="50000"/>
                  </a:schemeClr>
                </a:solidFill>
                <a:latin typeface="+mj-lt"/>
                <a:cs typeface="Times New Roman" pitchFamily="18" charset="0"/>
              </a:rPr>
              <a:t>LED, LCD, TFT Screens</a:t>
            </a:r>
          </a:p>
          <a:p>
            <a:pPr lvl="1">
              <a:lnSpc>
                <a:spcPct val="100000"/>
              </a:lnSpc>
            </a:pPr>
            <a:endParaRPr lang="en-US" sz="2800" dirty="0">
              <a:solidFill>
                <a:schemeClr val="bg2">
                  <a:lumMod val="50000"/>
                </a:schemeClr>
              </a:solidFill>
              <a:latin typeface="+mj-lt"/>
              <a:cs typeface="Times New Roman" pitchFamily="18" charset="0"/>
            </a:endParaRPr>
          </a:p>
        </p:txBody>
      </p:sp>
      <p:sp>
        <p:nvSpPr>
          <p:cNvPr id="8" name="Date Placeholder 7"/>
          <p:cNvSpPr>
            <a:spLocks noGrp="1"/>
          </p:cNvSpPr>
          <p:nvPr>
            <p:ph type="dt" sz="half" idx="10"/>
          </p:nvPr>
        </p:nvSpPr>
        <p:spPr/>
        <p:txBody>
          <a:bodyPr/>
          <a:lstStyle/>
          <a:p>
            <a:fld id="{511A1B01-EAA9-4A91-8527-07EE91C08C31}"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19</a:t>
            </a:fld>
            <a:endParaRPr lang="en-US"/>
          </a:p>
        </p:txBody>
      </p:sp>
    </p:spTree>
    <p:extLst>
      <p:ext uri="{BB962C8B-B14F-4D97-AF65-F5344CB8AC3E}">
        <p14:creationId xmlns:p14="http://schemas.microsoft.com/office/powerpoint/2010/main" val="3218241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The Cathode Ray Tubes (CRTs)</a:t>
            </a:r>
            <a:endParaRPr lang="en-US" sz="4000" b="1" dirty="0"/>
          </a:p>
        </p:txBody>
      </p:sp>
      <p:sp>
        <p:nvSpPr>
          <p:cNvPr id="7" name="Content Placeholder 6"/>
          <p:cNvSpPr>
            <a:spLocks noGrp="1"/>
          </p:cNvSpPr>
          <p:nvPr>
            <p:ph idx="1"/>
          </p:nvPr>
        </p:nvSpPr>
        <p:spPr/>
        <p:txBody>
          <a:bodyPr>
            <a:normAutofit/>
          </a:bodyPr>
          <a:lstStyle/>
          <a:p>
            <a:pPr>
              <a:lnSpc>
                <a:spcPct val="100000"/>
              </a:lnSpc>
            </a:pPr>
            <a:r>
              <a:rPr lang="en-US" dirty="0">
                <a:latin typeface="+mj-lt"/>
              </a:rPr>
              <a:t>Most common display device today</a:t>
            </a:r>
          </a:p>
          <a:p>
            <a:pPr>
              <a:lnSpc>
                <a:spcPct val="100000"/>
              </a:lnSpc>
            </a:pPr>
            <a:r>
              <a:rPr lang="en-US" dirty="0">
                <a:latin typeface="+mj-lt"/>
              </a:rPr>
              <a:t>Characterized by:</a:t>
            </a:r>
            <a:endParaRPr lang="en-US" dirty="0">
              <a:solidFill>
                <a:schemeClr val="bg2">
                  <a:lumMod val="50000"/>
                </a:schemeClr>
              </a:solidFill>
              <a:latin typeface="+mj-lt"/>
              <a:cs typeface="Times New Roman" pitchFamily="18" charset="0"/>
            </a:endParaRPr>
          </a:p>
          <a:p>
            <a:pPr lvl="1">
              <a:lnSpc>
                <a:spcPct val="100000"/>
              </a:lnSpc>
            </a:pPr>
            <a:r>
              <a:rPr lang="en-US" sz="2800" dirty="0">
                <a:latin typeface="+mj-lt"/>
              </a:rPr>
              <a:t>Evacuated glass bottle</a:t>
            </a:r>
          </a:p>
          <a:p>
            <a:pPr lvl="1">
              <a:lnSpc>
                <a:spcPct val="100000"/>
              </a:lnSpc>
            </a:pPr>
            <a:r>
              <a:rPr lang="en-US" sz="2800" dirty="0">
                <a:latin typeface="+mj-lt"/>
              </a:rPr>
              <a:t>Extremely high voltage</a:t>
            </a:r>
          </a:p>
          <a:p>
            <a:pPr lvl="1">
              <a:lnSpc>
                <a:spcPct val="100000"/>
              </a:lnSpc>
            </a:pPr>
            <a:r>
              <a:rPr lang="en-US" sz="2800" dirty="0">
                <a:latin typeface="+mj-lt"/>
              </a:rPr>
              <a:t>Heating element (filament)</a:t>
            </a:r>
          </a:p>
          <a:p>
            <a:pPr lvl="1">
              <a:lnSpc>
                <a:spcPct val="100000"/>
              </a:lnSpc>
            </a:pPr>
            <a:r>
              <a:rPr lang="en-US" sz="2800" dirty="0">
                <a:latin typeface="+mj-lt"/>
              </a:rPr>
              <a:t>Electrons pulled towards anode focusing cylinder</a:t>
            </a:r>
          </a:p>
          <a:p>
            <a:pPr lvl="1">
              <a:lnSpc>
                <a:spcPct val="100000"/>
              </a:lnSpc>
            </a:pPr>
            <a:r>
              <a:rPr lang="en-US" sz="2800" dirty="0">
                <a:latin typeface="+mj-lt"/>
              </a:rPr>
              <a:t>Vertical and horizontal deflection plates</a:t>
            </a:r>
          </a:p>
          <a:p>
            <a:pPr lvl="1">
              <a:lnSpc>
                <a:spcPct val="100000"/>
              </a:lnSpc>
            </a:pPr>
            <a:r>
              <a:rPr lang="en-US" sz="2800" dirty="0">
                <a:latin typeface="+mj-lt"/>
              </a:rPr>
              <a:t>Beam that strikes phosphor coating on front of tube</a:t>
            </a:r>
          </a:p>
        </p:txBody>
      </p:sp>
      <p:sp>
        <p:nvSpPr>
          <p:cNvPr id="8" name="Date Placeholder 7"/>
          <p:cNvSpPr>
            <a:spLocks noGrp="1"/>
          </p:cNvSpPr>
          <p:nvPr>
            <p:ph type="dt" sz="half" idx="10"/>
          </p:nvPr>
        </p:nvSpPr>
        <p:spPr/>
        <p:txBody>
          <a:bodyPr/>
          <a:lstStyle/>
          <a:p>
            <a:fld id="{357E8EEE-FB16-44FB-B7F6-FEE60FB5A9FC}"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20</a:t>
            </a:fld>
            <a:endParaRPr lang="en-US"/>
          </a:p>
        </p:txBody>
      </p:sp>
    </p:spTree>
    <p:extLst>
      <p:ext uri="{BB962C8B-B14F-4D97-AF65-F5344CB8AC3E}">
        <p14:creationId xmlns:p14="http://schemas.microsoft.com/office/powerpoint/2010/main" val="2078055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The Cathode Ray Tubes (CRTs)</a:t>
            </a:r>
            <a:endParaRPr lang="en-US" sz="4000" b="1" dirty="0"/>
          </a:p>
        </p:txBody>
      </p:sp>
      <p:sp>
        <p:nvSpPr>
          <p:cNvPr id="8" name="Date Placeholder 7"/>
          <p:cNvSpPr>
            <a:spLocks noGrp="1"/>
          </p:cNvSpPr>
          <p:nvPr>
            <p:ph type="dt" sz="half" idx="10"/>
          </p:nvPr>
        </p:nvSpPr>
        <p:spPr/>
        <p:txBody>
          <a:bodyPr/>
          <a:lstStyle/>
          <a:p>
            <a:fld id="{DCD1DB14-AA55-4DA1-987E-DF974938AFE4}"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21</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670" y="1844220"/>
            <a:ext cx="8034659" cy="4176912"/>
          </a:xfrm>
          <a:prstGeom prst="rect">
            <a:avLst/>
          </a:prstGeom>
        </p:spPr>
      </p:pic>
    </p:spTree>
    <p:extLst>
      <p:ext uri="{BB962C8B-B14F-4D97-AF65-F5344CB8AC3E}">
        <p14:creationId xmlns:p14="http://schemas.microsoft.com/office/powerpoint/2010/main" val="26924020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E54961-FEF5-53C2-C89F-C61B8F6059E8}"/>
              </a:ext>
            </a:extLst>
          </p:cNvPr>
          <p:cNvSpPr txBox="1"/>
          <p:nvPr/>
        </p:nvSpPr>
        <p:spPr>
          <a:xfrm>
            <a:off x="463731" y="304693"/>
            <a:ext cx="11264537" cy="5509200"/>
          </a:xfrm>
          <a:prstGeom prst="rect">
            <a:avLst/>
          </a:prstGeom>
          <a:noFill/>
        </p:spPr>
        <p:txBody>
          <a:bodyPr wrap="square">
            <a:spAutoFit/>
          </a:bodyPr>
          <a:lstStyle/>
          <a:p>
            <a:pPr>
              <a:buNone/>
            </a:pPr>
            <a:r>
              <a:rPr lang="en-US" sz="3600" b="1" dirty="0">
                <a:latin typeface="+mj-lt"/>
              </a:rPr>
              <a:t>CRT Components and Their Functions</a:t>
            </a:r>
          </a:p>
          <a:p>
            <a:pPr>
              <a:buNone/>
            </a:pPr>
            <a:endParaRPr lang="en-US" sz="3200" b="1" dirty="0">
              <a:latin typeface="+mj-lt"/>
            </a:endParaRPr>
          </a:p>
          <a:p>
            <a:pPr marL="457200" indent="-457200">
              <a:buFont typeface="Arial" panose="020B0604020202020204" pitchFamily="34" charset="0"/>
              <a:buChar char="•"/>
            </a:pPr>
            <a:r>
              <a:rPr lang="en-US" sz="2800" b="1" i="1" dirty="0">
                <a:latin typeface="+mj-lt"/>
              </a:rPr>
              <a:t>Electron Gun: </a:t>
            </a:r>
            <a:r>
              <a:rPr lang="en-US" sz="2800" dirty="0">
                <a:latin typeface="+mj-lt"/>
              </a:rPr>
              <a:t>Produces a stream of electrons to form the image.</a:t>
            </a:r>
          </a:p>
          <a:p>
            <a:pPr marL="457200" indent="-457200">
              <a:buFont typeface="Arial" panose="020B0604020202020204" pitchFamily="34" charset="0"/>
              <a:buChar char="•"/>
            </a:pPr>
            <a:r>
              <a:rPr lang="en-US" sz="2800" b="1" i="1" dirty="0">
                <a:latin typeface="+mj-lt"/>
              </a:rPr>
              <a:t>Pins: </a:t>
            </a:r>
            <a:r>
              <a:rPr lang="en-US" sz="2800" dirty="0">
                <a:latin typeface="+mj-lt"/>
              </a:rPr>
              <a:t>Connect the CRT to external circuits for power and control.</a:t>
            </a:r>
          </a:p>
          <a:p>
            <a:pPr marL="457200" indent="-457200">
              <a:buFont typeface="Arial" panose="020B0604020202020204" pitchFamily="34" charset="0"/>
              <a:buChar char="•"/>
            </a:pPr>
            <a:r>
              <a:rPr lang="en-US" sz="2800" b="1" i="1" dirty="0">
                <a:latin typeface="+mj-lt"/>
              </a:rPr>
              <a:t>Heater: </a:t>
            </a:r>
            <a:r>
              <a:rPr lang="en-US" sz="2800" dirty="0">
                <a:latin typeface="+mj-lt"/>
              </a:rPr>
              <a:t>Heats the cathode to help it emit electrons.</a:t>
            </a:r>
          </a:p>
          <a:p>
            <a:pPr marL="457200" indent="-457200">
              <a:buFont typeface="Arial" panose="020B0604020202020204" pitchFamily="34" charset="0"/>
              <a:buChar char="•"/>
            </a:pPr>
            <a:r>
              <a:rPr lang="en-US" sz="2800" b="1" i="1" dirty="0">
                <a:latin typeface="+mj-lt"/>
              </a:rPr>
              <a:t>Cathode: </a:t>
            </a:r>
            <a:r>
              <a:rPr lang="en-US" sz="2800" dirty="0">
                <a:latin typeface="+mj-lt"/>
              </a:rPr>
              <a:t>Releases electrons when heated.</a:t>
            </a:r>
          </a:p>
          <a:p>
            <a:pPr marL="457200" indent="-457200">
              <a:buFont typeface="Arial" panose="020B0604020202020204" pitchFamily="34" charset="0"/>
              <a:buChar char="•"/>
            </a:pPr>
            <a:r>
              <a:rPr lang="en-US" sz="2800" b="1" i="1" dirty="0">
                <a:latin typeface="+mj-lt"/>
              </a:rPr>
              <a:t>Grid: </a:t>
            </a:r>
            <a:r>
              <a:rPr lang="en-US" sz="2800" dirty="0">
                <a:latin typeface="+mj-lt"/>
              </a:rPr>
              <a:t>Controls the number of electrons passing through, adjusting brightness.</a:t>
            </a:r>
          </a:p>
          <a:p>
            <a:pPr marL="457200" indent="-457200">
              <a:buFont typeface="Arial" panose="020B0604020202020204" pitchFamily="34" charset="0"/>
              <a:buChar char="•"/>
            </a:pPr>
            <a:r>
              <a:rPr lang="en-US" sz="2800" b="1" i="1" dirty="0">
                <a:latin typeface="+mj-lt"/>
              </a:rPr>
              <a:t>Pre-Accelerating Anode:</a:t>
            </a:r>
            <a:r>
              <a:rPr lang="en-US" sz="2800" dirty="0">
                <a:latin typeface="+mj-lt"/>
              </a:rPr>
              <a:t> Begins speeding up the electrons after they leave the grid.</a:t>
            </a:r>
          </a:p>
          <a:p>
            <a:pPr marL="457200" indent="-457200">
              <a:buFont typeface="Arial" panose="020B0604020202020204" pitchFamily="34" charset="0"/>
              <a:buChar char="•"/>
            </a:pPr>
            <a:r>
              <a:rPr lang="en-US" sz="2800" b="1" i="1" dirty="0">
                <a:latin typeface="+mj-lt"/>
              </a:rPr>
              <a:t>Accelerating Anode: </a:t>
            </a:r>
            <a:r>
              <a:rPr lang="en-US" sz="2800" dirty="0">
                <a:latin typeface="+mj-lt"/>
              </a:rPr>
              <a:t>Further accelerates the electrons toward the screen.</a:t>
            </a:r>
          </a:p>
          <a:p>
            <a:pPr marL="457200" indent="-457200">
              <a:buFont typeface="Arial" panose="020B0604020202020204" pitchFamily="34" charset="0"/>
              <a:buChar char="•"/>
            </a:pPr>
            <a:r>
              <a:rPr lang="en-US" sz="2800" b="1" i="1" dirty="0">
                <a:latin typeface="+mj-lt"/>
              </a:rPr>
              <a:t>Focusing Anode: </a:t>
            </a:r>
            <a:r>
              <a:rPr lang="en-US" sz="2800" dirty="0">
                <a:latin typeface="+mj-lt"/>
              </a:rPr>
              <a:t>Narrows the electron beam to keep it sharp and precise.</a:t>
            </a:r>
          </a:p>
        </p:txBody>
      </p:sp>
      <p:sp>
        <p:nvSpPr>
          <p:cNvPr id="2" name="Date Placeholder 1">
            <a:extLst>
              <a:ext uri="{FF2B5EF4-FFF2-40B4-BE49-F238E27FC236}">
                <a16:creationId xmlns:a16="http://schemas.microsoft.com/office/drawing/2014/main" id="{5948F4FA-CA44-123E-CCE9-622D0DD1175F}"/>
              </a:ext>
            </a:extLst>
          </p:cNvPr>
          <p:cNvSpPr>
            <a:spLocks noGrp="1"/>
          </p:cNvSpPr>
          <p:nvPr>
            <p:ph type="dt" sz="half" idx="10"/>
          </p:nvPr>
        </p:nvSpPr>
        <p:spPr/>
        <p:txBody>
          <a:bodyPr/>
          <a:lstStyle/>
          <a:p>
            <a:fld id="{39D0BD27-1477-427F-9C0B-D700C59922DB}" type="datetime5">
              <a:rPr lang="en-US" smtClean="0"/>
              <a:t>30-Jun-26</a:t>
            </a:fld>
            <a:endParaRPr lang="en-US"/>
          </a:p>
        </p:txBody>
      </p:sp>
      <p:sp>
        <p:nvSpPr>
          <p:cNvPr id="4" name="Footer Placeholder 3">
            <a:extLst>
              <a:ext uri="{FF2B5EF4-FFF2-40B4-BE49-F238E27FC236}">
                <a16:creationId xmlns:a16="http://schemas.microsoft.com/office/drawing/2014/main" id="{B2F084E6-0F6D-DB3D-5BAD-E8F7ED2BEDFE}"/>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8745E949-2795-86C9-1F98-63B6D33E50B6}"/>
              </a:ext>
            </a:extLst>
          </p:cNvPr>
          <p:cNvSpPr>
            <a:spLocks noGrp="1"/>
          </p:cNvSpPr>
          <p:nvPr>
            <p:ph type="sldNum" sz="quarter" idx="12"/>
          </p:nvPr>
        </p:nvSpPr>
        <p:spPr/>
        <p:txBody>
          <a:bodyPr/>
          <a:lstStyle/>
          <a:p>
            <a:fld id="{6638BBCC-8B05-4DB0-A330-639F5DE26800}" type="slidenum">
              <a:rPr lang="en-US" smtClean="0"/>
              <a:t>22</a:t>
            </a:fld>
            <a:endParaRPr lang="en-US"/>
          </a:p>
        </p:txBody>
      </p:sp>
    </p:spTree>
    <p:extLst>
      <p:ext uri="{BB962C8B-B14F-4D97-AF65-F5344CB8AC3E}">
        <p14:creationId xmlns:p14="http://schemas.microsoft.com/office/powerpoint/2010/main" val="158989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E61D29-4105-912D-0C35-C6BB7006A86A}"/>
              </a:ext>
            </a:extLst>
          </p:cNvPr>
          <p:cNvSpPr txBox="1"/>
          <p:nvPr/>
        </p:nvSpPr>
        <p:spPr>
          <a:xfrm>
            <a:off x="463731" y="304693"/>
            <a:ext cx="11264537" cy="5509200"/>
          </a:xfrm>
          <a:prstGeom prst="rect">
            <a:avLst/>
          </a:prstGeom>
          <a:noFill/>
        </p:spPr>
        <p:txBody>
          <a:bodyPr wrap="square">
            <a:spAutoFit/>
          </a:bodyPr>
          <a:lstStyle/>
          <a:p>
            <a:pPr>
              <a:buNone/>
            </a:pPr>
            <a:r>
              <a:rPr lang="en-US" sz="3600" b="1" dirty="0">
                <a:latin typeface="+mj-lt"/>
              </a:rPr>
              <a:t>CRT Components and Their Functions</a:t>
            </a:r>
          </a:p>
          <a:p>
            <a:pPr>
              <a:buNone/>
            </a:pPr>
            <a:endParaRPr lang="en-US" sz="3200" b="1" dirty="0">
              <a:latin typeface="+mj-lt"/>
            </a:endParaRPr>
          </a:p>
          <a:p>
            <a:pPr marL="457200" indent="-457200">
              <a:buFont typeface="Arial" panose="020B0604020202020204" pitchFamily="34" charset="0"/>
              <a:buChar char="•"/>
            </a:pPr>
            <a:r>
              <a:rPr lang="en-US" sz="2800" b="1" i="1" dirty="0">
                <a:latin typeface="+mj-lt"/>
              </a:rPr>
              <a:t>Vertical Deflection Plates: </a:t>
            </a:r>
            <a:r>
              <a:rPr lang="en-US" sz="2800" dirty="0">
                <a:latin typeface="+mj-lt"/>
              </a:rPr>
              <a:t>Move the beam up and down to scan the screen vertically.</a:t>
            </a:r>
          </a:p>
          <a:p>
            <a:pPr marL="457200" indent="-457200">
              <a:buFont typeface="Arial" panose="020B0604020202020204" pitchFamily="34" charset="0"/>
              <a:buChar char="•"/>
            </a:pPr>
            <a:r>
              <a:rPr lang="en-US" sz="2800" b="1" i="1" dirty="0">
                <a:latin typeface="+mj-lt"/>
              </a:rPr>
              <a:t>Horizontal Deflection Plates: </a:t>
            </a:r>
            <a:r>
              <a:rPr lang="en-US" sz="2800" dirty="0">
                <a:latin typeface="+mj-lt"/>
              </a:rPr>
              <a:t>Move the beam left and right to scan horizontally.</a:t>
            </a:r>
          </a:p>
          <a:p>
            <a:pPr marL="457200" indent="-457200">
              <a:buFont typeface="Arial" panose="020B0604020202020204" pitchFamily="34" charset="0"/>
              <a:buChar char="•"/>
            </a:pPr>
            <a:r>
              <a:rPr lang="en-US" sz="2800" b="1" i="1" dirty="0" err="1">
                <a:latin typeface="+mj-lt"/>
              </a:rPr>
              <a:t>Aquadag</a:t>
            </a:r>
            <a:r>
              <a:rPr lang="en-US" sz="2800" b="1" i="1" dirty="0">
                <a:latin typeface="+mj-lt"/>
              </a:rPr>
              <a:t> Coating: </a:t>
            </a:r>
            <a:r>
              <a:rPr lang="en-US" sz="2800" dirty="0">
                <a:latin typeface="+mj-lt"/>
              </a:rPr>
              <a:t>Conductive layer that collects excess electrons and maintains voltage balance.</a:t>
            </a:r>
          </a:p>
          <a:p>
            <a:pPr marL="457200" indent="-457200">
              <a:buFont typeface="Arial" panose="020B0604020202020204" pitchFamily="34" charset="0"/>
              <a:buChar char="•"/>
            </a:pPr>
            <a:r>
              <a:rPr lang="en-US" sz="2800" b="1" i="1" dirty="0">
                <a:latin typeface="+mj-lt"/>
              </a:rPr>
              <a:t>Electron Beam: </a:t>
            </a:r>
            <a:r>
              <a:rPr lang="en-US" sz="2800" dirty="0">
                <a:latin typeface="+mj-lt"/>
              </a:rPr>
              <a:t>The stream of electrons that creates the image by striking the screen.</a:t>
            </a:r>
          </a:p>
          <a:p>
            <a:pPr marL="457200" indent="-457200">
              <a:buFont typeface="Arial" panose="020B0604020202020204" pitchFamily="34" charset="0"/>
              <a:buChar char="•"/>
            </a:pPr>
            <a:r>
              <a:rPr lang="en-US" sz="2800" b="1" i="1" dirty="0">
                <a:latin typeface="+mj-lt"/>
              </a:rPr>
              <a:t>Phosphor Screen: </a:t>
            </a:r>
            <a:r>
              <a:rPr lang="en-US" sz="2800" dirty="0">
                <a:latin typeface="+mj-lt"/>
              </a:rPr>
              <a:t>Glows when hit by electrons, forming visible images.</a:t>
            </a:r>
          </a:p>
          <a:p>
            <a:pPr marL="457200" indent="-457200">
              <a:buFont typeface="Arial" panose="020B0604020202020204" pitchFamily="34" charset="0"/>
              <a:buChar char="•"/>
            </a:pPr>
            <a:r>
              <a:rPr lang="en-US" sz="2800" b="1" i="1" dirty="0">
                <a:latin typeface="+mj-lt"/>
              </a:rPr>
              <a:t>Base: </a:t>
            </a:r>
            <a:r>
              <a:rPr lang="en-US" sz="2800" dirty="0">
                <a:latin typeface="+mj-lt"/>
              </a:rPr>
              <a:t>Holds and supports the entire CRT structure.</a:t>
            </a:r>
          </a:p>
        </p:txBody>
      </p:sp>
      <p:sp>
        <p:nvSpPr>
          <p:cNvPr id="3" name="Date Placeholder 2">
            <a:extLst>
              <a:ext uri="{FF2B5EF4-FFF2-40B4-BE49-F238E27FC236}">
                <a16:creationId xmlns:a16="http://schemas.microsoft.com/office/drawing/2014/main" id="{E5BD2726-BBF2-017D-E777-C7A6B62B7DD9}"/>
              </a:ext>
            </a:extLst>
          </p:cNvPr>
          <p:cNvSpPr>
            <a:spLocks noGrp="1"/>
          </p:cNvSpPr>
          <p:nvPr>
            <p:ph type="dt" sz="half" idx="10"/>
          </p:nvPr>
        </p:nvSpPr>
        <p:spPr/>
        <p:txBody>
          <a:bodyPr/>
          <a:lstStyle/>
          <a:p>
            <a:fld id="{375110D1-B19C-480D-9DEE-7EA73EC2D945}" type="datetime5">
              <a:rPr lang="en-US" smtClean="0"/>
              <a:t>30-Jun-26</a:t>
            </a:fld>
            <a:endParaRPr lang="en-US"/>
          </a:p>
        </p:txBody>
      </p:sp>
      <p:sp>
        <p:nvSpPr>
          <p:cNvPr id="4" name="Footer Placeholder 3">
            <a:extLst>
              <a:ext uri="{FF2B5EF4-FFF2-40B4-BE49-F238E27FC236}">
                <a16:creationId xmlns:a16="http://schemas.microsoft.com/office/drawing/2014/main" id="{113E10EF-BCDC-4C85-3705-CEEA855ABA75}"/>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1D766208-7D4F-E0BE-36D5-EE3949778D96}"/>
              </a:ext>
            </a:extLst>
          </p:cNvPr>
          <p:cNvSpPr>
            <a:spLocks noGrp="1"/>
          </p:cNvSpPr>
          <p:nvPr>
            <p:ph type="sldNum" sz="quarter" idx="12"/>
          </p:nvPr>
        </p:nvSpPr>
        <p:spPr/>
        <p:txBody>
          <a:bodyPr/>
          <a:lstStyle/>
          <a:p>
            <a:fld id="{6638BBCC-8B05-4DB0-A330-639F5DE26800}" type="slidenum">
              <a:rPr lang="en-US" smtClean="0"/>
              <a:t>23</a:t>
            </a:fld>
            <a:endParaRPr lang="en-US"/>
          </a:p>
        </p:txBody>
      </p:sp>
    </p:spTree>
    <p:extLst>
      <p:ext uri="{BB962C8B-B14F-4D97-AF65-F5344CB8AC3E}">
        <p14:creationId xmlns:p14="http://schemas.microsoft.com/office/powerpoint/2010/main" val="1864486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solidFill>
                  <a:srgbClr val="7B999A"/>
                </a:solidFill>
              </a:rPr>
              <a:t>How CRT works</a:t>
            </a:r>
            <a:endParaRPr lang="en-US" sz="4000" b="1" dirty="0"/>
          </a:p>
        </p:txBody>
      </p:sp>
      <p:sp>
        <p:nvSpPr>
          <p:cNvPr id="7" name="Content Placeholder 6"/>
          <p:cNvSpPr>
            <a:spLocks noGrp="1"/>
          </p:cNvSpPr>
          <p:nvPr>
            <p:ph idx="1"/>
          </p:nvPr>
        </p:nvSpPr>
        <p:spPr>
          <a:xfrm>
            <a:off x="1344113" y="1865812"/>
            <a:ext cx="9564733" cy="3669749"/>
          </a:xfrm>
        </p:spPr>
        <p:txBody>
          <a:bodyPr>
            <a:noAutofit/>
          </a:bodyPr>
          <a:lstStyle/>
          <a:p>
            <a:pPr lvl="0" fontAlgn="base">
              <a:lnSpc>
                <a:spcPct val="100000"/>
              </a:lnSpc>
              <a:spcAft>
                <a:spcPct val="0"/>
              </a:spcAft>
            </a:pPr>
            <a:r>
              <a:rPr lang="en-US" altLang="en-US" dirty="0">
                <a:latin typeface="+mj-lt"/>
              </a:rPr>
              <a:t>The electron gun heats a filament and releases electrons.</a:t>
            </a:r>
          </a:p>
          <a:p>
            <a:pPr lvl="0" fontAlgn="base">
              <a:lnSpc>
                <a:spcPct val="100000"/>
              </a:lnSpc>
              <a:spcAft>
                <a:spcPct val="0"/>
              </a:spcAft>
            </a:pPr>
            <a:r>
              <a:rPr lang="en-US" altLang="en-US" dirty="0">
                <a:latin typeface="+mj-lt"/>
              </a:rPr>
              <a:t>Electromagnets focus these electrons into a narrow beam.</a:t>
            </a:r>
          </a:p>
          <a:p>
            <a:pPr lvl="0" fontAlgn="base">
              <a:lnSpc>
                <a:spcPct val="100000"/>
              </a:lnSpc>
              <a:spcAft>
                <a:spcPct val="0"/>
              </a:spcAft>
            </a:pPr>
            <a:r>
              <a:rPr lang="en-US" altLang="en-US" dirty="0">
                <a:latin typeface="+mj-lt"/>
              </a:rPr>
              <a:t>Deflection plates move the beam to any point on the screen.</a:t>
            </a:r>
          </a:p>
          <a:p>
            <a:pPr lvl="0" fontAlgn="base">
              <a:lnSpc>
                <a:spcPct val="100000"/>
              </a:lnSpc>
              <a:spcAft>
                <a:spcPct val="0"/>
              </a:spcAft>
            </a:pPr>
            <a:r>
              <a:rPr lang="en-US" altLang="en-US" dirty="0">
                <a:latin typeface="+mj-lt"/>
              </a:rPr>
              <a:t>The beam strikes phosphor dots on the screen, making them glow (red, green, or blue).</a:t>
            </a:r>
          </a:p>
          <a:p>
            <a:pPr lvl="0" fontAlgn="base">
              <a:lnSpc>
                <a:spcPct val="100000"/>
              </a:lnSpc>
              <a:spcAft>
                <a:spcPct val="0"/>
              </a:spcAft>
            </a:pPr>
            <a:r>
              <a:rPr lang="en-US" altLang="en-US" dirty="0">
                <a:latin typeface="+mj-lt"/>
              </a:rPr>
              <a:t>The glow fades quickly, so the screen is refreshed repeatedly to keep the image visible.</a:t>
            </a:r>
          </a:p>
        </p:txBody>
      </p:sp>
      <p:sp>
        <p:nvSpPr>
          <p:cNvPr id="8" name="Date Placeholder 7"/>
          <p:cNvSpPr>
            <a:spLocks noGrp="1"/>
          </p:cNvSpPr>
          <p:nvPr>
            <p:ph type="dt" sz="half" idx="10"/>
          </p:nvPr>
        </p:nvSpPr>
        <p:spPr/>
        <p:txBody>
          <a:bodyPr/>
          <a:lstStyle/>
          <a:p>
            <a:fld id="{7840686C-EE8A-44F6-8B26-94F0F48AD076}"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24</a:t>
            </a:fld>
            <a:endParaRPr lang="en-US"/>
          </a:p>
        </p:txBody>
      </p:sp>
    </p:spTree>
    <p:extLst>
      <p:ext uri="{BB962C8B-B14F-4D97-AF65-F5344CB8AC3E}">
        <p14:creationId xmlns:p14="http://schemas.microsoft.com/office/powerpoint/2010/main" val="2269921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CRTs - Display Technologies</a:t>
            </a:r>
            <a:endParaRPr lang="en-US" sz="4000" b="1" dirty="0"/>
          </a:p>
        </p:txBody>
      </p:sp>
      <p:sp>
        <p:nvSpPr>
          <p:cNvPr id="7" name="Content Placeholder 6"/>
          <p:cNvSpPr>
            <a:spLocks noGrp="1"/>
          </p:cNvSpPr>
          <p:nvPr>
            <p:ph idx="1"/>
          </p:nvPr>
        </p:nvSpPr>
        <p:spPr/>
        <p:txBody>
          <a:bodyPr>
            <a:noAutofit/>
          </a:bodyPr>
          <a:lstStyle/>
          <a:p>
            <a:pPr>
              <a:lnSpc>
                <a:spcPct val="150000"/>
              </a:lnSpc>
            </a:pPr>
            <a:r>
              <a:rPr lang="en-US" dirty="0"/>
              <a:t>Two main types:</a:t>
            </a:r>
          </a:p>
          <a:p>
            <a:pPr lvl="1">
              <a:lnSpc>
                <a:spcPct val="150000"/>
              </a:lnSpc>
            </a:pPr>
            <a:r>
              <a:rPr lang="en-US" sz="2800" dirty="0"/>
              <a:t>Vector/Random Display</a:t>
            </a:r>
          </a:p>
          <a:p>
            <a:pPr lvl="1">
              <a:lnSpc>
                <a:spcPct val="150000"/>
              </a:lnSpc>
            </a:pPr>
            <a:r>
              <a:rPr lang="en-US" sz="2800" dirty="0"/>
              <a:t>Raster Display</a:t>
            </a:r>
          </a:p>
        </p:txBody>
      </p:sp>
      <p:sp>
        <p:nvSpPr>
          <p:cNvPr id="8" name="Date Placeholder 7"/>
          <p:cNvSpPr>
            <a:spLocks noGrp="1"/>
          </p:cNvSpPr>
          <p:nvPr>
            <p:ph type="dt" sz="half" idx="10"/>
          </p:nvPr>
        </p:nvSpPr>
        <p:spPr/>
        <p:txBody>
          <a:bodyPr/>
          <a:lstStyle/>
          <a:p>
            <a:fld id="{6A8EA92A-B57B-42F6-9CCE-A26536A7AAF9}"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25</a:t>
            </a:fld>
            <a:endParaRPr lang="en-US"/>
          </a:p>
        </p:txBody>
      </p:sp>
    </p:spTree>
    <p:extLst>
      <p:ext uri="{BB962C8B-B14F-4D97-AF65-F5344CB8AC3E}">
        <p14:creationId xmlns:p14="http://schemas.microsoft.com/office/powerpoint/2010/main" val="4044160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Vector Displays</a:t>
            </a:r>
            <a:endParaRPr lang="en-US" sz="4000" b="1"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4902" y="1916830"/>
            <a:ext cx="6803155" cy="4146985"/>
          </a:xfrm>
        </p:spPr>
      </p:pic>
      <p:sp>
        <p:nvSpPr>
          <p:cNvPr id="8" name="Date Placeholder 7"/>
          <p:cNvSpPr>
            <a:spLocks noGrp="1"/>
          </p:cNvSpPr>
          <p:nvPr>
            <p:ph type="dt" sz="half" idx="10"/>
          </p:nvPr>
        </p:nvSpPr>
        <p:spPr/>
        <p:txBody>
          <a:bodyPr/>
          <a:lstStyle/>
          <a:p>
            <a:fld id="{7BEEC593-D346-45A7-B8C2-C659DF4495A3}"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26</a:t>
            </a:fld>
            <a:endParaRPr lang="en-US"/>
          </a:p>
        </p:txBody>
      </p:sp>
    </p:spTree>
    <p:extLst>
      <p:ext uri="{BB962C8B-B14F-4D97-AF65-F5344CB8AC3E}">
        <p14:creationId xmlns:p14="http://schemas.microsoft.com/office/powerpoint/2010/main" val="1750515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Vector Displays</a:t>
            </a:r>
            <a:endParaRPr lang="en-US" sz="4000" b="1" dirty="0"/>
          </a:p>
        </p:txBody>
      </p:sp>
      <p:sp>
        <p:nvSpPr>
          <p:cNvPr id="7" name="Content Placeholder 6"/>
          <p:cNvSpPr>
            <a:spLocks noGrp="1"/>
          </p:cNvSpPr>
          <p:nvPr>
            <p:ph idx="1"/>
          </p:nvPr>
        </p:nvSpPr>
        <p:spPr>
          <a:xfrm>
            <a:off x="2152650" y="1690689"/>
            <a:ext cx="7886700" cy="4351338"/>
          </a:xfrm>
        </p:spPr>
        <p:txBody>
          <a:bodyPr>
            <a:noAutofit/>
          </a:bodyPr>
          <a:lstStyle/>
          <a:p>
            <a:pPr fontAlgn="base">
              <a:lnSpc>
                <a:spcPct val="100000"/>
              </a:lnSpc>
            </a:pPr>
            <a:r>
              <a:rPr lang="en-US" sz="2400" dirty="0"/>
              <a:t>The architecture of </a:t>
            </a:r>
            <a:r>
              <a:rPr lang="en-US" sz="2400" dirty="0">
                <a:solidFill>
                  <a:srgbClr val="FF0000"/>
                </a:solidFill>
              </a:rPr>
              <a:t>vector display </a:t>
            </a:r>
            <a:r>
              <a:rPr lang="en-US" sz="2400" dirty="0"/>
              <a:t>consists of display controller, CPU, display buffer memory and CRT.</a:t>
            </a:r>
          </a:p>
          <a:p>
            <a:pPr fontAlgn="base">
              <a:lnSpc>
                <a:spcPct val="100000"/>
              </a:lnSpc>
            </a:pPr>
            <a:r>
              <a:rPr lang="en-US" sz="2400" dirty="0">
                <a:solidFill>
                  <a:srgbClr val="FF0000"/>
                </a:solidFill>
              </a:rPr>
              <a:t>Display controller</a:t>
            </a:r>
            <a:r>
              <a:rPr lang="en-US" sz="2400" dirty="0"/>
              <a:t> is connected as an I/O peripheral to the CPU.</a:t>
            </a:r>
          </a:p>
          <a:p>
            <a:pPr fontAlgn="base">
              <a:lnSpc>
                <a:spcPct val="100000"/>
              </a:lnSpc>
            </a:pPr>
            <a:r>
              <a:rPr lang="en-US" sz="2400" dirty="0">
                <a:solidFill>
                  <a:srgbClr val="FF0000"/>
                </a:solidFill>
              </a:rPr>
              <a:t>Display buffer </a:t>
            </a:r>
            <a:r>
              <a:rPr lang="en-US" sz="2400" dirty="0"/>
              <a:t>stores computer produced display list or display program.</a:t>
            </a:r>
          </a:p>
          <a:p>
            <a:pPr fontAlgn="base">
              <a:lnSpc>
                <a:spcPct val="100000"/>
              </a:lnSpc>
            </a:pPr>
            <a:r>
              <a:rPr lang="en-US" sz="2400" dirty="0"/>
              <a:t>The Program contains </a:t>
            </a:r>
            <a:r>
              <a:rPr lang="en-US" sz="2400" dirty="0">
                <a:solidFill>
                  <a:srgbClr val="FF0000"/>
                </a:solidFill>
              </a:rPr>
              <a:t>point &amp; line plotting commands </a:t>
            </a:r>
            <a:r>
              <a:rPr lang="en-US" sz="2400" dirty="0"/>
              <a:t>with end point co-ordinates as well as character plotting commands.</a:t>
            </a:r>
          </a:p>
          <a:p>
            <a:pPr fontAlgn="base">
              <a:lnSpc>
                <a:spcPct val="100000"/>
              </a:lnSpc>
            </a:pPr>
            <a:r>
              <a:rPr lang="en-US" sz="2400" dirty="0"/>
              <a:t>Display controller interprets command and sends digital and point co-ordinates to a vector generator.</a:t>
            </a:r>
          </a:p>
        </p:txBody>
      </p:sp>
      <p:sp>
        <p:nvSpPr>
          <p:cNvPr id="8" name="Date Placeholder 7"/>
          <p:cNvSpPr>
            <a:spLocks noGrp="1"/>
          </p:cNvSpPr>
          <p:nvPr>
            <p:ph type="dt" sz="half" idx="10"/>
          </p:nvPr>
        </p:nvSpPr>
        <p:spPr/>
        <p:txBody>
          <a:bodyPr/>
          <a:lstStyle/>
          <a:p>
            <a:fld id="{B798D4E5-09B1-45E5-B0D0-5B306C4AFD96}"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27</a:t>
            </a:fld>
            <a:endParaRPr lang="en-US"/>
          </a:p>
        </p:txBody>
      </p:sp>
    </p:spTree>
    <p:extLst>
      <p:ext uri="{BB962C8B-B14F-4D97-AF65-F5344CB8AC3E}">
        <p14:creationId xmlns:p14="http://schemas.microsoft.com/office/powerpoint/2010/main" val="3704036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55914" y="33090"/>
            <a:ext cx="10058400" cy="1450757"/>
          </a:xfrm>
        </p:spPr>
        <p:txBody>
          <a:bodyPr>
            <a:normAutofit/>
          </a:bodyPr>
          <a:lstStyle/>
          <a:p>
            <a:r>
              <a:rPr lang="en-US" sz="4000" dirty="0"/>
              <a:t>Vector Displays</a:t>
            </a:r>
            <a:endParaRPr lang="en-US" sz="4000" b="1" dirty="0"/>
          </a:p>
        </p:txBody>
      </p:sp>
      <p:sp>
        <p:nvSpPr>
          <p:cNvPr id="7" name="Content Placeholder 6"/>
          <p:cNvSpPr>
            <a:spLocks noGrp="1"/>
          </p:cNvSpPr>
          <p:nvPr>
            <p:ph idx="1"/>
          </p:nvPr>
        </p:nvSpPr>
        <p:spPr>
          <a:xfrm>
            <a:off x="1291054" y="1659185"/>
            <a:ext cx="9588120" cy="4800600"/>
          </a:xfrm>
        </p:spPr>
        <p:txBody>
          <a:bodyPr>
            <a:noAutofit/>
          </a:bodyPr>
          <a:lstStyle/>
          <a:p>
            <a:pPr fontAlgn="base">
              <a:lnSpc>
                <a:spcPct val="100000"/>
              </a:lnSpc>
            </a:pPr>
            <a:r>
              <a:rPr lang="en-US" sz="2400" dirty="0">
                <a:solidFill>
                  <a:srgbClr val="FF0000"/>
                </a:solidFill>
              </a:rPr>
              <a:t>Vector generator </a:t>
            </a:r>
            <a:r>
              <a:rPr lang="en-US" sz="2400" dirty="0"/>
              <a:t>then converts the digital co-ordinate value to analog voltages for beam deflection circuits that displace an electron beam which points on the CRT’s screen.</a:t>
            </a:r>
          </a:p>
          <a:p>
            <a:pPr fontAlgn="base">
              <a:lnSpc>
                <a:spcPct val="100000"/>
              </a:lnSpc>
            </a:pPr>
            <a:r>
              <a:rPr lang="en-US" sz="2400" dirty="0"/>
              <a:t>As beam is deflected from end point to end point hence this techniques is also called </a:t>
            </a:r>
            <a:r>
              <a:rPr lang="en-US" sz="2400" dirty="0">
                <a:solidFill>
                  <a:srgbClr val="FF0000"/>
                </a:solidFill>
              </a:rPr>
              <a:t>random scan</a:t>
            </a:r>
            <a:r>
              <a:rPr lang="en-US" sz="2400" dirty="0"/>
              <a:t>.</a:t>
            </a:r>
          </a:p>
          <a:p>
            <a:pPr fontAlgn="base">
              <a:lnSpc>
                <a:spcPct val="100000"/>
              </a:lnSpc>
            </a:pPr>
            <a:r>
              <a:rPr lang="en-US" sz="2400" dirty="0"/>
              <a:t>We know as beam strikes phosphors coated screen it emits light but that light decays after few milliseconds and therefore it is necessary to repeat through the display list to </a:t>
            </a:r>
            <a:r>
              <a:rPr lang="en-US" sz="2400" dirty="0">
                <a:solidFill>
                  <a:srgbClr val="FF0000"/>
                </a:solidFill>
              </a:rPr>
              <a:t>refresh the screen </a:t>
            </a:r>
            <a:r>
              <a:rPr lang="en-US" sz="2400" dirty="0"/>
              <a:t>at least </a:t>
            </a:r>
            <a:r>
              <a:rPr lang="en-US" sz="2400" dirty="0">
                <a:solidFill>
                  <a:srgbClr val="FF0000"/>
                </a:solidFill>
              </a:rPr>
              <a:t>30 times per second </a:t>
            </a:r>
            <a:r>
              <a:rPr lang="en-US" sz="2400" dirty="0"/>
              <a:t>to avoid flicker.</a:t>
            </a:r>
          </a:p>
          <a:p>
            <a:pPr fontAlgn="base">
              <a:lnSpc>
                <a:spcPct val="100000"/>
              </a:lnSpc>
            </a:pPr>
            <a:r>
              <a:rPr lang="en-US" sz="2400" dirty="0"/>
              <a:t>As display buffer is used to store display list and used to refreshing, it is also called </a:t>
            </a:r>
            <a:r>
              <a:rPr lang="en-US" sz="2400" dirty="0">
                <a:solidFill>
                  <a:srgbClr val="FF0000"/>
                </a:solidFill>
              </a:rPr>
              <a:t>refresh buffer</a:t>
            </a:r>
            <a:r>
              <a:rPr lang="en-US" sz="2400" dirty="0"/>
              <a:t>.</a:t>
            </a:r>
          </a:p>
        </p:txBody>
      </p:sp>
      <p:sp>
        <p:nvSpPr>
          <p:cNvPr id="8" name="Date Placeholder 7"/>
          <p:cNvSpPr>
            <a:spLocks noGrp="1"/>
          </p:cNvSpPr>
          <p:nvPr>
            <p:ph type="dt" sz="half" idx="10"/>
          </p:nvPr>
        </p:nvSpPr>
        <p:spPr/>
        <p:txBody>
          <a:bodyPr/>
          <a:lstStyle/>
          <a:p>
            <a:fld id="{0AADBC8C-3B86-4D79-9210-9CFD5E240BCB}"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28</a:t>
            </a:fld>
            <a:endParaRPr lang="en-US"/>
          </a:p>
        </p:txBody>
      </p:sp>
    </p:spTree>
    <p:extLst>
      <p:ext uri="{BB962C8B-B14F-4D97-AF65-F5344CB8AC3E}">
        <p14:creationId xmlns:p14="http://schemas.microsoft.com/office/powerpoint/2010/main" val="1929752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Vector Displays</a:t>
            </a:r>
            <a:endParaRPr lang="en-US" sz="4000" b="1" dirty="0"/>
          </a:p>
        </p:txBody>
      </p:sp>
      <p:sp>
        <p:nvSpPr>
          <p:cNvPr id="7" name="Content Placeholder 6"/>
          <p:cNvSpPr>
            <a:spLocks noGrp="1"/>
          </p:cNvSpPr>
          <p:nvPr>
            <p:ph idx="1"/>
          </p:nvPr>
        </p:nvSpPr>
        <p:spPr/>
        <p:txBody>
          <a:bodyPr>
            <a:noAutofit/>
          </a:bodyPr>
          <a:lstStyle/>
          <a:p>
            <a:pPr>
              <a:lnSpc>
                <a:spcPct val="100000"/>
              </a:lnSpc>
            </a:pPr>
            <a:r>
              <a:rPr lang="en-US" sz="2400" dirty="0"/>
              <a:t>If we want line between point p1 &amp; p2 then we directly drive the beam deflection circuitry which focus beam directly from point p1 to p2</a:t>
            </a:r>
          </a:p>
          <a:p>
            <a:pPr>
              <a:lnSpc>
                <a:spcPct val="100000"/>
              </a:lnSpc>
            </a:pPr>
            <a:r>
              <a:rPr lang="en-US" sz="2400" dirty="0"/>
              <a:t>If we do not want to display line from p1 to p2 and just move then we can blank the beam as we move it.</a:t>
            </a:r>
          </a:p>
          <a:p>
            <a:pPr>
              <a:lnSpc>
                <a:spcPct val="100000"/>
              </a:lnSpc>
            </a:pPr>
            <a:r>
              <a:rPr lang="en-US" sz="2400" dirty="0"/>
              <a:t>To move the beam across the CRT, the information about both </a:t>
            </a:r>
            <a:r>
              <a:rPr lang="en-US" sz="2400" dirty="0">
                <a:solidFill>
                  <a:srgbClr val="FF0000"/>
                </a:solidFill>
              </a:rPr>
              <a:t>magnitude</a:t>
            </a:r>
            <a:r>
              <a:rPr lang="en-US" sz="2400" dirty="0"/>
              <a:t> and </a:t>
            </a:r>
            <a:r>
              <a:rPr lang="en-US" sz="2400" dirty="0">
                <a:solidFill>
                  <a:srgbClr val="FF0000"/>
                </a:solidFill>
              </a:rPr>
              <a:t>direction</a:t>
            </a:r>
            <a:r>
              <a:rPr lang="en-US" sz="2400" dirty="0"/>
              <a:t> is required. This information is generated with the help of vector graphics generator.</a:t>
            </a:r>
            <a:endParaRPr lang="en-US" sz="2400" dirty="0">
              <a:solidFill>
                <a:srgbClr val="FF0000"/>
              </a:solidFill>
            </a:endParaRPr>
          </a:p>
        </p:txBody>
      </p:sp>
      <p:sp>
        <p:nvSpPr>
          <p:cNvPr id="8" name="Date Placeholder 7"/>
          <p:cNvSpPr>
            <a:spLocks noGrp="1"/>
          </p:cNvSpPr>
          <p:nvPr>
            <p:ph type="dt" sz="half" idx="10"/>
          </p:nvPr>
        </p:nvSpPr>
        <p:spPr/>
        <p:txBody>
          <a:bodyPr/>
          <a:lstStyle/>
          <a:p>
            <a:fld id="{ECB2B065-B7E0-43DB-AE05-6AEE29E6862F}"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29</a:t>
            </a:fld>
            <a:endParaRPr lang="en-US"/>
          </a:p>
        </p:txBody>
      </p:sp>
    </p:spTree>
    <p:extLst>
      <p:ext uri="{BB962C8B-B14F-4D97-AF65-F5344CB8AC3E}">
        <p14:creationId xmlns:p14="http://schemas.microsoft.com/office/powerpoint/2010/main" val="46547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Raster Displays</a:t>
            </a:r>
            <a:endParaRPr lang="en-US"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6941" y="1806186"/>
            <a:ext cx="7527833" cy="4306132"/>
          </a:xfrm>
        </p:spPr>
      </p:pic>
      <p:sp>
        <p:nvSpPr>
          <p:cNvPr id="8" name="Date Placeholder 7"/>
          <p:cNvSpPr>
            <a:spLocks noGrp="1"/>
          </p:cNvSpPr>
          <p:nvPr>
            <p:ph type="dt" sz="half" idx="10"/>
          </p:nvPr>
        </p:nvSpPr>
        <p:spPr/>
        <p:txBody>
          <a:bodyPr/>
          <a:lstStyle/>
          <a:p>
            <a:fld id="{C90B1AF2-77FD-4B0D-B2D0-8896AB3BC133}"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30</a:t>
            </a:fld>
            <a:endParaRPr lang="en-US"/>
          </a:p>
        </p:txBody>
      </p:sp>
    </p:spTree>
    <p:extLst>
      <p:ext uri="{BB962C8B-B14F-4D97-AF65-F5344CB8AC3E}">
        <p14:creationId xmlns:p14="http://schemas.microsoft.com/office/powerpoint/2010/main" val="2126506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Raster Displays</a:t>
            </a:r>
            <a:endParaRPr lang="en-US" sz="4000" b="1" dirty="0"/>
          </a:p>
        </p:txBody>
      </p:sp>
      <p:sp>
        <p:nvSpPr>
          <p:cNvPr id="7" name="Content Placeholder 6"/>
          <p:cNvSpPr>
            <a:spLocks noGrp="1"/>
          </p:cNvSpPr>
          <p:nvPr>
            <p:ph idx="1"/>
          </p:nvPr>
        </p:nvSpPr>
        <p:spPr/>
        <p:txBody>
          <a:bodyPr>
            <a:noAutofit/>
          </a:bodyPr>
          <a:lstStyle/>
          <a:p>
            <a:pPr fontAlgn="base">
              <a:lnSpc>
                <a:spcPct val="100000"/>
              </a:lnSpc>
            </a:pPr>
            <a:r>
              <a:rPr lang="en-US" sz="2400" dirty="0"/>
              <a:t>The architecture of </a:t>
            </a:r>
            <a:r>
              <a:rPr lang="en-US" sz="2400" dirty="0">
                <a:solidFill>
                  <a:srgbClr val="FF0000"/>
                </a:solidFill>
              </a:rPr>
              <a:t>Raster display</a:t>
            </a:r>
            <a:r>
              <a:rPr lang="en-US" sz="2400" dirty="0"/>
              <a:t>. It consists of a display controller, CPU, video controller, refreshes buffer, keyboard, mouse, and CRT.</a:t>
            </a:r>
          </a:p>
          <a:p>
            <a:pPr fontAlgn="base">
              <a:lnSpc>
                <a:spcPct val="100000"/>
              </a:lnSpc>
            </a:pPr>
            <a:r>
              <a:rPr lang="en-US" sz="2400" dirty="0"/>
              <a:t>The display image is stored in the form of </a:t>
            </a:r>
            <a:r>
              <a:rPr lang="en-US" sz="2400" dirty="0">
                <a:solidFill>
                  <a:srgbClr val="FF0000"/>
                </a:solidFill>
              </a:rPr>
              <a:t>1’s </a:t>
            </a:r>
            <a:r>
              <a:rPr lang="en-US" sz="2400" dirty="0"/>
              <a:t>and </a:t>
            </a:r>
            <a:r>
              <a:rPr lang="en-US" sz="2400" dirty="0">
                <a:solidFill>
                  <a:srgbClr val="FF0000"/>
                </a:solidFill>
              </a:rPr>
              <a:t>0’s</a:t>
            </a:r>
            <a:r>
              <a:rPr lang="en-US" sz="2400" dirty="0"/>
              <a:t> in the refresh buffer.</a:t>
            </a:r>
          </a:p>
          <a:p>
            <a:pPr fontAlgn="base">
              <a:lnSpc>
                <a:spcPct val="100000"/>
              </a:lnSpc>
            </a:pPr>
            <a:r>
              <a:rPr lang="en-US" sz="2400" dirty="0"/>
              <a:t>The </a:t>
            </a:r>
            <a:r>
              <a:rPr lang="en-US" sz="2400" dirty="0">
                <a:solidFill>
                  <a:srgbClr val="FF0000"/>
                </a:solidFill>
              </a:rPr>
              <a:t>video controller </a:t>
            </a:r>
            <a:r>
              <a:rPr lang="en-US" sz="2400" dirty="0"/>
              <a:t>reads this refresh buffer and produces the actual image on screen.</a:t>
            </a:r>
          </a:p>
          <a:p>
            <a:pPr fontAlgn="base">
              <a:lnSpc>
                <a:spcPct val="100000"/>
              </a:lnSpc>
            </a:pPr>
            <a:r>
              <a:rPr lang="en-US" sz="2400" dirty="0"/>
              <a:t>It will </a:t>
            </a:r>
            <a:r>
              <a:rPr lang="en-US" sz="2400" dirty="0">
                <a:solidFill>
                  <a:srgbClr val="FF0000"/>
                </a:solidFill>
              </a:rPr>
              <a:t>scan one line at a time</a:t>
            </a:r>
            <a:r>
              <a:rPr lang="en-US" sz="2400" dirty="0"/>
              <a:t> from top to bottom &amp; then back to the top.</a:t>
            </a:r>
          </a:p>
        </p:txBody>
      </p:sp>
      <p:sp>
        <p:nvSpPr>
          <p:cNvPr id="8" name="Date Placeholder 7"/>
          <p:cNvSpPr>
            <a:spLocks noGrp="1"/>
          </p:cNvSpPr>
          <p:nvPr>
            <p:ph type="dt" sz="half" idx="10"/>
          </p:nvPr>
        </p:nvSpPr>
        <p:spPr/>
        <p:txBody>
          <a:bodyPr/>
          <a:lstStyle/>
          <a:p>
            <a:fld id="{0BC13864-8474-4F92-9A45-0D2F13BA2597}"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31</a:t>
            </a:fld>
            <a:endParaRPr lang="en-US"/>
          </a:p>
        </p:txBody>
      </p:sp>
    </p:spTree>
    <p:extLst>
      <p:ext uri="{BB962C8B-B14F-4D97-AF65-F5344CB8AC3E}">
        <p14:creationId xmlns:p14="http://schemas.microsoft.com/office/powerpoint/2010/main" val="26281835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Raster Displays</a:t>
            </a:r>
            <a:endParaRPr lang="en-US" sz="4000" b="1"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3415" y="1870395"/>
            <a:ext cx="7391400" cy="4456354"/>
          </a:xfrm>
        </p:spPr>
      </p:pic>
      <p:sp>
        <p:nvSpPr>
          <p:cNvPr id="8" name="Date Placeholder 7"/>
          <p:cNvSpPr>
            <a:spLocks noGrp="1"/>
          </p:cNvSpPr>
          <p:nvPr>
            <p:ph type="dt" sz="half" idx="10"/>
          </p:nvPr>
        </p:nvSpPr>
        <p:spPr/>
        <p:txBody>
          <a:bodyPr/>
          <a:lstStyle/>
          <a:p>
            <a:fld id="{CBD8BA9F-7E68-43FA-AA85-540061F4227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32</a:t>
            </a:fld>
            <a:endParaRPr lang="en-US"/>
          </a:p>
        </p:txBody>
      </p:sp>
    </p:spTree>
    <p:extLst>
      <p:ext uri="{BB962C8B-B14F-4D97-AF65-F5344CB8AC3E}">
        <p14:creationId xmlns:p14="http://schemas.microsoft.com/office/powerpoint/2010/main" val="277446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Raster Displays</a:t>
            </a:r>
            <a:endParaRPr lang="en-US" sz="4000" b="1" dirty="0"/>
          </a:p>
        </p:txBody>
      </p:sp>
      <p:sp>
        <p:nvSpPr>
          <p:cNvPr id="7" name="Content Placeholder 6"/>
          <p:cNvSpPr>
            <a:spLocks noGrp="1"/>
          </p:cNvSpPr>
          <p:nvPr>
            <p:ph idx="1"/>
          </p:nvPr>
        </p:nvSpPr>
        <p:spPr>
          <a:xfrm>
            <a:off x="2013758" y="1809997"/>
            <a:ext cx="7886700" cy="3764894"/>
          </a:xfrm>
        </p:spPr>
        <p:txBody>
          <a:bodyPr>
            <a:noAutofit/>
          </a:bodyPr>
          <a:lstStyle/>
          <a:p>
            <a:pPr fontAlgn="base">
              <a:lnSpc>
                <a:spcPct val="100000"/>
              </a:lnSpc>
            </a:pPr>
            <a:r>
              <a:rPr lang="en-US" sz="2400" dirty="0"/>
              <a:t>The horizontal and vertical deflection signals are generated to move the beam all over the screen in a pattern shown in Image.</a:t>
            </a:r>
          </a:p>
          <a:p>
            <a:pPr lvl="1" fontAlgn="base">
              <a:lnSpc>
                <a:spcPct val="100000"/>
              </a:lnSpc>
            </a:pPr>
            <a:r>
              <a:rPr lang="en-US" dirty="0"/>
              <a:t>Here beam is swept back &amp; forth from left to the right.</a:t>
            </a:r>
          </a:p>
          <a:p>
            <a:pPr lvl="1" fontAlgn="base">
              <a:lnSpc>
                <a:spcPct val="100000"/>
              </a:lnSpc>
            </a:pPr>
            <a:r>
              <a:rPr lang="en-US" dirty="0"/>
              <a:t>When beam is moved from left to right it is ON.</a:t>
            </a:r>
          </a:p>
          <a:p>
            <a:pPr lvl="1" fontAlgn="base">
              <a:lnSpc>
                <a:spcPct val="100000"/>
              </a:lnSpc>
            </a:pPr>
            <a:r>
              <a:rPr lang="en-US" dirty="0"/>
              <a:t>When beam is moved from right to left it is OFF </a:t>
            </a:r>
          </a:p>
          <a:p>
            <a:pPr lvl="1" fontAlgn="base">
              <a:lnSpc>
                <a:spcPct val="100000"/>
              </a:lnSpc>
            </a:pPr>
            <a:r>
              <a:rPr lang="en-US" dirty="0"/>
              <a:t>The process of moving beam from right to left after completion of row is known as </a:t>
            </a:r>
            <a:r>
              <a:rPr lang="en-US" dirty="0">
                <a:solidFill>
                  <a:srgbClr val="FF0000"/>
                </a:solidFill>
              </a:rPr>
              <a:t>Horizontal Retrace</a:t>
            </a:r>
            <a:r>
              <a:rPr lang="en-US" b="1" dirty="0"/>
              <a:t>.</a:t>
            </a:r>
          </a:p>
          <a:p>
            <a:pPr lvl="1" fontAlgn="base">
              <a:lnSpc>
                <a:spcPct val="100000"/>
              </a:lnSpc>
            </a:pPr>
            <a:r>
              <a:rPr lang="en-US" dirty="0"/>
              <a:t>When beam is reached at the bottom of the screen. It is made OFF and rapidly retraced back to the top left to start again and process of moving back to top is known as </a:t>
            </a:r>
            <a:r>
              <a:rPr lang="en-US" dirty="0">
                <a:solidFill>
                  <a:srgbClr val="FF0000"/>
                </a:solidFill>
              </a:rPr>
              <a:t>Vertical Retrace</a:t>
            </a:r>
            <a:r>
              <a:rPr lang="en-US" b="1" dirty="0"/>
              <a:t>.</a:t>
            </a:r>
            <a:endParaRPr lang="en-US" dirty="0"/>
          </a:p>
          <a:p>
            <a:pPr lvl="1" fontAlgn="base">
              <a:lnSpc>
                <a:spcPct val="100000"/>
              </a:lnSpc>
            </a:pPr>
            <a:endParaRPr lang="en-US" dirty="0"/>
          </a:p>
          <a:p>
            <a:pPr fontAlgn="base">
              <a:lnSpc>
                <a:spcPct val="100000"/>
              </a:lnSpc>
            </a:pPr>
            <a:endParaRPr lang="en-US" sz="2400" dirty="0"/>
          </a:p>
        </p:txBody>
      </p:sp>
      <p:sp>
        <p:nvSpPr>
          <p:cNvPr id="8" name="Date Placeholder 7"/>
          <p:cNvSpPr>
            <a:spLocks noGrp="1"/>
          </p:cNvSpPr>
          <p:nvPr>
            <p:ph type="dt" sz="half" idx="10"/>
          </p:nvPr>
        </p:nvSpPr>
        <p:spPr/>
        <p:txBody>
          <a:bodyPr/>
          <a:lstStyle/>
          <a:p>
            <a:fld id="{557DF57B-6481-4F4A-B21A-2F6D78E9BC4D}"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33</a:t>
            </a:fld>
            <a:endParaRPr lang="en-US"/>
          </a:p>
        </p:txBody>
      </p:sp>
    </p:spTree>
    <p:extLst>
      <p:ext uri="{BB962C8B-B14F-4D97-AF65-F5344CB8AC3E}">
        <p14:creationId xmlns:p14="http://schemas.microsoft.com/office/powerpoint/2010/main" val="1355857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Raster Displays</a:t>
            </a:r>
            <a:endParaRPr lang="en-US" sz="4000" b="1" dirty="0"/>
          </a:p>
        </p:txBody>
      </p:sp>
      <p:sp>
        <p:nvSpPr>
          <p:cNvPr id="7" name="Content Placeholder 6"/>
          <p:cNvSpPr>
            <a:spLocks noGrp="1"/>
          </p:cNvSpPr>
          <p:nvPr>
            <p:ph idx="1"/>
          </p:nvPr>
        </p:nvSpPr>
        <p:spPr/>
        <p:txBody>
          <a:bodyPr>
            <a:noAutofit/>
          </a:bodyPr>
          <a:lstStyle/>
          <a:p>
            <a:pPr fontAlgn="base">
              <a:lnSpc>
                <a:spcPct val="100000"/>
              </a:lnSpc>
            </a:pPr>
            <a:r>
              <a:rPr lang="en-US" sz="2400" dirty="0"/>
              <a:t>The screen image is maintained by repeatedly scanning the same image by </a:t>
            </a:r>
            <a:r>
              <a:rPr lang="en-US" sz="2400" dirty="0">
                <a:solidFill>
                  <a:srgbClr val="FF0000"/>
                </a:solidFill>
              </a:rPr>
              <a:t>refreshing of Screen</a:t>
            </a:r>
            <a:r>
              <a:rPr lang="en-US" sz="2400" dirty="0"/>
              <a:t>.</a:t>
            </a:r>
          </a:p>
          <a:p>
            <a:pPr fontAlgn="base">
              <a:lnSpc>
                <a:spcPct val="100000"/>
              </a:lnSpc>
            </a:pPr>
            <a:r>
              <a:rPr lang="en-US" sz="2400" dirty="0">
                <a:solidFill>
                  <a:srgbClr val="FF0000"/>
                </a:solidFill>
              </a:rPr>
              <a:t>Frame Buffer </a:t>
            </a:r>
            <a:r>
              <a:rPr lang="en-US" sz="2400" dirty="0"/>
              <a:t>is a special area of memory is dedicated to graphics. It holds set of </a:t>
            </a:r>
            <a:r>
              <a:rPr lang="en-US" sz="2400" dirty="0">
                <a:solidFill>
                  <a:srgbClr val="FF0000"/>
                </a:solidFill>
              </a:rPr>
              <a:t>intensity values </a:t>
            </a:r>
            <a:r>
              <a:rPr lang="en-US" sz="2400" dirty="0"/>
              <a:t>for all the screen points</a:t>
            </a:r>
          </a:p>
          <a:p>
            <a:pPr fontAlgn="base">
              <a:lnSpc>
                <a:spcPct val="100000"/>
              </a:lnSpc>
            </a:pPr>
            <a:r>
              <a:rPr lang="en-US" sz="2400" dirty="0"/>
              <a:t>That intensity is retrieved from frame buffer and display on screen one row at a time.</a:t>
            </a:r>
          </a:p>
          <a:p>
            <a:pPr fontAlgn="base">
              <a:lnSpc>
                <a:spcPct val="100000"/>
              </a:lnSpc>
            </a:pPr>
            <a:r>
              <a:rPr lang="en-US" sz="2400" dirty="0"/>
              <a:t>Each screen point referred as </a:t>
            </a:r>
            <a:r>
              <a:rPr lang="en-US" sz="2400" dirty="0">
                <a:solidFill>
                  <a:srgbClr val="FF0000"/>
                </a:solidFill>
              </a:rPr>
              <a:t>pixel</a:t>
            </a:r>
            <a:r>
              <a:rPr lang="en-US" sz="2400" dirty="0"/>
              <a:t> or </a:t>
            </a:r>
            <a:r>
              <a:rPr lang="en-US" sz="2400" dirty="0" err="1">
                <a:solidFill>
                  <a:srgbClr val="FF0000"/>
                </a:solidFill>
              </a:rPr>
              <a:t>Pel</a:t>
            </a:r>
            <a:r>
              <a:rPr lang="en-US" sz="2400" dirty="0"/>
              <a:t> (Picture Element).</a:t>
            </a:r>
          </a:p>
          <a:p>
            <a:pPr fontAlgn="base">
              <a:lnSpc>
                <a:spcPct val="100000"/>
              </a:lnSpc>
            </a:pPr>
            <a:r>
              <a:rPr lang="en-US" sz="2400" dirty="0"/>
              <a:t>Each pixel can be specified by its row and column Numbers.</a:t>
            </a:r>
          </a:p>
        </p:txBody>
      </p:sp>
      <p:sp>
        <p:nvSpPr>
          <p:cNvPr id="8" name="Date Placeholder 7"/>
          <p:cNvSpPr>
            <a:spLocks noGrp="1"/>
          </p:cNvSpPr>
          <p:nvPr>
            <p:ph type="dt" sz="half" idx="10"/>
          </p:nvPr>
        </p:nvSpPr>
        <p:spPr/>
        <p:txBody>
          <a:bodyPr/>
          <a:lstStyle/>
          <a:p>
            <a:fld id="{10F40328-0594-4B7C-9E04-2F0AF3DEBD7D}"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34</a:t>
            </a:fld>
            <a:endParaRPr lang="en-US"/>
          </a:p>
        </p:txBody>
      </p:sp>
    </p:spTree>
    <p:extLst>
      <p:ext uri="{BB962C8B-B14F-4D97-AF65-F5344CB8AC3E}">
        <p14:creationId xmlns:p14="http://schemas.microsoft.com/office/powerpoint/2010/main" val="3275551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097280" y="286604"/>
            <a:ext cx="10058400" cy="824442"/>
          </a:xfrm>
        </p:spPr>
        <p:txBody>
          <a:bodyPr>
            <a:normAutofit/>
          </a:bodyPr>
          <a:lstStyle/>
          <a:p>
            <a:r>
              <a:rPr lang="en-US" sz="4000" dirty="0"/>
              <a:t>Vector vs Raster Displays</a:t>
            </a:r>
            <a:endParaRPr lang="en-US" sz="4000" b="1" dirty="0"/>
          </a:p>
        </p:txBody>
      </p:sp>
      <p:pic>
        <p:nvPicPr>
          <p:cNvPr id="2" name="Content Placeholder 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7187" y="1111046"/>
            <a:ext cx="9507794" cy="5024283"/>
          </a:xfrm>
        </p:spPr>
      </p:pic>
      <p:sp>
        <p:nvSpPr>
          <p:cNvPr id="8" name="Date Placeholder 7"/>
          <p:cNvSpPr>
            <a:spLocks noGrp="1"/>
          </p:cNvSpPr>
          <p:nvPr>
            <p:ph type="dt" sz="half" idx="10"/>
          </p:nvPr>
        </p:nvSpPr>
        <p:spPr/>
        <p:txBody>
          <a:bodyPr/>
          <a:lstStyle/>
          <a:p>
            <a:fld id="{03D130CE-2760-418C-BE6C-A869C8CFB1A9}"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35</a:t>
            </a:fld>
            <a:endParaRPr lang="en-US"/>
          </a:p>
        </p:txBody>
      </p:sp>
    </p:spTree>
    <p:extLst>
      <p:ext uri="{BB962C8B-B14F-4D97-AF65-F5344CB8AC3E}">
        <p14:creationId xmlns:p14="http://schemas.microsoft.com/office/powerpoint/2010/main" val="683989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Color CRT Monitors</a:t>
            </a:r>
            <a:endParaRPr lang="en-US" sz="4000" b="1" dirty="0"/>
          </a:p>
        </p:txBody>
      </p:sp>
      <p:sp>
        <p:nvSpPr>
          <p:cNvPr id="7" name="Content Placeholder 6"/>
          <p:cNvSpPr>
            <a:spLocks noGrp="1"/>
          </p:cNvSpPr>
          <p:nvPr>
            <p:ph idx="1"/>
          </p:nvPr>
        </p:nvSpPr>
        <p:spPr/>
        <p:txBody>
          <a:bodyPr>
            <a:noAutofit/>
          </a:bodyPr>
          <a:lstStyle/>
          <a:p>
            <a:pPr>
              <a:lnSpc>
                <a:spcPct val="100000"/>
              </a:lnSpc>
            </a:pPr>
            <a:r>
              <a:rPr lang="en-US" dirty="0"/>
              <a:t>Displays color pictures by using combination of phosphors that emit different colored light.</a:t>
            </a:r>
          </a:p>
          <a:p>
            <a:pPr>
              <a:lnSpc>
                <a:spcPct val="100000"/>
              </a:lnSpc>
            </a:pPr>
            <a:r>
              <a:rPr lang="en-US" dirty="0"/>
              <a:t>Two techniques for producing color displays on CRT:</a:t>
            </a:r>
          </a:p>
          <a:p>
            <a:pPr lvl="1">
              <a:lnSpc>
                <a:spcPct val="100000"/>
              </a:lnSpc>
            </a:pPr>
            <a:r>
              <a:rPr lang="en-US" sz="2800" dirty="0"/>
              <a:t>Beam Penetration Method</a:t>
            </a:r>
          </a:p>
          <a:p>
            <a:pPr lvl="1">
              <a:lnSpc>
                <a:spcPct val="100000"/>
              </a:lnSpc>
            </a:pPr>
            <a:r>
              <a:rPr lang="en-US" sz="2800" dirty="0"/>
              <a:t>Shadow Mask Method</a:t>
            </a:r>
          </a:p>
        </p:txBody>
      </p:sp>
      <p:sp>
        <p:nvSpPr>
          <p:cNvPr id="8" name="Date Placeholder 7"/>
          <p:cNvSpPr>
            <a:spLocks noGrp="1"/>
          </p:cNvSpPr>
          <p:nvPr>
            <p:ph type="dt" sz="half" idx="10"/>
          </p:nvPr>
        </p:nvSpPr>
        <p:spPr/>
        <p:txBody>
          <a:bodyPr/>
          <a:lstStyle/>
          <a:p>
            <a:fld id="{43753AD3-A02D-47DF-84C3-9454ED736FCE}"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36</a:t>
            </a:fld>
            <a:endParaRPr lang="en-US"/>
          </a:p>
        </p:txBody>
      </p:sp>
    </p:spTree>
    <p:extLst>
      <p:ext uri="{BB962C8B-B14F-4D97-AF65-F5344CB8AC3E}">
        <p14:creationId xmlns:p14="http://schemas.microsoft.com/office/powerpoint/2010/main" val="317197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Beam Penetration Method</a:t>
            </a:r>
          </a:p>
        </p:txBody>
      </p:sp>
      <p:sp>
        <p:nvSpPr>
          <p:cNvPr id="7" name="Content Placeholder 6"/>
          <p:cNvSpPr>
            <a:spLocks noGrp="1"/>
          </p:cNvSpPr>
          <p:nvPr>
            <p:ph idx="1"/>
          </p:nvPr>
        </p:nvSpPr>
        <p:spPr/>
        <p:txBody>
          <a:bodyPr>
            <a:noAutofit/>
          </a:bodyPr>
          <a:lstStyle/>
          <a:p>
            <a:r>
              <a:rPr lang="en-US" sz="2300" dirty="0"/>
              <a:t>Used with </a:t>
            </a:r>
            <a:r>
              <a:rPr lang="en-US" sz="2300" i="1" dirty="0">
                <a:solidFill>
                  <a:srgbClr val="FF0000"/>
                </a:solidFill>
              </a:rPr>
              <a:t>random scan monitors</a:t>
            </a:r>
          </a:p>
          <a:p>
            <a:r>
              <a:rPr lang="en-US" sz="2300" dirty="0"/>
              <a:t>The screen has two layers of phosphor</a:t>
            </a:r>
            <a:r>
              <a:rPr lang="en-US" sz="2300" i="1" dirty="0"/>
              <a:t>: usually </a:t>
            </a:r>
            <a:r>
              <a:rPr lang="en-US" sz="2300" i="1" dirty="0">
                <a:solidFill>
                  <a:srgbClr val="FF0000"/>
                </a:solidFill>
              </a:rPr>
              <a:t>red</a:t>
            </a:r>
            <a:r>
              <a:rPr lang="en-US" sz="2300" i="1" dirty="0"/>
              <a:t> and </a:t>
            </a:r>
            <a:r>
              <a:rPr lang="en-US" sz="2300" i="1" dirty="0">
                <a:solidFill>
                  <a:srgbClr val="00B050"/>
                </a:solidFill>
              </a:rPr>
              <a:t>green</a:t>
            </a:r>
          </a:p>
          <a:p>
            <a:r>
              <a:rPr lang="en-US" sz="2300" dirty="0"/>
              <a:t>Color depends on </a:t>
            </a:r>
            <a:r>
              <a:rPr lang="en-US" sz="2300" dirty="0">
                <a:solidFill>
                  <a:srgbClr val="FF0000"/>
                </a:solidFill>
              </a:rPr>
              <a:t>how far </a:t>
            </a:r>
            <a:r>
              <a:rPr lang="en-US" sz="2300" dirty="0"/>
              <a:t>the electron beam penetrates through the two layers</a:t>
            </a:r>
          </a:p>
          <a:p>
            <a:endParaRPr lang="en-US" sz="2300" i="1" dirty="0"/>
          </a:p>
        </p:txBody>
      </p:sp>
      <p:sp>
        <p:nvSpPr>
          <p:cNvPr id="8" name="Date Placeholder 7"/>
          <p:cNvSpPr>
            <a:spLocks noGrp="1"/>
          </p:cNvSpPr>
          <p:nvPr>
            <p:ph type="dt" sz="half" idx="10"/>
          </p:nvPr>
        </p:nvSpPr>
        <p:spPr/>
        <p:txBody>
          <a:bodyPr/>
          <a:lstStyle/>
          <a:p>
            <a:fld id="{6E652070-A05F-42A7-BB7F-A821B69D8DA3}"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37</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2800" y="3408219"/>
            <a:ext cx="5943600" cy="2531213"/>
          </a:xfrm>
          <a:prstGeom prst="rect">
            <a:avLst/>
          </a:prstGeom>
        </p:spPr>
      </p:pic>
    </p:spTree>
    <p:extLst>
      <p:ext uri="{BB962C8B-B14F-4D97-AF65-F5344CB8AC3E}">
        <p14:creationId xmlns:p14="http://schemas.microsoft.com/office/powerpoint/2010/main" val="1246659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US" sz="4000" dirty="0"/>
              <a:t>Beam Penetration Method(cont.)</a:t>
            </a:r>
          </a:p>
        </p:txBody>
      </p:sp>
      <p:sp>
        <p:nvSpPr>
          <p:cNvPr id="7" name="Content Placeholder 6"/>
          <p:cNvSpPr>
            <a:spLocks noGrp="1"/>
          </p:cNvSpPr>
          <p:nvPr>
            <p:ph idx="1"/>
          </p:nvPr>
        </p:nvSpPr>
        <p:spPr/>
        <p:txBody>
          <a:bodyPr>
            <a:noAutofit/>
          </a:bodyPr>
          <a:lstStyle/>
          <a:p>
            <a:pPr>
              <a:lnSpc>
                <a:spcPct val="100000"/>
              </a:lnSpc>
            </a:pPr>
            <a:r>
              <a:rPr lang="en-US" dirty="0"/>
              <a:t>The speed of electrons – beam acceleration voltage.</a:t>
            </a:r>
          </a:p>
          <a:p>
            <a:pPr>
              <a:lnSpc>
                <a:spcPct val="100000"/>
              </a:lnSpc>
            </a:pPr>
            <a:r>
              <a:rPr lang="en-US" dirty="0"/>
              <a:t>Slow Electrons       </a:t>
            </a:r>
            <a:r>
              <a:rPr lang="en-US" i="1" dirty="0"/>
              <a:t>Red</a:t>
            </a:r>
            <a:r>
              <a:rPr lang="en-US" dirty="0"/>
              <a:t> color</a:t>
            </a:r>
          </a:p>
          <a:p>
            <a:pPr>
              <a:lnSpc>
                <a:spcPct val="100000"/>
              </a:lnSpc>
            </a:pPr>
            <a:r>
              <a:rPr lang="en-US" dirty="0"/>
              <a:t>Fast Electrons        </a:t>
            </a:r>
            <a:r>
              <a:rPr lang="en-US" i="1" dirty="0"/>
              <a:t>Green</a:t>
            </a:r>
            <a:r>
              <a:rPr lang="en-US" dirty="0"/>
              <a:t> color</a:t>
            </a:r>
          </a:p>
          <a:p>
            <a:pPr>
              <a:lnSpc>
                <a:spcPct val="100000"/>
              </a:lnSpc>
            </a:pPr>
            <a:r>
              <a:rPr lang="en-US" dirty="0"/>
              <a:t>Intermediate Speed Electrons       </a:t>
            </a:r>
            <a:r>
              <a:rPr lang="en-US" i="1" dirty="0"/>
              <a:t>Yellow</a:t>
            </a:r>
            <a:r>
              <a:rPr lang="en-US" dirty="0"/>
              <a:t> and </a:t>
            </a:r>
            <a:r>
              <a:rPr lang="en-US" i="1" dirty="0"/>
              <a:t>orange</a:t>
            </a:r>
            <a:r>
              <a:rPr lang="en-US" dirty="0"/>
              <a:t> colors</a:t>
            </a:r>
          </a:p>
          <a:p>
            <a:pPr>
              <a:lnSpc>
                <a:spcPct val="100000"/>
              </a:lnSpc>
            </a:pPr>
            <a:r>
              <a:rPr lang="en-US" dirty="0"/>
              <a:t>Quality of Picture is </a:t>
            </a:r>
            <a:r>
              <a:rPr lang="en-US" i="1" dirty="0"/>
              <a:t>not so good </a:t>
            </a:r>
            <a:r>
              <a:rPr lang="en-US" dirty="0"/>
              <a:t>and is </a:t>
            </a:r>
            <a:r>
              <a:rPr lang="en-US" i="1" dirty="0"/>
              <a:t>inexpensive</a:t>
            </a:r>
            <a:r>
              <a:rPr lang="en-US" dirty="0"/>
              <a:t>.</a:t>
            </a:r>
          </a:p>
          <a:p>
            <a:pPr>
              <a:lnSpc>
                <a:spcPct val="100000"/>
              </a:lnSpc>
            </a:pPr>
            <a:r>
              <a:rPr lang="en-US" dirty="0"/>
              <a:t>Can display only </a:t>
            </a:r>
            <a:r>
              <a:rPr lang="en-US" i="1" dirty="0"/>
              <a:t>four colors</a:t>
            </a:r>
            <a:r>
              <a:rPr lang="en-US" dirty="0"/>
              <a:t>.</a:t>
            </a:r>
          </a:p>
        </p:txBody>
      </p:sp>
      <p:sp>
        <p:nvSpPr>
          <p:cNvPr id="8" name="Date Placeholder 7"/>
          <p:cNvSpPr>
            <a:spLocks noGrp="1"/>
          </p:cNvSpPr>
          <p:nvPr>
            <p:ph type="dt" sz="half" idx="10"/>
          </p:nvPr>
        </p:nvSpPr>
        <p:spPr/>
        <p:txBody>
          <a:bodyPr/>
          <a:lstStyle/>
          <a:p>
            <a:fld id="{CEF6C030-AA2D-4941-AB72-AEE2DB2813D0}" type="datetime5">
              <a:rPr lang="en-US" smtClean="0"/>
              <a:t>30-Jun-26</a:t>
            </a:fld>
            <a:endParaRPr lang="en-US"/>
          </a:p>
        </p:txBody>
      </p:sp>
      <p:sp>
        <p:nvSpPr>
          <p:cNvPr id="10" name="Footer Placeholder 9"/>
          <p:cNvSpPr>
            <a:spLocks noGrp="1"/>
          </p:cNvSpPr>
          <p:nvPr>
            <p:ph type="ftr" sz="quarter" idx="11"/>
          </p:nvPr>
        </p:nvSpPr>
        <p:spPr/>
        <p:txBody>
          <a:bodyPr/>
          <a:lstStyle/>
          <a:p>
            <a:r>
              <a:rPr lang="en-US"/>
              <a:t>Md. Manirujjaman</a:t>
            </a:r>
          </a:p>
        </p:txBody>
      </p:sp>
      <p:sp>
        <p:nvSpPr>
          <p:cNvPr id="9" name="Slide Number Placeholder 8"/>
          <p:cNvSpPr>
            <a:spLocks noGrp="1"/>
          </p:cNvSpPr>
          <p:nvPr>
            <p:ph type="sldNum" sz="quarter" idx="12"/>
          </p:nvPr>
        </p:nvSpPr>
        <p:spPr/>
        <p:txBody>
          <a:bodyPr/>
          <a:lstStyle/>
          <a:p>
            <a:fld id="{DE6E8FC1-9A27-46F0-BBDE-1A86A3068DFB}" type="slidenum">
              <a:rPr lang="en-US" smtClean="0"/>
              <a:pPr/>
              <a:t>38</a:t>
            </a:fld>
            <a:endParaRPr lang="en-US"/>
          </a:p>
        </p:txBody>
      </p:sp>
      <p:sp>
        <p:nvSpPr>
          <p:cNvPr id="11" name="Right Arrow 10"/>
          <p:cNvSpPr/>
          <p:nvPr/>
        </p:nvSpPr>
        <p:spPr>
          <a:xfrm>
            <a:off x="4648200" y="25146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4648200" y="30480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6858000" y="3581400"/>
            <a:ext cx="304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7546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6C91F0-95E6-EC69-31D8-EA62CD4D7D82}"/>
              </a:ext>
            </a:extLst>
          </p:cNvPr>
          <p:cNvSpPr txBox="1"/>
          <p:nvPr/>
        </p:nvSpPr>
        <p:spPr>
          <a:xfrm>
            <a:off x="3942734" y="2627049"/>
            <a:ext cx="4031809" cy="1200329"/>
          </a:xfrm>
          <a:prstGeom prst="rect">
            <a:avLst/>
          </a:prstGeom>
          <a:noFill/>
        </p:spPr>
        <p:txBody>
          <a:bodyPr wrap="none" rtlCol="0">
            <a:spAutoFit/>
          </a:bodyPr>
          <a:lstStyle/>
          <a:p>
            <a:r>
              <a:rPr lang="en-US" sz="7200" dirty="0"/>
              <a:t>Thank You</a:t>
            </a:r>
          </a:p>
        </p:txBody>
      </p:sp>
      <p:sp>
        <p:nvSpPr>
          <p:cNvPr id="3" name="Date Placeholder 2">
            <a:extLst>
              <a:ext uri="{FF2B5EF4-FFF2-40B4-BE49-F238E27FC236}">
                <a16:creationId xmlns:a16="http://schemas.microsoft.com/office/drawing/2014/main" id="{114A7C79-AF04-0BA8-2A29-34AFE6012473}"/>
              </a:ext>
            </a:extLst>
          </p:cNvPr>
          <p:cNvSpPr>
            <a:spLocks noGrp="1"/>
          </p:cNvSpPr>
          <p:nvPr>
            <p:ph type="dt" sz="half" idx="10"/>
          </p:nvPr>
        </p:nvSpPr>
        <p:spPr/>
        <p:txBody>
          <a:bodyPr/>
          <a:lstStyle/>
          <a:p>
            <a:fld id="{BABBA79D-F5A9-4744-9788-10C62809C9E9}" type="datetime5">
              <a:rPr lang="en-US" smtClean="0"/>
              <a:t>30-Jun-26</a:t>
            </a:fld>
            <a:endParaRPr lang="en-US"/>
          </a:p>
        </p:txBody>
      </p:sp>
      <p:sp>
        <p:nvSpPr>
          <p:cNvPr id="4" name="Footer Placeholder 3">
            <a:extLst>
              <a:ext uri="{FF2B5EF4-FFF2-40B4-BE49-F238E27FC236}">
                <a16:creationId xmlns:a16="http://schemas.microsoft.com/office/drawing/2014/main" id="{9632F68E-BD81-ABAB-0E40-64AE72EDDEDF}"/>
              </a:ext>
            </a:extLst>
          </p:cNvPr>
          <p:cNvSpPr>
            <a:spLocks noGrp="1"/>
          </p:cNvSpPr>
          <p:nvPr>
            <p:ph type="ftr" sz="quarter" idx="11"/>
          </p:nvPr>
        </p:nvSpPr>
        <p:spPr/>
        <p:txBody>
          <a:bodyPr/>
          <a:lstStyle/>
          <a:p>
            <a:r>
              <a:rPr lang="en-US"/>
              <a:t>Md. Manirujjaman</a:t>
            </a:r>
          </a:p>
        </p:txBody>
      </p:sp>
      <p:sp>
        <p:nvSpPr>
          <p:cNvPr id="5" name="Slide Number Placeholder 4">
            <a:extLst>
              <a:ext uri="{FF2B5EF4-FFF2-40B4-BE49-F238E27FC236}">
                <a16:creationId xmlns:a16="http://schemas.microsoft.com/office/drawing/2014/main" id="{0EED4EFD-E283-97DE-354B-DFEA38A3F5C3}"/>
              </a:ext>
            </a:extLst>
          </p:cNvPr>
          <p:cNvSpPr>
            <a:spLocks noGrp="1"/>
          </p:cNvSpPr>
          <p:nvPr>
            <p:ph type="sldNum" sz="quarter" idx="12"/>
          </p:nvPr>
        </p:nvSpPr>
        <p:spPr/>
        <p:txBody>
          <a:bodyPr/>
          <a:lstStyle/>
          <a:p>
            <a:fld id="{6638BBCC-8B05-4DB0-A330-639F5DE26800}" type="slidenum">
              <a:rPr lang="en-US" smtClean="0"/>
              <a:t>39</a:t>
            </a:fld>
            <a:endParaRPr lang="en-US"/>
          </a:p>
        </p:txBody>
      </p:sp>
    </p:spTree>
    <p:extLst>
      <p:ext uri="{BB962C8B-B14F-4D97-AF65-F5344CB8AC3E}">
        <p14:creationId xmlns:p14="http://schemas.microsoft.com/office/powerpoint/2010/main" val="126652133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315</TotalTime>
  <Words>1890</Words>
  <Application>Microsoft Office PowerPoint</Application>
  <PresentationFormat>Widescreen</PresentationFormat>
  <Paragraphs>314</Paragraphs>
  <Slides>39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Calibri Light (Headings)</vt:lpstr>
      <vt:lpstr>Times New Roman</vt:lpstr>
      <vt:lpstr>Wingdings</vt:lpstr>
      <vt:lpstr>Retrospect</vt:lpstr>
      <vt:lpstr>PowerPoint Presentation</vt:lpstr>
      <vt:lpstr>Introduction</vt:lpstr>
      <vt:lpstr>Introduction</vt:lpstr>
      <vt:lpstr>Application Areas</vt:lpstr>
      <vt:lpstr>CAD</vt:lpstr>
      <vt:lpstr>Presentation Graphics</vt:lpstr>
      <vt:lpstr>Computer Art</vt:lpstr>
      <vt:lpstr>Education and Training</vt:lpstr>
      <vt:lpstr>Visualization</vt:lpstr>
      <vt:lpstr>Entertainment</vt:lpstr>
      <vt:lpstr>Medical Field</vt:lpstr>
      <vt:lpstr>GUI</vt:lpstr>
      <vt:lpstr>Image Processing</vt:lpstr>
      <vt:lpstr>Image Processing Vs Computer Graphics</vt:lpstr>
      <vt:lpstr>Classification of Computer Graphics</vt:lpstr>
      <vt:lpstr>Graphics System</vt:lpstr>
      <vt:lpstr>Input Devices</vt:lpstr>
      <vt:lpstr>Input Devices</vt:lpstr>
      <vt:lpstr>Output Devices</vt:lpstr>
      <vt:lpstr>The Cathode Ray Tubes (CRTs)</vt:lpstr>
      <vt:lpstr>The Cathode Ray Tubes (CRTs)</vt:lpstr>
      <vt:lpstr>PowerPoint Presentation</vt:lpstr>
      <vt:lpstr>PowerPoint Presentation</vt:lpstr>
      <vt:lpstr>How CRT works</vt:lpstr>
      <vt:lpstr>CRTs - Display Technologies</vt:lpstr>
      <vt:lpstr>Vector Displays</vt:lpstr>
      <vt:lpstr>Vector Displays</vt:lpstr>
      <vt:lpstr>Vector Displays</vt:lpstr>
      <vt:lpstr>Vector Displays</vt:lpstr>
      <vt:lpstr>Raster Displays</vt:lpstr>
      <vt:lpstr>Raster Displays</vt:lpstr>
      <vt:lpstr>Raster Displays</vt:lpstr>
      <vt:lpstr>Raster Displays</vt:lpstr>
      <vt:lpstr>Raster Displays</vt:lpstr>
      <vt:lpstr>Vector vs Raster Displays</vt:lpstr>
      <vt:lpstr>Color CRT Monitors</vt:lpstr>
      <vt:lpstr>Beam Penetration Method</vt:lpstr>
      <vt:lpstr>Beam Penetration Method(cont.)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Manirujjaman</dc:creator>
  <cp:lastModifiedBy>Md Manirujjaman</cp:lastModifiedBy>
  <cp:revision>16</cp:revision>
  <dcterms:created xsi:type="dcterms:W3CDTF">2025-09-08T12:17:47Z</dcterms:created>
  <dcterms:modified xsi:type="dcterms:W3CDTF">2026-06-30T17:22:25Z</dcterms:modified>
</cp:coreProperties>
</file>